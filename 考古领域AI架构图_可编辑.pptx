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24384000" cy="1592199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592217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0286" y="159657"/>
            <a:ext cx="7982857" cy="5805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3080" b="1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考古领域人工智能应用架构</a:t>
            </a:r>
            <a:endParaRPr sz="3080" b="1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88571" y="341086"/>
            <a:ext cx="10305143" cy="2902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700" b="1">
                <a:solidFill>
                  <a:srgbClr val="1F3A5F"/>
                </a:solidFill>
                <a:latin typeface="微软雅黑" panose="020B0503020204020204" charset="-122"/>
                <a:ea typeface="微软雅黑" panose="020B0503020204020204" charset="-122"/>
              </a:rPr>
              <a:t>五大基础工程 + 1 套实施工艺</a:t>
            </a:r>
            <a:endParaRPr sz="1700" b="1">
              <a:solidFill>
                <a:srgbClr val="1F3A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7714" y="754743"/>
            <a:ext cx="24021143" cy="43543"/>
          </a:xfrm>
          <a:prstGeom prst="rect">
            <a:avLst/>
          </a:prstGeom>
          <a:gradFill rotWithShape="1">
            <a:gsLst>
              <a:gs pos="0">
                <a:srgbClr val="1F3A5F"/>
              </a:gs>
              <a:gs pos="53000">
                <a:srgbClr val="2D6BB2"/>
              </a:gs>
              <a:gs pos="100000">
                <a:srgbClr val="1F8979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4971" y="979714"/>
            <a:ext cx="1284514" cy="3418114"/>
          </a:xfrm>
          <a:prstGeom prst="roundRect">
            <a:avLst>
              <a:gd name="adj" fmla="val 10169"/>
            </a:avLst>
          </a:prstGeom>
          <a:solidFill>
            <a:srgbClr val="E9F1FA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971" y="2119086"/>
            <a:ext cx="1284514" cy="4644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3220" b="1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3220" b="1">
              <a:solidFill>
                <a:srgbClr val="2E6D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4971" y="2627086"/>
            <a:ext cx="1284514" cy="3193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540" b="1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应用工程</a:t>
            </a:r>
            <a:endParaRPr sz="1540" b="1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4971" y="2902857"/>
            <a:ext cx="1284514" cy="2612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80" b="0">
                <a:solidFill>
                  <a:srgbClr val="2E6DB4"/>
                </a:solidFill>
                <a:latin typeface="微软雅黑" panose="020B0503020204020204" charset="-122"/>
                <a:ea typeface="微软雅黑" panose="020B0503020204020204" charset="-122"/>
              </a:rPr>
              <a:t>考古智能体平台</a:t>
            </a:r>
            <a:endParaRPr sz="980" b="0">
              <a:solidFill>
                <a:srgbClr val="2E6DB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625600" y="986971"/>
            <a:ext cx="19659600" cy="3403600"/>
          </a:xfrm>
          <a:prstGeom prst="roundRect">
            <a:avLst>
              <a:gd name="adj" fmla="val 4690"/>
            </a:avLst>
          </a:prstGeom>
          <a:solidFill>
            <a:srgbClr val="FFFFFF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25600" y="986971"/>
            <a:ext cx="65314" cy="3403600"/>
          </a:xfrm>
          <a:prstGeom prst="roundRect">
            <a:avLst>
              <a:gd name="adj" fmla="val 50000"/>
            </a:avLst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4971" y="4484914"/>
            <a:ext cx="1284514" cy="4339771"/>
          </a:xfrm>
          <a:prstGeom prst="roundRect">
            <a:avLst>
              <a:gd name="adj" fmla="val 10169"/>
            </a:avLst>
          </a:prstGeom>
          <a:solidFill>
            <a:srgbClr val="F2EDFA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971" y="6088743"/>
            <a:ext cx="1284514" cy="4644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3220" b="1">
                <a:solidFill>
                  <a:srgbClr val="7A5AA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3220" b="1">
              <a:solidFill>
                <a:srgbClr val="7A5A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4971" y="6596743"/>
            <a:ext cx="1284514" cy="3193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540" b="1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模型工程</a:t>
            </a:r>
            <a:endParaRPr sz="1540" b="1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4971" y="6865257"/>
            <a:ext cx="1284514" cy="2612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80" b="0">
                <a:solidFill>
                  <a:srgbClr val="7A5AA8"/>
                </a:solidFill>
                <a:latin typeface="微软雅黑" panose="020B0503020204020204" charset="-122"/>
                <a:ea typeface="微软雅黑" panose="020B0503020204020204" charset="-122"/>
              </a:rPr>
              <a:t>三层解耦 · 领域适配</a:t>
            </a:r>
            <a:endParaRPr sz="980" b="0">
              <a:solidFill>
                <a:srgbClr val="7A5A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625600" y="4492171"/>
            <a:ext cx="19659600" cy="4325257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625600" y="4492171"/>
            <a:ext cx="65314" cy="4325257"/>
          </a:xfrm>
          <a:prstGeom prst="roundRect">
            <a:avLst>
              <a:gd name="adj" fmla="val 50000"/>
            </a:avLst>
          </a:prstGeom>
          <a:solidFill>
            <a:srgbClr val="7A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4971" y="8911771"/>
            <a:ext cx="1284514" cy="3585029"/>
          </a:xfrm>
          <a:prstGeom prst="roundRect">
            <a:avLst>
              <a:gd name="adj" fmla="val 10169"/>
            </a:avLst>
          </a:prstGeom>
          <a:solidFill>
            <a:srgbClr val="E6F4F1"/>
          </a:solidFill>
          <a:ln w="14514">
            <a:solidFill>
              <a:srgbClr val="8C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971" y="10145486"/>
            <a:ext cx="1284514" cy="4644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3220" b="1">
                <a:solidFill>
                  <a:srgbClr val="1F8A7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3220" b="1">
              <a:solidFill>
                <a:srgbClr val="1F8A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4971" y="10646229"/>
            <a:ext cx="1284514" cy="3193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540" b="1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数据工程</a:t>
            </a:r>
            <a:endParaRPr sz="1540" b="1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24971" y="10914743"/>
            <a:ext cx="1284514" cy="2612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80" b="0">
                <a:solidFill>
                  <a:srgbClr val="1F8A78"/>
                </a:solidFill>
                <a:latin typeface="微软雅黑" panose="020B0503020204020204" charset="-122"/>
                <a:ea typeface="微软雅黑" panose="020B0503020204020204" charset="-122"/>
              </a:rPr>
              <a:t>数据湖 + 三类数据资产</a:t>
            </a:r>
            <a:endParaRPr sz="980" b="0">
              <a:solidFill>
                <a:srgbClr val="1F8A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625600" y="8919029"/>
            <a:ext cx="19659600" cy="3570514"/>
          </a:xfrm>
          <a:prstGeom prst="roundRect">
            <a:avLst>
              <a:gd name="adj" fmla="val 4471"/>
            </a:avLst>
          </a:prstGeom>
          <a:solidFill>
            <a:srgbClr val="FFFFFF"/>
          </a:solidFill>
          <a:ln w="14514">
            <a:solidFill>
              <a:srgbClr val="8C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625600" y="8919029"/>
            <a:ext cx="65314" cy="3570514"/>
          </a:xfrm>
          <a:prstGeom prst="roundRect">
            <a:avLst>
              <a:gd name="adj" fmla="val 50000"/>
            </a:avLst>
          </a:prstGeom>
          <a:solidFill>
            <a:srgbClr val="1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4971" y="12583886"/>
            <a:ext cx="1284514" cy="1959429"/>
          </a:xfrm>
          <a:prstGeom prst="roundRect">
            <a:avLst>
              <a:gd name="adj" fmla="val 10169"/>
            </a:avLst>
          </a:prstGeom>
          <a:solidFill>
            <a:srgbClr val="FBF0E3"/>
          </a:solidFill>
          <a:ln w="14514">
            <a:solidFill>
              <a:srgbClr val="E0A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4971" y="13004800"/>
            <a:ext cx="1284514" cy="4644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3220" b="1">
                <a:solidFill>
                  <a:srgbClr val="C0762A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3220" b="1">
              <a:solidFill>
                <a:srgbClr val="C076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24971" y="13505543"/>
            <a:ext cx="1284514" cy="3193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540" b="1">
                <a:solidFill>
                  <a:srgbClr val="6B3F0F"/>
                </a:solidFill>
                <a:latin typeface="微软雅黑" panose="020B0503020204020204" charset="-122"/>
                <a:ea typeface="微软雅黑" panose="020B0503020204020204" charset="-122"/>
              </a:rPr>
              <a:t>资源工程</a:t>
            </a:r>
            <a:endParaRPr sz="1540" b="1">
              <a:solidFill>
                <a:srgbClr val="6B3F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4971" y="13774057"/>
            <a:ext cx="1284514" cy="2612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80" b="0">
                <a:solidFill>
                  <a:srgbClr val="C0762A"/>
                </a:solidFill>
                <a:latin typeface="微软雅黑" panose="020B0503020204020204" charset="-122"/>
                <a:ea typeface="微软雅黑" panose="020B0503020204020204" charset="-122"/>
              </a:rPr>
              <a:t>算力 · 存储 · 网络</a:t>
            </a:r>
            <a:endParaRPr sz="980" b="0">
              <a:solidFill>
                <a:srgbClr val="C076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625600" y="12591143"/>
            <a:ext cx="19659600" cy="1944914"/>
          </a:xfrm>
          <a:prstGeom prst="roundRect">
            <a:avLst>
              <a:gd name="adj" fmla="val 8208"/>
            </a:avLst>
          </a:prstGeom>
          <a:solidFill>
            <a:srgbClr val="FFFFFF"/>
          </a:solidFill>
          <a:ln w="14514">
            <a:solidFill>
              <a:srgbClr val="E0A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625600" y="12591143"/>
            <a:ext cx="65314" cy="1944914"/>
          </a:xfrm>
          <a:prstGeom prst="roundRect">
            <a:avLst>
              <a:gd name="adj" fmla="val 50000"/>
            </a:avLst>
          </a:prstGeom>
          <a:solidFill>
            <a:srgbClr val="C0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07029" y="1153886"/>
            <a:ext cx="10160000" cy="1886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60" b="1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智能体行业应用层 · 九类考古研究场景智能体</a:t>
            </a:r>
            <a:endParaRPr sz="1260" b="1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778000" y="1371600"/>
            <a:ext cx="2026356" cy="471714"/>
          </a:xfrm>
          <a:prstGeom prst="roundRect">
            <a:avLst>
              <a:gd name="adj" fmla="val 12307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78000" y="1371600"/>
            <a:ext cx="2026356" cy="4717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3000"/>
              </a:lnSpc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器物类型学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93000"/>
              </a:lnSpc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研究智能体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942241" y="1371600"/>
            <a:ext cx="2026356" cy="471714"/>
          </a:xfrm>
          <a:prstGeom prst="roundRect">
            <a:avLst>
              <a:gd name="adj" fmla="val 12307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42241" y="1371600"/>
            <a:ext cx="2026356" cy="4717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3000"/>
              </a:lnSpc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遗址分期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93000"/>
              </a:lnSpc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研究智能体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106483" y="1371600"/>
            <a:ext cx="2026356" cy="471714"/>
          </a:xfrm>
          <a:prstGeom prst="roundRect">
            <a:avLst>
              <a:gd name="adj" fmla="val 12307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06483" y="1371600"/>
            <a:ext cx="2026356" cy="4717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3000"/>
              </a:lnSpc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文化因素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93000"/>
              </a:lnSpc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分析智能体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270724" y="1371600"/>
            <a:ext cx="2026356" cy="471714"/>
          </a:xfrm>
          <a:prstGeom prst="roundRect">
            <a:avLst>
              <a:gd name="adj" fmla="val 12307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0724" y="1371600"/>
            <a:ext cx="2026356" cy="4717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3000"/>
              </a:lnSpc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聚落形态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93000"/>
              </a:lnSpc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研究智能体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0434965" y="1371600"/>
            <a:ext cx="2026356" cy="471714"/>
          </a:xfrm>
          <a:prstGeom prst="roundRect">
            <a:avLst>
              <a:gd name="adj" fmla="val 12307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34965" y="1371600"/>
            <a:ext cx="2026356" cy="4717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3000"/>
              </a:lnSpc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文献考证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93000"/>
              </a:lnSpc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智能体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2599206" y="1371600"/>
            <a:ext cx="2026356" cy="471714"/>
          </a:xfrm>
          <a:prstGeom prst="roundRect">
            <a:avLst>
              <a:gd name="adj" fmla="val 12307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599206" y="1371600"/>
            <a:ext cx="2026356" cy="4717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3000"/>
              </a:lnSpc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墓葬研究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93000"/>
              </a:lnSpc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智能体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4763448" y="1371600"/>
            <a:ext cx="2026356" cy="471714"/>
          </a:xfrm>
          <a:prstGeom prst="roundRect">
            <a:avLst>
              <a:gd name="adj" fmla="val 12307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763448" y="1371600"/>
            <a:ext cx="2026356" cy="4717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3000"/>
              </a:lnSpc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科技考古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93000"/>
              </a:lnSpc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智能体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6927689" y="1371600"/>
            <a:ext cx="2026356" cy="471714"/>
          </a:xfrm>
          <a:prstGeom prst="roundRect">
            <a:avLst>
              <a:gd name="adj" fmla="val 12307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927689" y="1371600"/>
            <a:ext cx="2026356" cy="4717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3000"/>
              </a:lnSpc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报告整理与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93000"/>
              </a:lnSpc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发表智能体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9091930" y="1371600"/>
            <a:ext cx="2026356" cy="471714"/>
          </a:xfrm>
          <a:prstGeom prst="roundRect">
            <a:avLst>
              <a:gd name="adj" fmla="val 12307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091930" y="1371600"/>
            <a:ext cx="2026356" cy="4717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3000"/>
              </a:lnSpc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知识问答与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93000"/>
              </a:lnSpc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学术检索智能体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807029" y="1981200"/>
            <a:ext cx="4354286" cy="1886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60" b="1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智能体模板层</a:t>
            </a:r>
            <a:endParaRPr sz="1260" b="1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1778000" y="2198914"/>
            <a:ext cx="4769757" cy="449943"/>
          </a:xfrm>
          <a:prstGeom prst="roundRect">
            <a:avLst>
              <a:gd name="adj" fmla="val 12903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78000" y="2198914"/>
            <a:ext cx="4769757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系统提示词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634843" y="2198914"/>
            <a:ext cx="4769757" cy="449943"/>
          </a:xfrm>
          <a:prstGeom prst="roundRect">
            <a:avLst>
              <a:gd name="adj" fmla="val 12903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34843" y="2198914"/>
            <a:ext cx="4769757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工具配置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11491686" y="2198914"/>
            <a:ext cx="4769757" cy="449943"/>
          </a:xfrm>
          <a:prstGeom prst="roundRect">
            <a:avLst>
              <a:gd name="adj" fmla="val 12903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91686" y="2198914"/>
            <a:ext cx="4769757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知识库绑定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16348529" y="2198914"/>
            <a:ext cx="4769757" cy="449943"/>
          </a:xfrm>
          <a:prstGeom prst="roundRect">
            <a:avLst>
              <a:gd name="adj" fmla="val 12903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348529" y="2198914"/>
            <a:ext cx="4769757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工作流定义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807029" y="2779486"/>
            <a:ext cx="4354286" cy="1886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60" b="1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智能体引擎层</a:t>
            </a:r>
            <a:endParaRPr sz="1260" b="1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1778000" y="2997200"/>
            <a:ext cx="6383867" cy="449943"/>
          </a:xfrm>
          <a:prstGeom prst="roundRect">
            <a:avLst>
              <a:gd name="adj" fmla="val 12903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778000" y="2997200"/>
            <a:ext cx="6383867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RAG 引擎</a:t>
            </a: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（文档解析 · 向量化 · 多轮改写 · 重排序）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8256210" y="2997200"/>
            <a:ext cx="6383867" cy="449943"/>
          </a:xfrm>
          <a:prstGeom prst="roundRect">
            <a:avLst>
              <a:gd name="adj" fmla="val 12903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56210" y="2997200"/>
            <a:ext cx="6383867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工作流引擎</a:t>
            </a: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（可视化业务编排 · 节点灵活回退）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14734419" y="2997200"/>
            <a:ext cx="6383867" cy="449943"/>
          </a:xfrm>
          <a:prstGeom prst="roundRect">
            <a:avLst>
              <a:gd name="adj" fmla="val 12903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734419" y="2997200"/>
            <a:ext cx="6383867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多智能体协同引擎</a:t>
            </a: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（多 Agent 协同 · 智能转交）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807029" y="3577771"/>
            <a:ext cx="4354286" cy="1886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60" b="1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基础能力层</a:t>
            </a:r>
            <a:endParaRPr sz="1260" b="1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1778000" y="3795486"/>
            <a:ext cx="4769757" cy="449943"/>
          </a:xfrm>
          <a:prstGeom prst="roundRect">
            <a:avLst>
              <a:gd name="adj" fmla="val 12903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778000" y="3795486"/>
            <a:ext cx="4769757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模型调用接口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634843" y="3795486"/>
            <a:ext cx="4769757" cy="449943"/>
          </a:xfrm>
          <a:prstGeom prst="roundRect">
            <a:avLst>
              <a:gd name="adj" fmla="val 12903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34843" y="3795486"/>
            <a:ext cx="4769757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知识库检索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11491686" y="3795486"/>
            <a:ext cx="4769757" cy="449943"/>
          </a:xfrm>
          <a:prstGeom prst="roundRect">
            <a:avLst>
              <a:gd name="adj" fmla="val 12903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491686" y="3795486"/>
            <a:ext cx="4769757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工具调用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16348529" y="3795486"/>
            <a:ext cx="4769757" cy="449943"/>
          </a:xfrm>
          <a:prstGeom prst="roundRect">
            <a:avLst>
              <a:gd name="adj" fmla="val 12903"/>
            </a:avLst>
          </a:prstGeom>
          <a:solidFill>
            <a:srgbClr val="D6E6F7"/>
          </a:solidFill>
          <a:ln w="14514">
            <a:solidFill>
              <a:srgbClr val="9FC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6348529" y="3795486"/>
            <a:ext cx="4769757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12395F"/>
                </a:solidFill>
                <a:latin typeface="微软雅黑" panose="020B0503020204020204" charset="-122"/>
                <a:ea typeface="微软雅黑" panose="020B0503020204020204" charset="-122"/>
              </a:rPr>
              <a:t>记忆管理</a:t>
            </a:r>
            <a:endParaRPr sz="1200" b="0">
              <a:solidFill>
                <a:srgbClr val="12395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807029" y="4680857"/>
            <a:ext cx="4354286" cy="1886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60" b="1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L0 基础模型层</a:t>
            </a:r>
            <a:endParaRPr sz="1260" b="1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3062857" y="4680857"/>
            <a:ext cx="8055429" cy="1886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buNone/>
            </a:pPr>
            <a:r>
              <a:rPr sz="1080" b="0">
                <a:solidFill>
                  <a:srgbClr val="7A5AA8"/>
                </a:solidFill>
                <a:latin typeface="微软雅黑" panose="020B0503020204020204" charset="-122"/>
                <a:ea typeface="微软雅黑" panose="020B0503020204020204" charset="-122"/>
              </a:rPr>
              <a:t>国产芯片适配 · 多维并行训练</a:t>
            </a:r>
            <a:endParaRPr sz="1080" b="0">
              <a:solidFill>
                <a:srgbClr val="7A5A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1778000" y="4884057"/>
            <a:ext cx="6408057" cy="508000"/>
          </a:xfrm>
          <a:prstGeom prst="roundRect">
            <a:avLst>
              <a:gd name="adj" fmla="val 11428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778000" y="4884057"/>
            <a:ext cx="6408057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大语言模型</a:t>
            </a: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（长文本理解 · 复杂推理）</a:t>
            </a:r>
            <a:endParaRPr sz="120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8244114" y="4884057"/>
            <a:ext cx="6408057" cy="508000"/>
          </a:xfrm>
          <a:prstGeom prst="roundRect">
            <a:avLst>
              <a:gd name="adj" fmla="val 11428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44114" y="4884057"/>
            <a:ext cx="6408057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多模态模型</a:t>
            </a: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（图文跨模态理解）</a:t>
            </a:r>
            <a:endParaRPr sz="120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14710229" y="4884057"/>
            <a:ext cx="6408057" cy="508000"/>
          </a:xfrm>
          <a:prstGeom prst="roundRect">
            <a:avLst>
              <a:gd name="adj" fmla="val 11428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4710229" y="4884057"/>
            <a:ext cx="6408057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推理模型</a:t>
            </a: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（逻辑链推理）</a:t>
            </a:r>
            <a:endParaRPr sz="120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807029" y="5537200"/>
            <a:ext cx="4354286" cy="1886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60" b="1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L1 领域模型层</a:t>
            </a:r>
            <a:endParaRPr sz="1260" b="1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1778000" y="5740400"/>
            <a:ext cx="3769360" cy="478971"/>
          </a:xfrm>
          <a:prstGeom prst="roundRect">
            <a:avLst>
              <a:gd name="adj" fmla="val 12121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778000" y="5740400"/>
            <a:ext cx="3769360" cy="4789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考古文本理解模型</a:t>
            </a:r>
            <a:endParaRPr sz="120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5670731" y="5740400"/>
            <a:ext cx="3769360" cy="478971"/>
          </a:xfrm>
          <a:prstGeom prst="roundRect">
            <a:avLst>
              <a:gd name="adj" fmla="val 12121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670731" y="5740400"/>
            <a:ext cx="3769360" cy="4789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古文字识别模型</a:t>
            </a:r>
            <a:endParaRPr sz="120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9563463" y="5740400"/>
            <a:ext cx="3769360" cy="478971"/>
          </a:xfrm>
          <a:prstGeom prst="roundRect">
            <a:avLst>
              <a:gd name="adj" fmla="val 12121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563463" y="5740400"/>
            <a:ext cx="3769360" cy="4789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器物视觉分析模型</a:t>
            </a:r>
            <a:endParaRPr sz="120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13456194" y="5740400"/>
            <a:ext cx="3769360" cy="478971"/>
          </a:xfrm>
          <a:prstGeom prst="roundRect">
            <a:avLst>
              <a:gd name="adj" fmla="val 12121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3456194" y="5740400"/>
            <a:ext cx="3769360" cy="4789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多模态考古推理模型</a:t>
            </a:r>
            <a:endParaRPr sz="120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17348926" y="5740400"/>
            <a:ext cx="3769360" cy="478971"/>
          </a:xfrm>
          <a:prstGeom prst="roundRect">
            <a:avLst>
              <a:gd name="adj" fmla="val 12121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7348926" y="5740400"/>
            <a:ext cx="3769360" cy="4789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聚落空间分析模型</a:t>
            </a:r>
            <a:endParaRPr sz="120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807029" y="6364514"/>
            <a:ext cx="4354286" cy="1886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60" b="1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L2 场景模型层</a:t>
            </a:r>
            <a:endParaRPr sz="1260" b="1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1778000" y="6567714"/>
            <a:ext cx="3769360" cy="449943"/>
          </a:xfrm>
          <a:prstGeom prst="roundRect">
            <a:avLst>
              <a:gd name="adj" fmla="val 12903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778000" y="6567714"/>
            <a:ext cx="3769360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器物分型分式辅助</a:t>
            </a:r>
            <a:endParaRPr sz="120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5670731" y="6567714"/>
            <a:ext cx="3769360" cy="449943"/>
          </a:xfrm>
          <a:prstGeom prst="roundRect">
            <a:avLst>
              <a:gd name="adj" fmla="val 12903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670731" y="6567714"/>
            <a:ext cx="3769360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遗址分期断代推理</a:t>
            </a:r>
            <a:endParaRPr sz="120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9563463" y="6567714"/>
            <a:ext cx="3769360" cy="449943"/>
          </a:xfrm>
          <a:prstGeom prst="roundRect">
            <a:avLst>
              <a:gd name="adj" fmla="val 12903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563463" y="6567714"/>
            <a:ext cx="3769360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文化因素溯源判别</a:t>
            </a:r>
            <a:endParaRPr sz="120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13456194" y="6567714"/>
            <a:ext cx="3769360" cy="449943"/>
          </a:xfrm>
          <a:prstGeom prst="roundRect">
            <a:avLst>
              <a:gd name="adj" fmla="val 12903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3456194" y="6567714"/>
            <a:ext cx="3769360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聚落等级划分</a:t>
            </a:r>
            <a:endParaRPr sz="120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17348926" y="6567714"/>
            <a:ext cx="3769360" cy="449943"/>
          </a:xfrm>
          <a:prstGeom prst="roundRect">
            <a:avLst>
              <a:gd name="adj" fmla="val 12903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7348926" y="6567714"/>
            <a:ext cx="3769360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墓葬等级推断</a:t>
            </a:r>
            <a:endParaRPr sz="120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1778000" y="7075714"/>
            <a:ext cx="3769360" cy="449943"/>
          </a:xfrm>
          <a:prstGeom prst="roundRect">
            <a:avLst>
              <a:gd name="adj" fmla="val 12903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778000" y="7075714"/>
            <a:ext cx="3769360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墓主身份考证</a:t>
            </a:r>
            <a:endParaRPr sz="120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5670731" y="7075714"/>
            <a:ext cx="3769360" cy="449943"/>
          </a:xfrm>
          <a:prstGeom prst="roundRect">
            <a:avLst>
              <a:gd name="adj" fmla="val 12903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670731" y="7075714"/>
            <a:ext cx="3769360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碳十四年代框架辅助</a:t>
            </a:r>
            <a:endParaRPr sz="120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9563463" y="7075714"/>
            <a:ext cx="3769360" cy="449943"/>
          </a:xfrm>
          <a:prstGeom prst="roundRect">
            <a:avLst>
              <a:gd name="adj" fmla="val 12903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563463" y="7075714"/>
            <a:ext cx="3769360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生业经济结构重建</a:t>
            </a:r>
            <a:endParaRPr sz="120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Rounded Rectangle 109"/>
          <p:cNvSpPr/>
          <p:nvPr/>
        </p:nvSpPr>
        <p:spPr>
          <a:xfrm>
            <a:off x="13456194" y="7075714"/>
            <a:ext cx="3769360" cy="449943"/>
          </a:xfrm>
          <a:prstGeom prst="roundRect">
            <a:avLst>
              <a:gd name="adj" fmla="val 12903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3456194" y="7075714"/>
            <a:ext cx="3769360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人群健康状况分析</a:t>
            </a:r>
            <a:endParaRPr sz="120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17348926" y="7075714"/>
            <a:ext cx="3769360" cy="449943"/>
          </a:xfrm>
          <a:prstGeom prst="roundRect">
            <a:avLst>
              <a:gd name="adj" fmla="val 12903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7348926" y="7075714"/>
            <a:ext cx="3769360" cy="449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手工业专业化评估</a:t>
            </a:r>
            <a:endParaRPr sz="120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1778000" y="7627257"/>
            <a:ext cx="6388705" cy="1045029"/>
          </a:xfrm>
          <a:prstGeom prst="roundRect">
            <a:avLst>
              <a:gd name="adj" fmla="val 5555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886857" y="7707086"/>
            <a:ext cx="6170990" cy="1886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80" b="1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效果优化</a:t>
            </a:r>
            <a:endParaRPr sz="1180" b="1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886857" y="7888514"/>
            <a:ext cx="6170990" cy="7257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94615" indent="-94615" algn="l">
              <a:lnSpc>
                <a:spcPct val="115000"/>
              </a:lnSpc>
              <a:buFont typeface="Arial" panose="020B0604020202020204"/>
              <a:buChar char="•"/>
            </a:pPr>
            <a:r>
              <a:rPr sz="106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指令微调 · 领域自适应微调（LoRA）</a:t>
            </a:r>
            <a:endParaRPr sz="106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4615" indent="-94615" algn="l">
              <a:lnSpc>
                <a:spcPct val="115000"/>
              </a:lnSpc>
              <a:buFont typeface="Arial" panose="020B0604020202020204"/>
              <a:buChar char="•"/>
            </a:pPr>
            <a:r>
              <a:rPr sz="106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强化学习（考古专家反馈 RLHF）</a:t>
            </a:r>
            <a:endParaRPr sz="106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4615" indent="-94615" algn="l">
              <a:lnSpc>
                <a:spcPct val="115000"/>
              </a:lnSpc>
              <a:buFont typeface="Arial" panose="020B0604020202020204"/>
              <a:buChar char="•"/>
            </a:pPr>
            <a:r>
              <a:rPr sz="106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提示词工程 · 检索增强生成（RAG）</a:t>
            </a:r>
            <a:endParaRPr sz="106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8253790" y="7627257"/>
            <a:ext cx="6388705" cy="1045029"/>
          </a:xfrm>
          <a:prstGeom prst="roundRect">
            <a:avLst>
              <a:gd name="adj" fmla="val 5555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362648" y="7707086"/>
            <a:ext cx="6170990" cy="1886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80" b="1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模型压缩</a:t>
            </a:r>
            <a:endParaRPr sz="1180" b="1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8362648" y="7888514"/>
            <a:ext cx="6170990" cy="7257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94615" indent="-94615" algn="l">
              <a:lnSpc>
                <a:spcPct val="115000"/>
              </a:lnSpc>
              <a:buFont typeface="Arial" panose="020B0604020202020204"/>
              <a:buChar char="•"/>
            </a:pPr>
            <a:r>
              <a:rPr sz="106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量化（INT8 / INT4）</a:t>
            </a:r>
            <a:endParaRPr sz="106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4615" indent="-94615" algn="l">
              <a:lnSpc>
                <a:spcPct val="115000"/>
              </a:lnSpc>
              <a:buFont typeface="Arial" panose="020B0604020202020204"/>
              <a:buChar char="•"/>
            </a:pPr>
            <a:r>
              <a:rPr sz="106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知识蒸馏（大模型 → 轻量场景模型）</a:t>
            </a:r>
            <a:endParaRPr sz="106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4615" indent="-94615" algn="l">
              <a:lnSpc>
                <a:spcPct val="115000"/>
              </a:lnSpc>
              <a:buFont typeface="Arial" panose="020B0604020202020204"/>
              <a:buChar char="•"/>
            </a:pPr>
            <a:r>
              <a:rPr sz="106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结构化剪枝（注意力头 · 神经元）</a:t>
            </a:r>
            <a:endParaRPr sz="106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14729581" y="7627257"/>
            <a:ext cx="6388705" cy="1045029"/>
          </a:xfrm>
          <a:prstGeom prst="roundRect">
            <a:avLst>
              <a:gd name="adj" fmla="val 5555"/>
            </a:avLst>
          </a:prstGeom>
          <a:solidFill>
            <a:srgbClr val="E3D9F4"/>
          </a:solidFill>
          <a:ln w="14514">
            <a:solidFill>
              <a:srgbClr val="B79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4838438" y="7707086"/>
            <a:ext cx="6170990" cy="1886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80" b="1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部署形态</a:t>
            </a:r>
            <a:endParaRPr sz="1180" b="1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14838438" y="7888514"/>
            <a:ext cx="6170990" cy="7257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94615" indent="-94615" algn="l">
              <a:lnSpc>
                <a:spcPct val="115000"/>
              </a:lnSpc>
              <a:buFont typeface="Arial" panose="020B0604020202020204"/>
              <a:buChar char="•"/>
            </a:pPr>
            <a:r>
              <a:rPr sz="106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端侧部署（田野考古现场移动设备）</a:t>
            </a:r>
            <a:endParaRPr sz="106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4615" indent="-94615" algn="l">
              <a:lnSpc>
                <a:spcPct val="115000"/>
              </a:lnSpc>
              <a:buFont typeface="Arial" panose="020B0604020202020204"/>
              <a:buChar char="•"/>
            </a:pPr>
            <a:r>
              <a:rPr sz="1060" b="0">
                <a:solidFill>
                  <a:srgbClr val="432A63"/>
                </a:solidFill>
                <a:latin typeface="微软雅黑" panose="020B0503020204020204" charset="-122"/>
                <a:ea typeface="微软雅黑" panose="020B0503020204020204" charset="-122"/>
              </a:rPr>
              <a:t>平台部署（云端大规模分析与复杂推理）</a:t>
            </a:r>
            <a:endParaRPr sz="1060" b="0">
              <a:solidFill>
                <a:srgbClr val="432A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1821543" y="9093200"/>
            <a:ext cx="4354286" cy="1886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60" b="1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数据湖底座</a:t>
            </a:r>
            <a:endParaRPr sz="1260" b="1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Rounded Rectangle 123"/>
          <p:cNvSpPr/>
          <p:nvPr/>
        </p:nvSpPr>
        <p:spPr>
          <a:xfrm>
            <a:off x="1778000" y="9310914"/>
            <a:ext cx="7663543" cy="732971"/>
          </a:xfrm>
          <a:prstGeom prst="roundRect">
            <a:avLst>
              <a:gd name="adj" fmla="val 7920"/>
            </a:avLst>
          </a:prstGeom>
          <a:solidFill>
            <a:srgbClr val="D2EBE6"/>
          </a:solidFill>
          <a:ln w="14514">
            <a:solidFill>
              <a:srgbClr val="8C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879600" y="9361714"/>
            <a:ext cx="7460343" cy="1814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80" b="1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数据接入层</a:t>
            </a:r>
            <a:endParaRPr sz="1180" b="1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879600" y="9528629"/>
            <a:ext cx="7460343" cy="174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批量（报告 · 简报 · 器物卡片）| 实时（田野记录 · 无人机遥感）| 外部（文献库 · 馆藏 · 公开数据集）；编排：NiFi · Kafka</a:t>
            </a:r>
            <a:endParaRPr sz="1000" b="0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Rounded Rectangle 126"/>
          <p:cNvSpPr/>
          <p:nvPr/>
        </p:nvSpPr>
        <p:spPr>
          <a:xfrm>
            <a:off x="1778000" y="10080171"/>
            <a:ext cx="7663543" cy="732971"/>
          </a:xfrm>
          <a:prstGeom prst="roundRect">
            <a:avLst>
              <a:gd name="adj" fmla="val 7920"/>
            </a:avLst>
          </a:prstGeom>
          <a:solidFill>
            <a:srgbClr val="D2EBE6"/>
          </a:solidFill>
          <a:ln w="14514">
            <a:solidFill>
              <a:srgbClr val="8C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879600" y="10130971"/>
            <a:ext cx="7460343" cy="1814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80" b="1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存储层</a:t>
            </a:r>
            <a:endParaRPr sz="1180" b="1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1879600" y="10297886"/>
            <a:ext cx="7460343" cy="174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原始层 → 清洗层 → 特征层 → 索引层（原始数据不变，逐级加工）</a:t>
            </a:r>
            <a:endParaRPr sz="1000" b="0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Rounded Rectangle 129"/>
          <p:cNvSpPr/>
          <p:nvPr/>
        </p:nvSpPr>
        <p:spPr>
          <a:xfrm>
            <a:off x="1778000" y="10849429"/>
            <a:ext cx="7663543" cy="732971"/>
          </a:xfrm>
          <a:prstGeom prst="roundRect">
            <a:avLst>
              <a:gd name="adj" fmla="val 7920"/>
            </a:avLst>
          </a:prstGeom>
          <a:solidFill>
            <a:srgbClr val="D2EBE6"/>
          </a:solidFill>
          <a:ln w="14514">
            <a:solidFill>
              <a:srgbClr val="8C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879600" y="10900229"/>
            <a:ext cx="7460343" cy="1814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80" b="1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计算与处理层</a:t>
            </a:r>
            <a:endParaRPr sz="1180" b="1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1879600" y="11067143"/>
            <a:ext cx="7460343" cy="174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批流一体：批量报告解析抽取 · 流式发掘现场采集</a:t>
            </a:r>
            <a:endParaRPr sz="1000" b="0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" name="Rounded Rectangle 132"/>
          <p:cNvSpPr/>
          <p:nvPr/>
        </p:nvSpPr>
        <p:spPr>
          <a:xfrm>
            <a:off x="1778000" y="11618686"/>
            <a:ext cx="7663543" cy="732971"/>
          </a:xfrm>
          <a:prstGeom prst="roundRect">
            <a:avLst>
              <a:gd name="adj" fmla="val 7920"/>
            </a:avLst>
          </a:prstGeom>
          <a:solidFill>
            <a:srgbClr val="D2EBE6"/>
          </a:solidFill>
          <a:ln w="14514">
            <a:solidFill>
              <a:srgbClr val="8C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879600" y="11669486"/>
            <a:ext cx="7460343" cy="1814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80" b="1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元数据与治理层</a:t>
            </a:r>
            <a:endParaRPr sz="1180" b="1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879600" y="11836400"/>
            <a:ext cx="7460343" cy="174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出土单位 · 层位 · 坐标 · 期别 · 文化属性；数据血缘追踪 · 权限分级</a:t>
            </a:r>
            <a:endParaRPr sz="1000" b="0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Rounded Rectangle 135"/>
          <p:cNvSpPr/>
          <p:nvPr/>
        </p:nvSpPr>
        <p:spPr>
          <a:xfrm>
            <a:off x="9579429" y="9318171"/>
            <a:ext cx="11546114" cy="1190171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4514">
            <a:solidFill>
              <a:srgbClr val="8C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586686" y="9325429"/>
            <a:ext cx="11531600" cy="224971"/>
          </a:xfrm>
          <a:prstGeom prst="rect">
            <a:avLst/>
          </a:prstGeom>
          <a:solidFill>
            <a:srgbClr val="D2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681029" y="9325429"/>
            <a:ext cx="11342914" cy="2249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80" b="1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训练数据</a:t>
            </a:r>
            <a:endParaRPr sz="1180" b="1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9681029" y="9586686"/>
            <a:ext cx="11342914" cy="885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94615" indent="-94615" algn="l">
              <a:lnSpc>
                <a:spcPct val="103000"/>
              </a:lnSpc>
              <a:buFont typeface="Arial" panose="020B0604020202020204"/>
              <a:buChar char="•"/>
            </a:pPr>
            <a:r>
              <a:rPr sz="1000" b="0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文本语料库（考古报告 · 发掘简报 · 器物描述 · 文献考证 · 学术论文）</a:t>
            </a:r>
            <a:endParaRPr sz="1000" b="0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4615" indent="-94615" algn="l">
              <a:lnSpc>
                <a:spcPct val="103000"/>
              </a:lnSpc>
              <a:buFont typeface="Arial" panose="020B0604020202020204"/>
              <a:buChar char="•"/>
            </a:pPr>
            <a:r>
              <a:rPr sz="1000" b="0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图像与视觉数据（器物图 · 遗址平剖面 · 三维模型 · 遥感 · 甲骨金文拓片 · 简牍红外）</a:t>
            </a:r>
            <a:endParaRPr sz="1000" b="0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4615" indent="-94615" algn="l">
              <a:lnSpc>
                <a:spcPct val="103000"/>
              </a:lnSpc>
              <a:buFont typeface="Arial" panose="020B0604020202020204"/>
              <a:buChar char="•"/>
            </a:pPr>
            <a:r>
              <a:rPr sz="1000" b="0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结构化数据（器物测量 · 墓葬要素 · 碳十四测年 · 聚落分级 · 生业经济）</a:t>
            </a:r>
            <a:endParaRPr sz="1000" b="0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4615" indent="-94615" algn="l">
              <a:lnSpc>
                <a:spcPct val="103000"/>
              </a:lnSpc>
              <a:buFont typeface="Arial" panose="020B0604020202020204"/>
              <a:buChar char="•"/>
            </a:pPr>
            <a:r>
              <a:rPr sz="1000" b="0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知识问答对 · 多模态对齐数据（图像—描述—测量—出土背景）</a:t>
            </a:r>
            <a:endParaRPr sz="1000" b="0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Rounded Rectangle 139"/>
          <p:cNvSpPr/>
          <p:nvPr/>
        </p:nvSpPr>
        <p:spPr>
          <a:xfrm>
            <a:off x="9579429" y="10515600"/>
            <a:ext cx="11546114" cy="1030514"/>
          </a:xfrm>
          <a:prstGeom prst="roundRect">
            <a:avLst>
              <a:gd name="adj" fmla="val 5633"/>
            </a:avLst>
          </a:prstGeom>
          <a:solidFill>
            <a:srgbClr val="FFFFFF"/>
          </a:solidFill>
          <a:ln w="14514">
            <a:solidFill>
              <a:srgbClr val="8C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586686" y="10522857"/>
            <a:ext cx="11531600" cy="224971"/>
          </a:xfrm>
          <a:prstGeom prst="rect">
            <a:avLst/>
          </a:prstGeom>
          <a:solidFill>
            <a:srgbClr val="D2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681029" y="10522857"/>
            <a:ext cx="11342914" cy="2249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80" b="1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应用数据</a:t>
            </a:r>
            <a:endParaRPr sz="1180" b="1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9681029" y="10784114"/>
            <a:ext cx="11342914" cy="7257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94615" indent="-94615" algn="l">
              <a:lnSpc>
                <a:spcPct val="103000"/>
              </a:lnSpc>
              <a:buFont typeface="Arial" panose="020B0604020202020204"/>
              <a:buChar char="•"/>
            </a:pPr>
            <a:r>
              <a:rPr sz="1000" b="0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向量库（语义检索 · 相似器物推荐 · 文献匹配）</a:t>
            </a:r>
            <a:endParaRPr sz="1000" b="0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4615" indent="-94615" algn="l">
              <a:lnSpc>
                <a:spcPct val="103000"/>
              </a:lnSpc>
              <a:buFont typeface="Arial" panose="020B0604020202020204"/>
              <a:buChar char="•"/>
            </a:pPr>
            <a:r>
              <a:rPr sz="1000" b="0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知识图谱（遗址 · 器物 · 墓葬 · 地层 · 期别 · 文献；出土于 / 共存 / 叠压打破 / 演变）</a:t>
            </a:r>
            <a:endParaRPr sz="1000" b="0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4615" indent="-94615" algn="l">
              <a:lnSpc>
                <a:spcPct val="103000"/>
              </a:lnSpc>
              <a:buFont typeface="Arial" panose="020B0604020202020204"/>
              <a:buChar char="•"/>
            </a:pPr>
            <a:r>
              <a:rPr sz="1000" b="0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实体库（器物 · 遗址 · 墓葬 · 文献结构化档案）</a:t>
            </a:r>
            <a:endParaRPr sz="1000" b="0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9579429" y="11553371"/>
            <a:ext cx="11546114" cy="92891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4514">
            <a:solidFill>
              <a:srgbClr val="8CCB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9586686" y="11560629"/>
            <a:ext cx="11531600" cy="224971"/>
          </a:xfrm>
          <a:prstGeom prst="rect">
            <a:avLst/>
          </a:prstGeom>
          <a:solidFill>
            <a:srgbClr val="D2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681029" y="11560629"/>
            <a:ext cx="11342914" cy="2249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80" b="1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评测数据</a:t>
            </a:r>
            <a:endParaRPr sz="1180" b="1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9681029" y="11821886"/>
            <a:ext cx="11342914" cy="624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94615" indent="-94615" algn="l">
              <a:lnSpc>
                <a:spcPct val="103000"/>
              </a:lnSpc>
              <a:buFont typeface="Arial" panose="020B0604020202020204"/>
              <a:buChar char="•"/>
            </a:pPr>
            <a:r>
              <a:rPr sz="1000" b="0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评测数据集（分类识别 · 等级判定 · 分期断代 · 因素溯源 · 考证置信度）</a:t>
            </a:r>
            <a:endParaRPr sz="1000" b="0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4615" indent="-94615" algn="l">
              <a:lnSpc>
                <a:spcPct val="103000"/>
              </a:lnSpc>
              <a:buFont typeface="Arial" panose="020B0604020202020204"/>
              <a:buChar char="•"/>
            </a:pPr>
            <a:r>
              <a:rPr sz="1000" b="0">
                <a:solidFill>
                  <a:srgbClr val="0C483E"/>
                </a:solidFill>
                <a:latin typeface="微软雅黑" panose="020B0503020204020204" charset="-122"/>
                <a:ea typeface="微软雅黑" panose="020B0503020204020204" charset="-122"/>
              </a:rPr>
              <a:t>评测指标（准确率 · 分类 F1 · 检索召回率 · 推理一致性 · 结论置信度）</a:t>
            </a:r>
            <a:endParaRPr sz="1000" b="0">
              <a:solidFill>
                <a:srgbClr val="0C483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Rounded Rectangle 147"/>
          <p:cNvSpPr/>
          <p:nvPr/>
        </p:nvSpPr>
        <p:spPr>
          <a:xfrm>
            <a:off x="1778000" y="12736286"/>
            <a:ext cx="4720771" cy="1045029"/>
          </a:xfrm>
          <a:prstGeom prst="roundRect">
            <a:avLst>
              <a:gd name="adj" fmla="val 5555"/>
            </a:avLst>
          </a:prstGeom>
          <a:solidFill>
            <a:srgbClr val="F6E2C8"/>
          </a:solidFill>
          <a:ln w="14514">
            <a:solidFill>
              <a:srgbClr val="E0A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879600" y="12816114"/>
            <a:ext cx="4517571" cy="1886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80" b="1">
                <a:solidFill>
                  <a:srgbClr val="6B3F0F"/>
                </a:solidFill>
                <a:latin typeface="微软雅黑" panose="020B0503020204020204" charset="-122"/>
                <a:ea typeface="微软雅黑" panose="020B0503020204020204" charset="-122"/>
              </a:rPr>
              <a:t>算力资源层</a:t>
            </a:r>
            <a:endParaRPr sz="1180" b="1">
              <a:solidFill>
                <a:srgbClr val="6B3F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1879600" y="12990286"/>
            <a:ext cx="4517571" cy="7257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94615" indent="-94615" algn="l">
              <a:lnSpc>
                <a:spcPct val="118000"/>
              </a:lnSpc>
              <a:buFont typeface="Arial" panose="020B0604020202020204"/>
              <a:buChar char="•"/>
            </a:pPr>
            <a:r>
              <a:rPr sz="1060" b="0">
                <a:solidFill>
                  <a:srgbClr val="6B3F0F"/>
                </a:solidFill>
                <a:latin typeface="微软雅黑" panose="020B0503020204020204" charset="-122"/>
                <a:ea typeface="微软雅黑" panose="020B0503020204020204" charset="-122"/>
              </a:rPr>
              <a:t>国产异构算力：NPU · CPU · DCU</a:t>
            </a:r>
            <a:endParaRPr sz="1060" b="0">
              <a:solidFill>
                <a:srgbClr val="6B3F0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4615" indent="-94615" algn="l">
              <a:lnSpc>
                <a:spcPct val="118000"/>
              </a:lnSpc>
              <a:buFont typeface="Arial" panose="020B0604020202020204"/>
              <a:buChar char="•"/>
            </a:pPr>
            <a:r>
              <a:rPr sz="1060" b="0">
                <a:solidFill>
                  <a:srgbClr val="6B3F0F"/>
                </a:solidFill>
                <a:latin typeface="微软雅黑" panose="020B0503020204020204" charset="-122"/>
                <a:ea typeface="微软雅黑" panose="020B0503020204020204" charset="-122"/>
              </a:rPr>
              <a:t>算力池化 · 算力切分调度</a:t>
            </a:r>
            <a:endParaRPr sz="1060" b="0">
              <a:solidFill>
                <a:srgbClr val="6B3F0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4615" indent="-94615" algn="l">
              <a:lnSpc>
                <a:spcPct val="118000"/>
              </a:lnSpc>
              <a:buFont typeface="Arial" panose="020B0604020202020204"/>
              <a:buChar char="•"/>
            </a:pPr>
            <a:r>
              <a:rPr sz="1060" b="0">
                <a:solidFill>
                  <a:srgbClr val="6B3F0F"/>
                </a:solidFill>
                <a:latin typeface="微软雅黑" panose="020B0503020204020204" charset="-122"/>
                <a:ea typeface="微软雅黑" panose="020B0503020204020204" charset="-122"/>
              </a:rPr>
              <a:t>拓扑亲和 · 多租户资源隔离</a:t>
            </a:r>
            <a:endParaRPr sz="1060" b="0">
              <a:solidFill>
                <a:srgbClr val="6B3F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Rounded Rectangle 150"/>
          <p:cNvSpPr/>
          <p:nvPr/>
        </p:nvSpPr>
        <p:spPr>
          <a:xfrm>
            <a:off x="6651171" y="12736286"/>
            <a:ext cx="4720771" cy="1045029"/>
          </a:xfrm>
          <a:prstGeom prst="roundRect">
            <a:avLst>
              <a:gd name="adj" fmla="val 5555"/>
            </a:avLst>
          </a:prstGeom>
          <a:solidFill>
            <a:srgbClr val="F6E2C8"/>
          </a:solidFill>
          <a:ln w="14514">
            <a:solidFill>
              <a:srgbClr val="E0A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752771" y="12816114"/>
            <a:ext cx="4517571" cy="1886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80" b="1">
                <a:solidFill>
                  <a:srgbClr val="6B3F0F"/>
                </a:solidFill>
                <a:latin typeface="微软雅黑" panose="020B0503020204020204" charset="-122"/>
                <a:ea typeface="微软雅黑" panose="020B0503020204020204" charset="-122"/>
              </a:rPr>
              <a:t>存储资源层</a:t>
            </a:r>
            <a:endParaRPr sz="1180" b="1">
              <a:solidFill>
                <a:srgbClr val="6B3F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6752771" y="12990286"/>
            <a:ext cx="4517571" cy="7257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94615" indent="-94615" algn="l">
              <a:lnSpc>
                <a:spcPct val="118000"/>
              </a:lnSpc>
              <a:buFont typeface="Arial" panose="020B0604020202020204"/>
              <a:buChar char="•"/>
            </a:pPr>
            <a:r>
              <a:rPr sz="1060" b="0">
                <a:solidFill>
                  <a:srgbClr val="6B3F0F"/>
                </a:solidFill>
                <a:latin typeface="微软雅黑" panose="020B0503020204020204" charset="-122"/>
                <a:ea typeface="微软雅黑" panose="020B0503020204020204" charset="-122"/>
              </a:rPr>
              <a:t>对象存储（报告 · 影像 · 线图）</a:t>
            </a:r>
            <a:endParaRPr sz="1060" b="0">
              <a:solidFill>
                <a:srgbClr val="6B3F0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4615" indent="-94615" algn="l">
              <a:lnSpc>
                <a:spcPct val="118000"/>
              </a:lnSpc>
              <a:buFont typeface="Arial" panose="020B0604020202020204"/>
              <a:buChar char="•"/>
            </a:pPr>
            <a:r>
              <a:rPr sz="1060" b="0">
                <a:solidFill>
                  <a:srgbClr val="6B3F0F"/>
                </a:solidFill>
                <a:latin typeface="微软雅黑" panose="020B0503020204020204" charset="-122"/>
                <a:ea typeface="微软雅黑" panose="020B0503020204020204" charset="-122"/>
              </a:rPr>
              <a:t>文件存储（三维模型 · CT 扫描）</a:t>
            </a:r>
            <a:endParaRPr sz="1060" b="0">
              <a:solidFill>
                <a:srgbClr val="6B3F0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4615" indent="-94615" algn="l">
              <a:lnSpc>
                <a:spcPct val="118000"/>
              </a:lnSpc>
              <a:buFont typeface="Arial" panose="020B0604020202020204"/>
              <a:buChar char="•"/>
            </a:pPr>
            <a:r>
              <a:rPr sz="1060" b="0">
                <a:solidFill>
                  <a:srgbClr val="6B3F0F"/>
                </a:solidFill>
                <a:latin typeface="微软雅黑" panose="020B0503020204020204" charset="-122"/>
                <a:ea typeface="微软雅黑" panose="020B0503020204020204" charset="-122"/>
              </a:rPr>
              <a:t>块存储（结构化数据表）</a:t>
            </a:r>
            <a:endParaRPr sz="1060" b="0">
              <a:solidFill>
                <a:srgbClr val="6B3F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Rounded Rectangle 153"/>
          <p:cNvSpPr/>
          <p:nvPr/>
        </p:nvSpPr>
        <p:spPr>
          <a:xfrm>
            <a:off x="11524343" y="12736286"/>
            <a:ext cx="4720771" cy="1045029"/>
          </a:xfrm>
          <a:prstGeom prst="roundRect">
            <a:avLst>
              <a:gd name="adj" fmla="val 5555"/>
            </a:avLst>
          </a:prstGeom>
          <a:solidFill>
            <a:srgbClr val="F6E2C8"/>
          </a:solidFill>
          <a:ln w="14514">
            <a:solidFill>
              <a:srgbClr val="E0A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1625943" y="12816114"/>
            <a:ext cx="4517571" cy="1886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80" b="1">
                <a:solidFill>
                  <a:srgbClr val="6B3F0F"/>
                </a:solidFill>
                <a:latin typeface="微软雅黑" panose="020B0503020204020204" charset="-122"/>
                <a:ea typeface="微软雅黑" panose="020B0503020204020204" charset="-122"/>
              </a:rPr>
              <a:t>网络资源层</a:t>
            </a:r>
            <a:endParaRPr sz="1180" b="1">
              <a:solidFill>
                <a:srgbClr val="6B3F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11625943" y="12990286"/>
            <a:ext cx="4517571" cy="7257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94615" indent="-94615" algn="l">
              <a:lnSpc>
                <a:spcPct val="118000"/>
              </a:lnSpc>
              <a:buFont typeface="Arial" panose="020B0604020202020204"/>
              <a:buChar char="•"/>
            </a:pPr>
            <a:r>
              <a:rPr sz="1060" b="0">
                <a:solidFill>
                  <a:srgbClr val="6B3F0F"/>
                </a:solidFill>
                <a:latin typeface="微软雅黑" panose="020B0503020204020204" charset="-122"/>
                <a:ea typeface="微软雅黑" panose="020B0503020204020204" charset="-122"/>
              </a:rPr>
              <a:t>RoCE / TCP 高速网络</a:t>
            </a:r>
            <a:endParaRPr sz="1060" b="0">
              <a:solidFill>
                <a:srgbClr val="6B3F0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4615" indent="-94615" algn="l">
              <a:lnSpc>
                <a:spcPct val="118000"/>
              </a:lnSpc>
              <a:buFont typeface="Arial" panose="020B0604020202020204"/>
              <a:buChar char="•"/>
            </a:pPr>
            <a:r>
              <a:rPr sz="1060" b="0">
                <a:solidFill>
                  <a:srgbClr val="6B3F0F"/>
                </a:solidFill>
                <a:latin typeface="微软雅黑" panose="020B0503020204020204" charset="-122"/>
                <a:ea typeface="微软雅黑" panose="020B0503020204020204" charset="-122"/>
              </a:rPr>
              <a:t>支持分布式训练与多节点推理</a:t>
            </a:r>
            <a:endParaRPr sz="1060" b="0">
              <a:solidFill>
                <a:srgbClr val="6B3F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Rounded Rectangle 156"/>
          <p:cNvSpPr/>
          <p:nvPr/>
        </p:nvSpPr>
        <p:spPr>
          <a:xfrm>
            <a:off x="16397514" y="12736286"/>
            <a:ext cx="4720771" cy="1045029"/>
          </a:xfrm>
          <a:prstGeom prst="roundRect">
            <a:avLst>
              <a:gd name="adj" fmla="val 5555"/>
            </a:avLst>
          </a:prstGeom>
          <a:solidFill>
            <a:srgbClr val="F6E2C8"/>
          </a:solidFill>
          <a:ln w="14514">
            <a:solidFill>
              <a:srgbClr val="E0A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6499114" y="12816114"/>
            <a:ext cx="4517571" cy="1886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180" b="1">
                <a:solidFill>
                  <a:srgbClr val="6B3F0F"/>
                </a:solidFill>
                <a:latin typeface="微软雅黑" panose="020B0503020204020204" charset="-122"/>
                <a:ea typeface="微软雅黑" panose="020B0503020204020204" charset="-122"/>
              </a:rPr>
              <a:t>资源监控与调度</a:t>
            </a:r>
            <a:endParaRPr sz="1180" b="1">
              <a:solidFill>
                <a:srgbClr val="6B3F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16499114" y="12990286"/>
            <a:ext cx="4517571" cy="7257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94615" indent="-94615" algn="l">
              <a:lnSpc>
                <a:spcPct val="118000"/>
              </a:lnSpc>
              <a:buFont typeface="Arial" panose="020B0604020202020204"/>
              <a:buChar char="•"/>
            </a:pPr>
            <a:r>
              <a:rPr sz="1060" b="0">
                <a:solidFill>
                  <a:srgbClr val="6B3F0F"/>
                </a:solidFill>
                <a:latin typeface="微软雅黑" panose="020B0503020204020204" charset="-122"/>
                <a:ea typeface="微软雅黑" panose="020B0503020204020204" charset="-122"/>
              </a:rPr>
              <a:t>算力 / 存储 / 带宽 实时监测</a:t>
            </a:r>
            <a:endParaRPr sz="1060" b="0">
              <a:solidFill>
                <a:srgbClr val="6B3F0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94615" indent="-94615" algn="l">
              <a:lnSpc>
                <a:spcPct val="118000"/>
              </a:lnSpc>
              <a:buFont typeface="Arial" panose="020B0604020202020204"/>
              <a:buChar char="•"/>
            </a:pPr>
            <a:r>
              <a:rPr sz="1060" b="0">
                <a:solidFill>
                  <a:srgbClr val="6B3F0F"/>
                </a:solidFill>
                <a:latin typeface="微软雅黑" panose="020B0503020204020204" charset="-122"/>
                <a:ea typeface="微软雅黑" panose="020B0503020204020204" charset="-122"/>
              </a:rPr>
              <a:t>资源预约 · 弹性伸缩 · 故障转移</a:t>
            </a:r>
            <a:endParaRPr sz="1060" b="0">
              <a:solidFill>
                <a:srgbClr val="6B3F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1778000" y="13882914"/>
            <a:ext cx="19340286" cy="508000"/>
          </a:xfrm>
          <a:prstGeom prst="roundRect">
            <a:avLst>
              <a:gd name="adj" fmla="val 11428"/>
            </a:avLst>
          </a:prstGeom>
          <a:solidFill>
            <a:srgbClr val="F6E2C8"/>
          </a:solidFill>
          <a:ln w="14514">
            <a:solidFill>
              <a:srgbClr val="E0A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778000" y="13882914"/>
            <a:ext cx="19340286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0">
                <a:solidFill>
                  <a:srgbClr val="6B3F0F"/>
                </a:solidFill>
                <a:latin typeface="微软雅黑" panose="020B0503020204020204" charset="-122"/>
                <a:ea typeface="微软雅黑" panose="020B0503020204020204" charset="-122"/>
              </a:rPr>
              <a:t>国产算力底座：NPU · CPU · DCU 异构适配     |     存储分级：对象 · 文件 · 块     |     全链路资源监控</a:t>
            </a:r>
            <a:endParaRPr sz="1200" b="0">
              <a:solidFill>
                <a:srgbClr val="6B3F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Rounded Rectangle 161"/>
          <p:cNvSpPr/>
          <p:nvPr/>
        </p:nvSpPr>
        <p:spPr>
          <a:xfrm>
            <a:off x="21386800" y="979714"/>
            <a:ext cx="2772229" cy="13556343"/>
          </a:xfrm>
          <a:prstGeom prst="roundRect">
            <a:avLst>
              <a:gd name="adj" fmla="val 5235"/>
            </a:avLst>
          </a:prstGeom>
          <a:solidFill>
            <a:srgbClr val="FBE8E8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21531943" y="1132114"/>
            <a:ext cx="2481943" cy="754743"/>
          </a:xfrm>
          <a:prstGeom prst="roundRect">
            <a:avLst>
              <a:gd name="adj" fmla="val 9615"/>
            </a:avLst>
          </a:prstGeom>
          <a:solidFill>
            <a:srgbClr val="B9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1531943" y="1204686"/>
            <a:ext cx="2481943" cy="3193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94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 · 安全工程</a:t>
            </a:r>
            <a:endParaRPr sz="194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21531943" y="1516743"/>
            <a:ext cx="2481943" cy="2757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6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贯穿资源 · 数据 · 模型 · 应用各层</a:t>
            </a:r>
            <a:endParaRPr sz="96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Rounded Rectangle 165"/>
          <p:cNvSpPr/>
          <p:nvPr/>
        </p:nvSpPr>
        <p:spPr>
          <a:xfrm>
            <a:off x="21531943" y="1988457"/>
            <a:ext cx="2481943" cy="4064000"/>
          </a:xfrm>
          <a:prstGeom prst="roundRect">
            <a:avLst>
              <a:gd name="adj" fmla="val 2923"/>
            </a:avLst>
          </a:prstGeom>
          <a:solidFill>
            <a:srgbClr val="FDF7F6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21604514" y="2002971"/>
            <a:ext cx="2336800" cy="333829"/>
          </a:xfrm>
          <a:prstGeom prst="roundRect">
            <a:avLst>
              <a:gd name="adj" fmla="val 17391"/>
            </a:avLst>
          </a:prstGeom>
          <a:solidFill>
            <a:srgbClr val="F7D9D5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1604514" y="2002971"/>
            <a:ext cx="2336800" cy="3338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数据安全</a:t>
            </a:r>
            <a:endParaRPr sz="1300" b="1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Rounded Rectangle 168"/>
          <p:cNvSpPr/>
          <p:nvPr/>
        </p:nvSpPr>
        <p:spPr>
          <a:xfrm>
            <a:off x="21604514" y="2445657"/>
            <a:ext cx="2336800" cy="849086"/>
          </a:xfrm>
          <a:prstGeom prst="roundRect">
            <a:avLst>
              <a:gd name="adj" fmla="val 6837"/>
            </a:avLst>
          </a:prstGeom>
          <a:solidFill>
            <a:srgbClr val="F7D9D5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1604514" y="2467429"/>
            <a:ext cx="2336800" cy="2467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90" b="1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分级分类管理</a:t>
            </a:r>
            <a:endParaRPr sz="1090" b="1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21604514" y="2830286"/>
            <a:ext cx="2336800" cy="2612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20" b="0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公开 / 内部 / 敏感 三级管控</a:t>
            </a:r>
            <a:endParaRPr sz="920" b="0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Rounded Rectangle 171"/>
          <p:cNvSpPr/>
          <p:nvPr/>
        </p:nvSpPr>
        <p:spPr>
          <a:xfrm>
            <a:off x="21604514" y="3374571"/>
            <a:ext cx="2336800" cy="849086"/>
          </a:xfrm>
          <a:prstGeom prst="roundRect">
            <a:avLst>
              <a:gd name="adj" fmla="val 6837"/>
            </a:avLst>
          </a:prstGeom>
          <a:solidFill>
            <a:srgbClr val="F7D9D5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21604514" y="3396343"/>
            <a:ext cx="2336800" cy="2467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90" b="1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脱敏与隐私保护</a:t>
            </a:r>
            <a:endParaRPr sz="1090" b="1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21604514" y="3759200"/>
            <a:ext cx="2336800" cy="2612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20" b="0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人骨 · 古DNA 数据伦理合规</a:t>
            </a:r>
            <a:endParaRPr sz="920" b="0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Rounded Rectangle 174"/>
          <p:cNvSpPr/>
          <p:nvPr/>
        </p:nvSpPr>
        <p:spPr>
          <a:xfrm>
            <a:off x="21604514" y="4296229"/>
            <a:ext cx="2336800" cy="849086"/>
          </a:xfrm>
          <a:prstGeom prst="roundRect">
            <a:avLst>
              <a:gd name="adj" fmla="val 6837"/>
            </a:avLst>
          </a:prstGeom>
          <a:solidFill>
            <a:srgbClr val="F7D9D5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1604514" y="4318000"/>
            <a:ext cx="2336800" cy="2467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90" b="1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防篡改与溯源</a:t>
            </a:r>
            <a:endParaRPr sz="1090" b="1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21604514" y="4680857"/>
            <a:ext cx="2336800" cy="2612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20" b="0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区块链存证 · 版本留痕</a:t>
            </a:r>
            <a:endParaRPr sz="920" b="0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Rounded Rectangle 177"/>
          <p:cNvSpPr/>
          <p:nvPr/>
        </p:nvSpPr>
        <p:spPr>
          <a:xfrm>
            <a:off x="21604514" y="5217886"/>
            <a:ext cx="2336800" cy="849086"/>
          </a:xfrm>
          <a:prstGeom prst="roundRect">
            <a:avLst>
              <a:gd name="adj" fmla="val 6837"/>
            </a:avLst>
          </a:prstGeom>
          <a:solidFill>
            <a:srgbClr val="F7D9D5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21604514" y="5239657"/>
            <a:ext cx="2336800" cy="2467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90" b="1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数据安全审计</a:t>
            </a:r>
            <a:endParaRPr sz="1090" b="1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21604514" y="5602514"/>
            <a:ext cx="2336800" cy="2612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20" b="0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访问日志 · 责任可追溯</a:t>
            </a:r>
            <a:endParaRPr sz="920" b="0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Rounded Rectangle 180"/>
          <p:cNvSpPr/>
          <p:nvPr/>
        </p:nvSpPr>
        <p:spPr>
          <a:xfrm>
            <a:off x="21531943" y="6052457"/>
            <a:ext cx="2481943" cy="4267200"/>
          </a:xfrm>
          <a:prstGeom prst="roundRect">
            <a:avLst>
              <a:gd name="adj" fmla="val 2923"/>
            </a:avLst>
          </a:prstGeom>
          <a:solidFill>
            <a:srgbClr val="FDF7F6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21604514" y="6066971"/>
            <a:ext cx="2336800" cy="333829"/>
          </a:xfrm>
          <a:prstGeom prst="roundRect">
            <a:avLst>
              <a:gd name="adj" fmla="val 17391"/>
            </a:avLst>
          </a:prstGeom>
          <a:solidFill>
            <a:srgbClr val="F7D9D5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21604514" y="6066971"/>
            <a:ext cx="2336800" cy="3338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模型安全</a:t>
            </a:r>
            <a:endParaRPr sz="1300" b="1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Rounded Rectangle 183"/>
          <p:cNvSpPr/>
          <p:nvPr/>
        </p:nvSpPr>
        <p:spPr>
          <a:xfrm>
            <a:off x="21604514" y="6611257"/>
            <a:ext cx="2336800" cy="849086"/>
          </a:xfrm>
          <a:prstGeom prst="roundRect">
            <a:avLst>
              <a:gd name="adj" fmla="val 6837"/>
            </a:avLst>
          </a:prstGeom>
          <a:solidFill>
            <a:srgbClr val="F7D9D5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21604514" y="6633029"/>
            <a:ext cx="2336800" cy="2467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90" b="1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模型引入评估</a:t>
            </a:r>
            <a:endParaRPr sz="1090" b="1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21604514" y="6995886"/>
            <a:ext cx="2336800" cy="2612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20" b="0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偏见 · 幻觉 · 有害输出检测</a:t>
            </a:r>
            <a:endParaRPr sz="920" b="0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Rounded Rectangle 186"/>
          <p:cNvSpPr/>
          <p:nvPr/>
        </p:nvSpPr>
        <p:spPr>
          <a:xfrm>
            <a:off x="21604514" y="7532914"/>
            <a:ext cx="2336800" cy="849086"/>
          </a:xfrm>
          <a:prstGeom prst="roundRect">
            <a:avLst>
              <a:gd name="adj" fmla="val 6837"/>
            </a:avLst>
          </a:prstGeom>
          <a:solidFill>
            <a:srgbClr val="F7D9D5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1604514" y="7554686"/>
            <a:ext cx="2336800" cy="2467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90" b="1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模型幻觉治理</a:t>
            </a:r>
            <a:endParaRPr sz="1090" b="1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21604514" y="7917543"/>
            <a:ext cx="2336800" cy="2612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20" b="0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RAG 有据可查 · 置信度标注</a:t>
            </a:r>
            <a:endParaRPr sz="920" b="0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Rounded Rectangle 189"/>
          <p:cNvSpPr/>
          <p:nvPr/>
        </p:nvSpPr>
        <p:spPr>
          <a:xfrm>
            <a:off x="21604514" y="8454571"/>
            <a:ext cx="2336800" cy="849086"/>
          </a:xfrm>
          <a:prstGeom prst="roundRect">
            <a:avLst>
              <a:gd name="adj" fmla="val 6837"/>
            </a:avLst>
          </a:prstGeom>
          <a:solidFill>
            <a:srgbClr val="F7D9D5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1604514" y="8476343"/>
            <a:ext cx="2336800" cy="2467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90" b="1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模型防御</a:t>
            </a:r>
            <a:endParaRPr sz="1090" b="1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21604514" y="8839200"/>
            <a:ext cx="2336800" cy="2612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20" b="0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抗对抗攻击 · 抗提示注入</a:t>
            </a:r>
            <a:endParaRPr sz="920" b="0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" name="Rounded Rectangle 192"/>
          <p:cNvSpPr/>
          <p:nvPr/>
        </p:nvSpPr>
        <p:spPr>
          <a:xfrm>
            <a:off x="21604514" y="9383486"/>
            <a:ext cx="2336800" cy="849086"/>
          </a:xfrm>
          <a:prstGeom prst="roundRect">
            <a:avLst>
              <a:gd name="adj" fmla="val 6837"/>
            </a:avLst>
          </a:prstGeom>
          <a:solidFill>
            <a:srgbClr val="F7D9D5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21604514" y="9405257"/>
            <a:ext cx="2336800" cy="2467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90" b="1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版本管理与追溯</a:t>
            </a:r>
            <a:endParaRPr sz="1090" b="1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21604514" y="9768114"/>
            <a:ext cx="2336800" cy="2612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20" b="0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训练数据 · 超参 · 回滚</a:t>
            </a:r>
            <a:endParaRPr sz="920" b="0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" name="Rounded Rectangle 195"/>
          <p:cNvSpPr/>
          <p:nvPr/>
        </p:nvSpPr>
        <p:spPr>
          <a:xfrm>
            <a:off x="21531943" y="10319657"/>
            <a:ext cx="2481943" cy="4064000"/>
          </a:xfrm>
          <a:prstGeom prst="roundRect">
            <a:avLst>
              <a:gd name="adj" fmla="val 2923"/>
            </a:avLst>
          </a:prstGeom>
          <a:solidFill>
            <a:srgbClr val="FDF7F6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21604514" y="10334171"/>
            <a:ext cx="2336800" cy="333829"/>
          </a:xfrm>
          <a:prstGeom prst="roundRect">
            <a:avLst>
              <a:gd name="adj" fmla="val 17391"/>
            </a:avLst>
          </a:prstGeom>
          <a:solidFill>
            <a:srgbClr val="F7D9D5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21604514" y="10334171"/>
            <a:ext cx="2336800" cy="3338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内容安全</a:t>
            </a:r>
            <a:endParaRPr sz="1300" b="1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Rounded Rectangle 198"/>
          <p:cNvSpPr/>
          <p:nvPr/>
        </p:nvSpPr>
        <p:spPr>
          <a:xfrm>
            <a:off x="21604514" y="10769600"/>
            <a:ext cx="2336800" cy="849086"/>
          </a:xfrm>
          <a:prstGeom prst="roundRect">
            <a:avLst>
              <a:gd name="adj" fmla="val 6837"/>
            </a:avLst>
          </a:prstGeom>
          <a:solidFill>
            <a:srgbClr val="F7D9D5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1604514" y="10791371"/>
            <a:ext cx="2336800" cy="2467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90" b="1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生成内容审核</a:t>
            </a:r>
            <a:endParaRPr sz="1090" b="1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21604514" y="11154229"/>
            <a:ext cx="2336800" cy="2612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20" b="0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符合学术规范与法规要求</a:t>
            </a:r>
            <a:endParaRPr sz="920" b="0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Rounded Rectangle 201"/>
          <p:cNvSpPr/>
          <p:nvPr/>
        </p:nvSpPr>
        <p:spPr>
          <a:xfrm>
            <a:off x="21604514" y="11698514"/>
            <a:ext cx="2336800" cy="849086"/>
          </a:xfrm>
          <a:prstGeom prst="roundRect">
            <a:avLst>
              <a:gd name="adj" fmla="val 6837"/>
            </a:avLst>
          </a:prstGeom>
          <a:solidFill>
            <a:srgbClr val="F7D9D5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21604514" y="11720286"/>
            <a:ext cx="2336800" cy="2467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90" b="1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学术伦理合规</a:t>
            </a:r>
            <a:endParaRPr sz="1090" b="1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21604514" y="12083143"/>
            <a:ext cx="2336800" cy="2612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20" b="0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AI 参与程度如实披露</a:t>
            </a:r>
            <a:endParaRPr sz="920" b="0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Rounded Rectangle 204"/>
          <p:cNvSpPr/>
          <p:nvPr/>
        </p:nvSpPr>
        <p:spPr>
          <a:xfrm>
            <a:off x="21604514" y="12620171"/>
            <a:ext cx="2336800" cy="849086"/>
          </a:xfrm>
          <a:prstGeom prst="roundRect">
            <a:avLst>
              <a:gd name="adj" fmla="val 6837"/>
            </a:avLst>
          </a:prstGeom>
          <a:solidFill>
            <a:srgbClr val="F7D9D5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21604514" y="12641943"/>
            <a:ext cx="2336800" cy="2467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90" b="1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文化安全与保护</a:t>
            </a:r>
            <a:endParaRPr sz="1090" b="1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21604514" y="13004800"/>
            <a:ext cx="2336800" cy="2612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20" b="0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未公开遗址信息不外泄</a:t>
            </a:r>
            <a:endParaRPr sz="920" b="0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Rounded Rectangle 207"/>
          <p:cNvSpPr/>
          <p:nvPr/>
        </p:nvSpPr>
        <p:spPr>
          <a:xfrm>
            <a:off x="21604514" y="13541829"/>
            <a:ext cx="2336800" cy="849086"/>
          </a:xfrm>
          <a:prstGeom prst="roundRect">
            <a:avLst>
              <a:gd name="adj" fmla="val 6837"/>
            </a:avLst>
          </a:prstGeom>
          <a:solidFill>
            <a:srgbClr val="F7D9D5"/>
          </a:solidFill>
          <a:ln w="14514">
            <a:solidFill>
              <a:srgbClr val="E3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21604514" y="13563600"/>
            <a:ext cx="2336800" cy="2467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1090" b="1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内容安全围栏</a:t>
            </a:r>
            <a:endParaRPr sz="1090" b="1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0" name="TextBox 209"/>
          <p:cNvSpPr txBox="1"/>
          <p:nvPr/>
        </p:nvSpPr>
        <p:spPr>
          <a:xfrm>
            <a:off x="21604514" y="13926457"/>
            <a:ext cx="2336800" cy="2612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buNone/>
            </a:pPr>
            <a:r>
              <a:rPr sz="920" b="0">
                <a:solidFill>
                  <a:srgbClr val="6E1F16"/>
                </a:solidFill>
                <a:latin typeface="微软雅黑" panose="020B0503020204020204" charset="-122"/>
                <a:ea typeface="微软雅黑" panose="020B0503020204020204" charset="-122"/>
              </a:rPr>
              <a:t>拦截盗掘 · 文物非法交易</a:t>
            </a:r>
            <a:endParaRPr sz="920" b="0">
              <a:solidFill>
                <a:srgbClr val="6E1F1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1760</Words>
  <Application>WPS 演示</Application>
  <PresentationFormat>On-screen Show (4:3)</PresentationFormat>
  <Paragraphs>264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qilichao</cp:lastModifiedBy>
  <cp:revision>2</cp:revision>
  <dcterms:created xsi:type="dcterms:W3CDTF">2013-01-27T09:14:00Z</dcterms:created>
  <dcterms:modified xsi:type="dcterms:W3CDTF">2026-09-14T05:20:37Z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8C57B7E33CBF406DB424E88E8BB2F5CF_12</vt:lpwstr>
  </property>
  <property fmtid="{D5CDD505-2E9C-101B-9397-08002B2CF9AE}" pid="3" name="KSOProductBuildVer">
    <vt:lpwstr>2052-12.1.0.28505</vt:lpwstr>
  </property>
</Properties>
</file>