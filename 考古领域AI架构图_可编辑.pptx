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8" r:id="rId3"/>
  </p:sldIdLst>
  <p:sldSz cx="24384000" cy="1592199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3" userDrawn="1">
          <p15:clr>
            <a:srgbClr val="A4A3A4"/>
          </p15:clr>
        </p15:guide>
        <p15:guide id="2" pos="28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03"/>
        <p:guide pos="288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65870" y="1143000"/>
            <a:ext cx="472626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19216" y="692513"/>
            <a:ext cx="7982857" cy="6769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4400" b="1">
                <a:solidFill>
                  <a:srgbClr val="1F3A5F"/>
                </a:solidFill>
                <a:latin typeface="微软雅黑" panose="020B0503020204020204" charset="-122"/>
                <a:ea typeface="微软雅黑" panose="020B0503020204020204" charset="-122"/>
              </a:rPr>
              <a:t>考古领域人工智能应用架构</a:t>
            </a:r>
            <a:endParaRPr sz="4400" b="1">
              <a:solidFill>
                <a:srgbClr val="1F3A5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904" y="1467213"/>
            <a:ext cx="21599999" cy="43543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53000">
                <a:srgbClr val="2D6BB2"/>
              </a:gs>
              <a:gs pos="100000">
                <a:srgbClr val="1F8979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grpSp>
        <p:nvGrpSpPr>
          <p:cNvPr id="553" name="组合 552"/>
          <p:cNvGrpSpPr/>
          <p:nvPr/>
        </p:nvGrpSpPr>
        <p:grpSpPr>
          <a:xfrm>
            <a:off x="522605" y="1836420"/>
            <a:ext cx="20025995" cy="12551410"/>
            <a:chOff x="823" y="4366"/>
            <a:chExt cx="31537" cy="19766"/>
          </a:xfrm>
        </p:grpSpPr>
        <p:grpSp>
          <p:nvGrpSpPr>
            <p:cNvPr id="37" name="组合 36"/>
            <p:cNvGrpSpPr/>
            <p:nvPr/>
          </p:nvGrpSpPr>
          <p:grpSpPr>
            <a:xfrm>
              <a:off x="893" y="21052"/>
              <a:ext cx="27772" cy="3080"/>
              <a:chOff x="893" y="20159"/>
              <a:chExt cx="23332" cy="2280"/>
            </a:xfrm>
          </p:grpSpPr>
          <p:sp>
            <p:nvSpPr>
              <p:cNvPr id="24" name="Rounded Rectangle 23"/>
              <p:cNvSpPr/>
              <p:nvPr/>
            </p:nvSpPr>
            <p:spPr>
              <a:xfrm>
                <a:off x="893" y="20159"/>
                <a:ext cx="2023" cy="2268"/>
              </a:xfrm>
              <a:prstGeom prst="roundRect">
                <a:avLst>
                  <a:gd name="adj" fmla="val 10169"/>
                </a:avLst>
              </a:prstGeom>
              <a:solidFill>
                <a:srgbClr val="FBF0E3"/>
              </a:solidFill>
              <a:ln w="14514">
                <a:solidFill>
                  <a:srgbClr val="E0AE74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893" y="20412"/>
                <a:ext cx="2023" cy="5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3000" b="1">
                    <a:solidFill>
                      <a:srgbClr val="C0762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4</a:t>
                </a:r>
                <a:endParaRPr sz="3000" b="1">
                  <a:solidFill>
                    <a:srgbClr val="C0762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893" y="21112"/>
                <a:ext cx="2023" cy="32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b="1">
                    <a:solidFill>
                      <a:srgbClr val="6B3F0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资源工程</a:t>
                </a:r>
                <a:endParaRPr b="1">
                  <a:solidFill>
                    <a:srgbClr val="6B3F0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893" y="21668"/>
                <a:ext cx="2023" cy="21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1200" b="0">
                    <a:solidFill>
                      <a:srgbClr val="C0762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算力 · 存储 · 网络</a:t>
                </a:r>
                <a:endParaRPr sz="1200" b="0">
                  <a:solidFill>
                    <a:srgbClr val="C0762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8" name="Rounded Rectangle 27"/>
              <p:cNvSpPr/>
              <p:nvPr/>
            </p:nvSpPr>
            <p:spPr>
              <a:xfrm>
                <a:off x="3099" y="20171"/>
                <a:ext cx="21126" cy="2268"/>
              </a:xfrm>
              <a:prstGeom prst="roundRect">
                <a:avLst>
                  <a:gd name="adj" fmla="val 8208"/>
                </a:avLst>
              </a:prstGeom>
              <a:solidFill>
                <a:srgbClr val="FFFFFF"/>
              </a:solidFill>
              <a:ln w="14514">
                <a:solidFill>
                  <a:srgbClr val="E0AE74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9" name="Rounded Rectangle 28"/>
              <p:cNvSpPr/>
              <p:nvPr/>
            </p:nvSpPr>
            <p:spPr>
              <a:xfrm>
                <a:off x="3099" y="20171"/>
                <a:ext cx="103" cy="2268"/>
              </a:xfrm>
              <a:prstGeom prst="roundRect">
                <a:avLst>
                  <a:gd name="adj" fmla="val 50000"/>
                </a:avLst>
              </a:prstGeom>
              <a:solidFill>
                <a:srgbClr val="C0762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4" name="组合 3"/>
              <p:cNvGrpSpPr/>
              <p:nvPr/>
            </p:nvGrpSpPr>
            <p:grpSpPr>
              <a:xfrm>
                <a:off x="15478" y="21406"/>
                <a:ext cx="5385" cy="790"/>
                <a:chOff x="7375" y="12907"/>
                <a:chExt cx="3798" cy="790"/>
              </a:xfrm>
            </p:grpSpPr>
            <p:sp>
              <p:nvSpPr>
                <p:cNvPr id="2" name="矩形 1"/>
                <p:cNvSpPr/>
                <p:nvPr/>
              </p:nvSpPr>
              <p:spPr>
                <a:xfrm>
                  <a:off x="7375" y="12907"/>
                  <a:ext cx="3798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49" name="TextBox 148"/>
                <p:cNvSpPr txBox="1"/>
                <p:nvPr/>
              </p:nvSpPr>
              <p:spPr>
                <a:xfrm>
                  <a:off x="7563" y="13039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网络系统：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RoCE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TCP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369" y="21406"/>
                <a:ext cx="5386" cy="790"/>
                <a:chOff x="7553" y="15716"/>
                <a:chExt cx="4535" cy="790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8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国产算力：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GPU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NPU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DPU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9424" y="21406"/>
                <a:ext cx="5385" cy="790"/>
                <a:chOff x="7375" y="12907"/>
                <a:chExt cx="3798" cy="790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7375" y="12907"/>
                  <a:ext cx="3798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1" name="TextBox 148"/>
                <p:cNvSpPr txBox="1"/>
                <p:nvPr/>
              </p:nvSpPr>
              <p:spPr>
                <a:xfrm>
                  <a:off x="7455" y="13039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存储系统：文件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、对象、块存储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402" y="20318"/>
                <a:ext cx="2835" cy="790"/>
                <a:chOff x="7553" y="15716"/>
                <a:chExt cx="4535" cy="790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5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算力切分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7059" y="20318"/>
                <a:ext cx="2834" cy="790"/>
                <a:chOff x="7553" y="15716"/>
                <a:chExt cx="4535" cy="790"/>
              </a:xfrm>
            </p:grpSpPr>
            <p:sp>
              <p:nvSpPr>
                <p:cNvPr id="17" name="矩形 16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8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算力池化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10715" y="20318"/>
                <a:ext cx="2834" cy="790"/>
                <a:chOff x="7553" y="15716"/>
                <a:chExt cx="4535" cy="790"/>
              </a:xfrm>
            </p:grpSpPr>
            <p:sp>
              <p:nvSpPr>
                <p:cNvPr id="20" name="矩形 19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1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异构调度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4371" y="20318"/>
                <a:ext cx="2834" cy="790"/>
                <a:chOff x="7553" y="15716"/>
                <a:chExt cx="4535" cy="790"/>
              </a:xfrm>
            </p:grpSpPr>
            <p:sp>
              <p:nvSpPr>
                <p:cNvPr id="23" name="矩形 22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0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拓扑亲和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8027" y="20318"/>
                <a:ext cx="2834" cy="790"/>
                <a:chOff x="7553" y="15716"/>
                <a:chExt cx="4535" cy="790"/>
              </a:xfrm>
            </p:grpSpPr>
            <p:sp>
              <p:nvSpPr>
                <p:cNvPr id="32" name="矩形 31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3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资源隔离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4" name="组合 33"/>
              <p:cNvGrpSpPr/>
              <p:nvPr/>
            </p:nvGrpSpPr>
            <p:grpSpPr>
              <a:xfrm>
                <a:off x="21228" y="20295"/>
                <a:ext cx="2834" cy="1928"/>
                <a:chOff x="7763" y="15664"/>
                <a:chExt cx="4535" cy="842"/>
              </a:xfrm>
            </p:grpSpPr>
            <p:sp>
              <p:nvSpPr>
                <p:cNvPr id="35" name="矩形 34"/>
                <p:cNvSpPr/>
                <p:nvPr/>
              </p:nvSpPr>
              <p:spPr>
                <a:xfrm>
                  <a:off x="7763" y="15664"/>
                  <a:ext cx="4535" cy="842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6" name="TextBox 148"/>
                <p:cNvSpPr txBox="1"/>
                <p:nvPr/>
              </p:nvSpPr>
              <p:spPr>
                <a:xfrm>
                  <a:off x="8077" y="1579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资源监控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206" name="组合 205"/>
            <p:cNvGrpSpPr/>
            <p:nvPr/>
          </p:nvGrpSpPr>
          <p:grpSpPr>
            <a:xfrm>
              <a:off x="887" y="13806"/>
              <a:ext cx="27769" cy="6979"/>
              <a:chOff x="887" y="14780"/>
              <a:chExt cx="23330" cy="5166"/>
            </a:xfrm>
          </p:grpSpPr>
          <p:sp>
            <p:nvSpPr>
              <p:cNvPr id="38" name="Rounded Rectangle 17"/>
              <p:cNvSpPr/>
              <p:nvPr/>
            </p:nvSpPr>
            <p:spPr>
              <a:xfrm>
                <a:off x="887" y="14780"/>
                <a:ext cx="2023" cy="5102"/>
              </a:xfrm>
              <a:prstGeom prst="roundRect">
                <a:avLst>
                  <a:gd name="adj" fmla="val 10169"/>
                </a:avLst>
              </a:prstGeom>
              <a:solidFill>
                <a:srgbClr val="E6F4F1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39" name="TextBox 18"/>
              <p:cNvSpPr txBox="1"/>
              <p:nvPr/>
            </p:nvSpPr>
            <p:spPr>
              <a:xfrm>
                <a:off x="893" y="16053"/>
                <a:ext cx="2023" cy="5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3000" b="1">
                    <a:solidFill>
                      <a:srgbClr val="1F8A78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3</a:t>
                </a:r>
                <a:endParaRPr sz="3000" b="1">
                  <a:solidFill>
                    <a:srgbClr val="1F8A78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0" name="TextBox 19"/>
              <p:cNvSpPr txBox="1"/>
              <p:nvPr/>
            </p:nvSpPr>
            <p:spPr>
              <a:xfrm>
                <a:off x="887" y="16965"/>
                <a:ext cx="2023" cy="32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b="1">
                    <a:solidFill>
                      <a:srgbClr val="0C483E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数据工程</a:t>
                </a:r>
                <a:endParaRPr b="1">
                  <a:solidFill>
                    <a:srgbClr val="0C483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1" name="TextBox 20"/>
              <p:cNvSpPr txBox="1"/>
              <p:nvPr/>
            </p:nvSpPr>
            <p:spPr>
              <a:xfrm>
                <a:off x="887" y="17563"/>
                <a:ext cx="2023" cy="21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1200" b="0">
                    <a:solidFill>
                      <a:srgbClr val="1F8A78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 三类数据资产</a:t>
                </a:r>
                <a:endParaRPr sz="1200" b="0">
                  <a:solidFill>
                    <a:srgbClr val="1F8A78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2" name="Rounded Rectangle 21"/>
              <p:cNvSpPr/>
              <p:nvPr/>
            </p:nvSpPr>
            <p:spPr>
              <a:xfrm>
                <a:off x="3093" y="14844"/>
                <a:ext cx="21124" cy="5102"/>
              </a:xfrm>
              <a:prstGeom prst="roundRect">
                <a:avLst>
                  <a:gd name="adj" fmla="val 4471"/>
                </a:avLst>
              </a:prstGeom>
              <a:solidFill>
                <a:srgbClr val="FFFFFF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43" name="Rounded Rectangle 22"/>
              <p:cNvSpPr/>
              <p:nvPr/>
            </p:nvSpPr>
            <p:spPr>
              <a:xfrm>
                <a:off x="3093" y="14836"/>
                <a:ext cx="103" cy="5102"/>
              </a:xfrm>
              <a:prstGeom prst="roundRect">
                <a:avLst>
                  <a:gd name="adj" fmla="val 50000"/>
                </a:avLst>
              </a:prstGeom>
              <a:solidFill>
                <a:srgbClr val="1F8A7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54" name="组合 53"/>
              <p:cNvGrpSpPr/>
              <p:nvPr/>
            </p:nvGrpSpPr>
            <p:grpSpPr>
              <a:xfrm rot="0">
                <a:off x="3378" y="18181"/>
                <a:ext cx="17594" cy="1622"/>
                <a:chOff x="17435" y="17219"/>
                <a:chExt cx="17594" cy="1622"/>
              </a:xfrm>
            </p:grpSpPr>
            <p:sp>
              <p:nvSpPr>
                <p:cNvPr id="44" name="矩形 43"/>
                <p:cNvSpPr/>
                <p:nvPr/>
              </p:nvSpPr>
              <p:spPr>
                <a:xfrm>
                  <a:off x="17435" y="17219"/>
                  <a:ext cx="17594" cy="162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33" name="Rounded Rectangle 132"/>
                <p:cNvSpPr/>
                <p:nvPr/>
              </p:nvSpPr>
              <p:spPr>
                <a:xfrm>
                  <a:off x="18500" y="18123"/>
                  <a:ext cx="2268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考古报告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5" name="Rounded Rectangle 132"/>
                <p:cNvSpPr/>
                <p:nvPr/>
              </p:nvSpPr>
              <p:spPr>
                <a:xfrm>
                  <a:off x="21303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拓片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6" name="Rounded Rectangle 132"/>
                <p:cNvSpPr/>
                <p:nvPr/>
              </p:nvSpPr>
              <p:spPr>
                <a:xfrm>
                  <a:off x="24105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三维模型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7" name="Rounded Rectangle 132"/>
                <p:cNvSpPr/>
                <p:nvPr/>
              </p:nvSpPr>
              <p:spPr>
                <a:xfrm>
                  <a:off x="26907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碳十四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8" name="Rounded Rectangle 132"/>
                <p:cNvSpPr/>
                <p:nvPr/>
              </p:nvSpPr>
              <p:spPr>
                <a:xfrm>
                  <a:off x="29709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学术论文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9" name="Rounded Rectangle 132"/>
                <p:cNvSpPr/>
                <p:nvPr/>
              </p:nvSpPr>
              <p:spPr>
                <a:xfrm>
                  <a:off x="32511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通识教材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50" name="Rounded Rectangle 132"/>
                <p:cNvSpPr/>
                <p:nvPr/>
              </p:nvSpPr>
              <p:spPr>
                <a:xfrm>
                  <a:off x="18500" y="17379"/>
                  <a:ext cx="16271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内容结构化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52" name="文本框 51"/>
                <p:cNvSpPr txBox="1"/>
                <p:nvPr/>
              </p:nvSpPr>
              <p:spPr>
                <a:xfrm>
                  <a:off x="17494" y="17514"/>
                  <a:ext cx="671" cy="1154"/>
                </a:xfrm>
                <a:prstGeom prst="rect">
                  <a:avLst/>
                </a:prstGeom>
                <a:noFill/>
              </p:spPr>
              <p:txBody>
                <a:bodyPr vert="eaVert"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数据湖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62" name="矩形 61"/>
              <p:cNvSpPr/>
              <p:nvPr/>
            </p:nvSpPr>
            <p:spPr>
              <a:xfrm>
                <a:off x="3359" y="16908"/>
                <a:ext cx="17594" cy="107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57" name="Rounded Rectangle 132"/>
              <p:cNvSpPr/>
              <p:nvPr/>
            </p:nvSpPr>
            <p:spPr>
              <a:xfrm>
                <a:off x="4470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文本数据加工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58" name="Rounded Rectangle 132"/>
              <p:cNvSpPr/>
              <p:nvPr/>
            </p:nvSpPr>
            <p:spPr>
              <a:xfrm>
                <a:off x="8668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图片数据加工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59" name="Rounded Rectangle 132"/>
              <p:cNvSpPr/>
              <p:nvPr/>
            </p:nvSpPr>
            <p:spPr>
              <a:xfrm>
                <a:off x="12866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音视频数据加工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3356" y="17094"/>
                <a:ext cx="1009" cy="87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数据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加工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 rot="0">
                <a:off x="3402" y="15002"/>
                <a:ext cx="5843" cy="1624"/>
                <a:chOff x="4344" y="11156"/>
                <a:chExt cx="5843" cy="1624"/>
              </a:xfrm>
            </p:grpSpPr>
            <p:sp>
              <p:nvSpPr>
                <p:cNvPr id="74" name="矩形 73"/>
                <p:cNvSpPr/>
                <p:nvPr/>
              </p:nvSpPr>
              <p:spPr>
                <a:xfrm>
                  <a:off x="4344" y="11156"/>
                  <a:ext cx="584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75" name="Rounded Rectangle 132"/>
                <p:cNvSpPr/>
                <p:nvPr/>
              </p:nvSpPr>
              <p:spPr>
                <a:xfrm>
                  <a:off x="5378" y="12062"/>
                  <a:ext cx="4535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预训练数据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8" name="文本框 77"/>
                <p:cNvSpPr txBox="1"/>
                <p:nvPr/>
              </p:nvSpPr>
              <p:spPr>
                <a:xfrm>
                  <a:off x="4519" y="11216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训练数据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9" name="Rounded Rectangle 132"/>
                <p:cNvSpPr/>
                <p:nvPr/>
              </p:nvSpPr>
              <p:spPr>
                <a:xfrm>
                  <a:off x="5400" y="11304"/>
                  <a:ext cx="198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SFT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0" name="Rounded Rectangle 132"/>
                <p:cNvSpPr/>
                <p:nvPr/>
              </p:nvSpPr>
              <p:spPr>
                <a:xfrm>
                  <a:off x="7891" y="11304"/>
                  <a:ext cx="198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RL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 rot="0">
                <a:off x="9501" y="15002"/>
                <a:ext cx="5592" cy="1624"/>
                <a:chOff x="10399" y="11222"/>
                <a:chExt cx="5592" cy="1624"/>
              </a:xfrm>
            </p:grpSpPr>
            <p:sp>
              <p:nvSpPr>
                <p:cNvPr id="84" name="矩形 83"/>
                <p:cNvSpPr/>
                <p:nvPr/>
              </p:nvSpPr>
              <p:spPr>
                <a:xfrm>
                  <a:off x="10399" y="11222"/>
                  <a:ext cx="559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85" name="Rounded Rectangle 132"/>
                <p:cNvSpPr/>
                <p:nvPr/>
              </p:nvSpPr>
              <p:spPr>
                <a:xfrm>
                  <a:off x="11103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知识图谱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10442" y="11282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应用数据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7" name="Rounded Rectangle 132"/>
                <p:cNvSpPr/>
                <p:nvPr/>
              </p:nvSpPr>
              <p:spPr>
                <a:xfrm>
                  <a:off x="11103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实体库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8" name="Rounded Rectangle 132"/>
                <p:cNvSpPr/>
                <p:nvPr/>
              </p:nvSpPr>
              <p:spPr>
                <a:xfrm>
                  <a:off x="13704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向量知识库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9" name="Rounded Rectangle 132"/>
                <p:cNvSpPr/>
                <p:nvPr/>
              </p:nvSpPr>
              <p:spPr>
                <a:xfrm>
                  <a:off x="13704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图文检索库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1" name="组合 90"/>
              <p:cNvGrpSpPr/>
              <p:nvPr/>
            </p:nvGrpSpPr>
            <p:grpSpPr>
              <a:xfrm rot="0">
                <a:off x="15303" y="15030"/>
                <a:ext cx="5592" cy="1624"/>
                <a:chOff x="10399" y="11222"/>
                <a:chExt cx="5592" cy="1624"/>
              </a:xfrm>
            </p:grpSpPr>
            <p:sp>
              <p:nvSpPr>
                <p:cNvPr id="92" name="矩形 91"/>
                <p:cNvSpPr/>
                <p:nvPr/>
              </p:nvSpPr>
              <p:spPr>
                <a:xfrm>
                  <a:off x="10399" y="11222"/>
                  <a:ext cx="559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93" name="Rounded Rectangle 132"/>
                <p:cNvSpPr/>
                <p:nvPr/>
              </p:nvSpPr>
              <p:spPr>
                <a:xfrm>
                  <a:off x="11103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多模态感知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4" name="文本框 93"/>
                <p:cNvSpPr txBox="1"/>
                <p:nvPr/>
              </p:nvSpPr>
              <p:spPr>
                <a:xfrm>
                  <a:off x="10442" y="11282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评测数据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5" name="Rounded Rectangle 132"/>
                <p:cNvSpPr/>
                <p:nvPr/>
              </p:nvSpPr>
              <p:spPr>
                <a:xfrm>
                  <a:off x="11103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知识理解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6" name="Rounded Rectangle 132"/>
                <p:cNvSpPr/>
                <p:nvPr/>
              </p:nvSpPr>
              <p:spPr>
                <a:xfrm>
                  <a:off x="13704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时空推理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7" name="Rounded Rectangle 132"/>
                <p:cNvSpPr/>
                <p:nvPr/>
              </p:nvSpPr>
              <p:spPr>
                <a:xfrm>
                  <a:off x="13704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学术生成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07" name="组合 106"/>
              <p:cNvGrpSpPr/>
              <p:nvPr/>
            </p:nvGrpSpPr>
            <p:grpSpPr>
              <a:xfrm rot="0">
                <a:off x="21229" y="15010"/>
                <a:ext cx="2834" cy="4708"/>
                <a:chOff x="27217" y="11142"/>
                <a:chExt cx="2834" cy="4708"/>
              </a:xfrm>
            </p:grpSpPr>
            <p:sp>
              <p:nvSpPr>
                <p:cNvPr id="99" name="矩形 98"/>
                <p:cNvSpPr/>
                <p:nvPr/>
              </p:nvSpPr>
              <p:spPr>
                <a:xfrm>
                  <a:off x="27217" y="11142"/>
                  <a:ext cx="2834" cy="4708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6" name="Rounded Rectangle 132"/>
                <p:cNvSpPr/>
                <p:nvPr/>
              </p:nvSpPr>
              <p:spPr>
                <a:xfrm>
                  <a:off x="27369" y="14738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血缘追踪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1" name="文本框 100"/>
                <p:cNvSpPr txBox="1"/>
                <p:nvPr/>
              </p:nvSpPr>
              <p:spPr>
                <a:xfrm>
                  <a:off x="27716" y="11258"/>
                  <a:ext cx="1835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数据可观测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5" name="Rounded Rectangle 132"/>
                <p:cNvSpPr/>
                <p:nvPr/>
              </p:nvSpPr>
              <p:spPr>
                <a:xfrm>
                  <a:off x="27369" y="13391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质量监控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6" name="Rounded Rectangle 132"/>
                <p:cNvSpPr/>
                <p:nvPr/>
              </p:nvSpPr>
              <p:spPr>
                <a:xfrm>
                  <a:off x="27369" y="12044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漂移监控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05" name="Rounded Rectangle 132"/>
              <p:cNvSpPr/>
              <p:nvPr/>
            </p:nvSpPr>
            <p:spPr>
              <a:xfrm>
                <a:off x="17064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其它模态数据加工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73" name="组合 172"/>
            <p:cNvGrpSpPr/>
            <p:nvPr/>
          </p:nvGrpSpPr>
          <p:grpSpPr>
            <a:xfrm>
              <a:off x="867" y="8909"/>
              <a:ext cx="27813" cy="4630"/>
              <a:chOff x="867" y="11101"/>
              <a:chExt cx="23367" cy="3427"/>
            </a:xfrm>
          </p:grpSpPr>
          <p:grpSp>
            <p:nvGrpSpPr>
              <p:cNvPr id="172" name="组合 171"/>
              <p:cNvGrpSpPr/>
              <p:nvPr/>
            </p:nvGrpSpPr>
            <p:grpSpPr>
              <a:xfrm>
                <a:off x="867" y="11101"/>
                <a:ext cx="23367" cy="3402"/>
                <a:chOff x="867" y="10991"/>
                <a:chExt cx="23367" cy="3402"/>
              </a:xfrm>
            </p:grpSpPr>
            <p:grpSp>
              <p:nvGrpSpPr>
                <p:cNvPr id="171" name="组合 170"/>
                <p:cNvGrpSpPr/>
                <p:nvPr/>
              </p:nvGrpSpPr>
              <p:grpSpPr>
                <a:xfrm>
                  <a:off x="867" y="10991"/>
                  <a:ext cx="2043" cy="3402"/>
                  <a:chOff x="867" y="10933"/>
                  <a:chExt cx="2043" cy="3402"/>
                </a:xfrm>
              </p:grpSpPr>
              <p:sp>
                <p:nvSpPr>
                  <p:cNvPr id="109" name="Rounded Rectangle 11"/>
                  <p:cNvSpPr/>
                  <p:nvPr/>
                </p:nvSpPr>
                <p:spPr>
                  <a:xfrm>
                    <a:off x="887" y="10933"/>
                    <a:ext cx="2023" cy="3402"/>
                  </a:xfrm>
                  <a:prstGeom prst="roundRect">
                    <a:avLst>
                      <a:gd name="adj" fmla="val 10169"/>
                    </a:avLst>
                  </a:prstGeom>
                  <a:solidFill>
                    <a:srgbClr val="F2EDFA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10" name="TextBox 12"/>
                  <p:cNvSpPr txBox="1"/>
                  <p:nvPr/>
                </p:nvSpPr>
                <p:spPr>
                  <a:xfrm>
                    <a:off x="887" y="11644"/>
                    <a:ext cx="2023" cy="53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sz="3000" b="1">
                        <a:solidFill>
                          <a:srgbClr val="7A5AA8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2</a:t>
                    </a:r>
                    <a:endParaRPr sz="3000" b="1">
                      <a:solidFill>
                        <a:srgbClr val="7A5AA8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111" name="TextBox 13"/>
                  <p:cNvSpPr txBox="1"/>
                  <p:nvPr/>
                </p:nvSpPr>
                <p:spPr>
                  <a:xfrm>
                    <a:off x="887" y="12510"/>
                    <a:ext cx="2023" cy="32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b="1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模型工程</a:t>
                    </a:r>
                    <a:endParaRPr b="1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112" name="TextBox 14"/>
                  <p:cNvSpPr txBox="1"/>
                  <p:nvPr/>
                </p:nvSpPr>
                <p:spPr>
                  <a:xfrm>
                    <a:off x="867" y="13089"/>
                    <a:ext cx="2023" cy="215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sz="1200" b="0">
                        <a:solidFill>
                          <a:srgbClr val="7A5AA8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 领域适配</a:t>
                    </a:r>
                    <a:endParaRPr sz="1200" b="0">
                      <a:solidFill>
                        <a:srgbClr val="7A5AA8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sp>
              <p:nvSpPr>
                <p:cNvPr id="113" name="Rounded Rectangle 15"/>
                <p:cNvSpPr/>
                <p:nvPr/>
              </p:nvSpPr>
              <p:spPr>
                <a:xfrm>
                  <a:off x="3110" y="10991"/>
                  <a:ext cx="21124" cy="3402"/>
                </a:xfrm>
                <a:prstGeom prst="roundRect">
                  <a:avLst>
                    <a:gd name="adj" fmla="val 3691"/>
                  </a:avLst>
                </a:prstGeom>
                <a:solidFill>
                  <a:srgbClr val="FFFFFF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</p:grpSp>
          <p:sp>
            <p:nvSpPr>
              <p:cNvPr id="114" name="Rounded Rectangle 16"/>
              <p:cNvSpPr/>
              <p:nvPr/>
            </p:nvSpPr>
            <p:spPr>
              <a:xfrm>
                <a:off x="3110" y="11126"/>
                <a:ext cx="103" cy="3402"/>
              </a:xfrm>
              <a:prstGeom prst="roundRect">
                <a:avLst>
                  <a:gd name="adj" fmla="val 50000"/>
                </a:avLst>
              </a:prstGeom>
              <a:solidFill>
                <a:srgbClr val="7A5AA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108" name="组合 107"/>
              <p:cNvGrpSpPr/>
              <p:nvPr/>
            </p:nvGrpSpPr>
            <p:grpSpPr>
              <a:xfrm rot="0">
                <a:off x="9986" y="11339"/>
                <a:ext cx="3532" cy="2972"/>
                <a:chOff x="13298" y="3094"/>
                <a:chExt cx="3532" cy="2972"/>
              </a:xfrm>
            </p:grpSpPr>
            <p:sp>
              <p:nvSpPr>
                <p:cNvPr id="266" name="矩形 265"/>
                <p:cNvSpPr/>
                <p:nvPr/>
              </p:nvSpPr>
              <p:spPr>
                <a:xfrm>
                  <a:off x="13298" y="3094"/>
                  <a:ext cx="3532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67" name="文本框 266"/>
                <p:cNvSpPr txBox="1"/>
                <p:nvPr/>
              </p:nvSpPr>
              <p:spPr>
                <a:xfrm>
                  <a:off x="14064" y="3221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效果优化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02" name="组合 101"/>
                <p:cNvGrpSpPr/>
                <p:nvPr/>
              </p:nvGrpSpPr>
              <p:grpSpPr>
                <a:xfrm rot="0">
                  <a:off x="13465" y="4096"/>
                  <a:ext cx="1503" cy="567"/>
                  <a:chOff x="9209" y="5189"/>
                  <a:chExt cx="1701" cy="567"/>
                </a:xfrm>
              </p:grpSpPr>
              <p:sp>
                <p:nvSpPr>
                  <p:cNvPr id="269" name="Rounded Rectangle 93"/>
                  <p:cNvSpPr/>
                  <p:nvPr/>
                </p:nvSpPr>
                <p:spPr>
                  <a:xfrm>
                    <a:off x="9209" y="518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70" name="TextBox 94"/>
                  <p:cNvSpPr txBox="1"/>
                  <p:nvPr/>
                </p:nvSpPr>
                <p:spPr>
                  <a:xfrm>
                    <a:off x="9353" y="5189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RL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297" name="组合 296"/>
                <p:cNvGrpSpPr/>
                <p:nvPr/>
              </p:nvGrpSpPr>
              <p:grpSpPr>
                <a:xfrm rot="0">
                  <a:off x="15166" y="5189"/>
                  <a:ext cx="1531" cy="567"/>
                  <a:chOff x="27875" y="5474"/>
                  <a:chExt cx="1531" cy="567"/>
                </a:xfrm>
              </p:grpSpPr>
              <p:sp>
                <p:nvSpPr>
                  <p:cNvPr id="298" name="Rounded Rectangle 93"/>
                  <p:cNvSpPr/>
                  <p:nvPr/>
                </p:nvSpPr>
                <p:spPr>
                  <a:xfrm>
                    <a:off x="27875" y="5474"/>
                    <a:ext cx="153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99" name="TextBox 94"/>
                  <p:cNvSpPr txBox="1"/>
                  <p:nvPr/>
                </p:nvSpPr>
                <p:spPr>
                  <a:xfrm>
                    <a:off x="27941" y="5520"/>
                    <a:ext cx="1283" cy="4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SFT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 rot="0">
                  <a:off x="13438" y="5189"/>
                  <a:ext cx="1531" cy="591"/>
                  <a:chOff x="27875" y="5474"/>
                  <a:chExt cx="1701" cy="591"/>
                </a:xfrm>
              </p:grpSpPr>
              <p:sp>
                <p:nvSpPr>
                  <p:cNvPr id="51" name="Rounded Rectangle 93"/>
                  <p:cNvSpPr/>
                  <p:nvPr/>
                </p:nvSpPr>
                <p:spPr>
                  <a:xfrm>
                    <a:off x="27875" y="5474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" name="TextBox 94"/>
                  <p:cNvSpPr txBox="1"/>
                  <p:nvPr/>
                </p:nvSpPr>
                <p:spPr>
                  <a:xfrm>
                    <a:off x="27941" y="5498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持续训练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5" name="组合 54"/>
                <p:cNvGrpSpPr/>
                <p:nvPr/>
              </p:nvGrpSpPr>
              <p:grpSpPr>
                <a:xfrm rot="0">
                  <a:off x="15141" y="4096"/>
                  <a:ext cx="1556" cy="568"/>
                  <a:chOff x="27875" y="5474"/>
                  <a:chExt cx="2017" cy="568"/>
                </a:xfrm>
              </p:grpSpPr>
              <p:sp>
                <p:nvSpPr>
                  <p:cNvPr id="60" name="Rounded Rectangle 93"/>
                  <p:cNvSpPr/>
                  <p:nvPr/>
                </p:nvSpPr>
                <p:spPr>
                  <a:xfrm>
                    <a:off x="27875" y="5474"/>
                    <a:ext cx="198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61" name="TextBox 94"/>
                  <p:cNvSpPr txBox="1"/>
                  <p:nvPr/>
                </p:nvSpPr>
                <p:spPr>
                  <a:xfrm>
                    <a:off x="27967" y="5476"/>
                    <a:ext cx="1925" cy="5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提示词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优化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16" name="组合 115"/>
              <p:cNvGrpSpPr/>
              <p:nvPr/>
            </p:nvGrpSpPr>
            <p:grpSpPr>
              <a:xfrm rot="0">
                <a:off x="13644" y="11383"/>
                <a:ext cx="3629" cy="2972"/>
                <a:chOff x="21381" y="4041"/>
                <a:chExt cx="3629" cy="2972"/>
              </a:xfrm>
            </p:grpSpPr>
            <p:sp>
              <p:nvSpPr>
                <p:cNvPr id="65" name="矩形 64"/>
                <p:cNvSpPr/>
                <p:nvPr/>
              </p:nvSpPr>
              <p:spPr>
                <a:xfrm>
                  <a:off x="21381" y="4041"/>
                  <a:ext cx="3629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66" name="文本框 65"/>
                <p:cNvSpPr txBox="1"/>
                <p:nvPr/>
              </p:nvSpPr>
              <p:spPr>
                <a:xfrm>
                  <a:off x="22241" y="4124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压缩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68" name="Rounded Rectangle 93"/>
                <p:cNvSpPr/>
                <p:nvPr/>
              </p:nvSpPr>
              <p:spPr>
                <a:xfrm>
                  <a:off x="21521" y="5043"/>
                  <a:ext cx="1531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69" name="TextBox 94"/>
                <p:cNvSpPr txBox="1"/>
                <p:nvPr/>
              </p:nvSpPr>
              <p:spPr>
                <a:xfrm>
                  <a:off x="21663" y="5043"/>
                  <a:ext cx="1313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量化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7" name="Rounded Rectangle 93"/>
                <p:cNvSpPr/>
                <p:nvPr/>
              </p:nvSpPr>
              <p:spPr>
                <a:xfrm>
                  <a:off x="21521" y="6136"/>
                  <a:ext cx="3325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81" name="TextBox 94"/>
                <p:cNvSpPr txBox="1"/>
                <p:nvPr/>
              </p:nvSpPr>
              <p:spPr>
                <a:xfrm>
                  <a:off x="21727" y="6141"/>
                  <a:ext cx="2996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蒸馏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8" name="Rounded Rectangle 93"/>
                <p:cNvSpPr/>
                <p:nvPr/>
              </p:nvSpPr>
              <p:spPr>
                <a:xfrm>
                  <a:off x="23315" y="5043"/>
                  <a:ext cx="1531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00" name="TextBox 94"/>
                <p:cNvSpPr txBox="1"/>
                <p:nvPr/>
              </p:nvSpPr>
              <p:spPr>
                <a:xfrm>
                  <a:off x="23338" y="5067"/>
                  <a:ext cx="145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剪枝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17" name="组合 116"/>
              <p:cNvGrpSpPr/>
              <p:nvPr/>
            </p:nvGrpSpPr>
            <p:grpSpPr>
              <a:xfrm rot="0">
                <a:off x="17398" y="11361"/>
                <a:ext cx="3532" cy="2972"/>
                <a:chOff x="13298" y="3094"/>
                <a:chExt cx="3532" cy="2972"/>
              </a:xfrm>
            </p:grpSpPr>
            <p:sp>
              <p:nvSpPr>
                <p:cNvPr id="118" name="矩形 117"/>
                <p:cNvSpPr/>
                <p:nvPr/>
              </p:nvSpPr>
              <p:spPr>
                <a:xfrm>
                  <a:off x="13298" y="3094"/>
                  <a:ext cx="3532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19" name="文本框 118"/>
                <p:cNvSpPr txBox="1"/>
                <p:nvPr/>
              </p:nvSpPr>
              <p:spPr>
                <a:xfrm>
                  <a:off x="14064" y="3221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推理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加速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20" name="组合 119"/>
                <p:cNvGrpSpPr/>
                <p:nvPr/>
              </p:nvGrpSpPr>
              <p:grpSpPr>
                <a:xfrm rot="0">
                  <a:off x="13465" y="4096"/>
                  <a:ext cx="1503" cy="567"/>
                  <a:chOff x="9209" y="5189"/>
                  <a:chExt cx="1701" cy="567"/>
                </a:xfrm>
              </p:grpSpPr>
              <p:sp>
                <p:nvSpPr>
                  <p:cNvPr id="121" name="Rounded Rectangle 93"/>
                  <p:cNvSpPr/>
                  <p:nvPr/>
                </p:nvSpPr>
                <p:spPr>
                  <a:xfrm>
                    <a:off x="9209" y="518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2" name="TextBox 94"/>
                  <p:cNvSpPr txBox="1"/>
                  <p:nvPr/>
                </p:nvSpPr>
                <p:spPr>
                  <a:xfrm>
                    <a:off x="9353" y="5189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缓存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优化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3" name="组合 122"/>
                <p:cNvGrpSpPr/>
                <p:nvPr/>
              </p:nvGrpSpPr>
              <p:grpSpPr>
                <a:xfrm rot="0">
                  <a:off x="15166" y="5189"/>
                  <a:ext cx="1531" cy="567"/>
                  <a:chOff x="27875" y="5474"/>
                  <a:chExt cx="1531" cy="567"/>
                </a:xfrm>
              </p:grpSpPr>
              <p:sp>
                <p:nvSpPr>
                  <p:cNvPr id="124" name="Rounded Rectangle 93"/>
                  <p:cNvSpPr/>
                  <p:nvPr/>
                </p:nvSpPr>
                <p:spPr>
                  <a:xfrm>
                    <a:off x="27875" y="5474"/>
                    <a:ext cx="153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5" name="TextBox 94"/>
                  <p:cNvSpPr txBox="1"/>
                  <p:nvPr/>
                </p:nvSpPr>
                <p:spPr>
                  <a:xfrm>
                    <a:off x="27941" y="5520"/>
                    <a:ext cx="1283" cy="4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系统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调度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6" name="组合 125"/>
                <p:cNvGrpSpPr/>
                <p:nvPr/>
              </p:nvGrpSpPr>
              <p:grpSpPr>
                <a:xfrm rot="0">
                  <a:off x="13438" y="5189"/>
                  <a:ext cx="1531" cy="591"/>
                  <a:chOff x="27875" y="5474"/>
                  <a:chExt cx="1701" cy="591"/>
                </a:xfrm>
              </p:grpSpPr>
              <p:sp>
                <p:nvSpPr>
                  <p:cNvPr id="127" name="Rounded Rectangle 93"/>
                  <p:cNvSpPr/>
                  <p:nvPr/>
                </p:nvSpPr>
                <p:spPr>
                  <a:xfrm>
                    <a:off x="27875" y="5474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8" name="TextBox 94"/>
                  <p:cNvSpPr txBox="1"/>
                  <p:nvPr/>
                </p:nvSpPr>
                <p:spPr>
                  <a:xfrm>
                    <a:off x="27941" y="5498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并行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策略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9" name="组合 128"/>
                <p:cNvGrpSpPr/>
                <p:nvPr/>
              </p:nvGrpSpPr>
              <p:grpSpPr>
                <a:xfrm rot="0">
                  <a:off x="15141" y="4096"/>
                  <a:ext cx="1556" cy="568"/>
                  <a:chOff x="27875" y="5474"/>
                  <a:chExt cx="2017" cy="568"/>
                </a:xfrm>
              </p:grpSpPr>
              <p:sp>
                <p:nvSpPr>
                  <p:cNvPr id="130" name="Rounded Rectangle 93"/>
                  <p:cNvSpPr/>
                  <p:nvPr/>
                </p:nvSpPr>
                <p:spPr>
                  <a:xfrm>
                    <a:off x="27875" y="5474"/>
                    <a:ext cx="198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31" name="TextBox 94"/>
                  <p:cNvSpPr txBox="1"/>
                  <p:nvPr/>
                </p:nvSpPr>
                <p:spPr>
                  <a:xfrm>
                    <a:off x="27967" y="5476"/>
                    <a:ext cx="1925" cy="5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计算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加速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52" name="组合 151"/>
              <p:cNvGrpSpPr/>
              <p:nvPr/>
            </p:nvGrpSpPr>
            <p:grpSpPr>
              <a:xfrm rot="0">
                <a:off x="21213" y="11336"/>
                <a:ext cx="2835" cy="2999"/>
                <a:chOff x="26741" y="11314"/>
                <a:chExt cx="2835" cy="2999"/>
              </a:xfrm>
            </p:grpSpPr>
            <p:sp>
              <p:nvSpPr>
                <p:cNvPr id="134" name="矩形 133"/>
                <p:cNvSpPr/>
                <p:nvPr/>
              </p:nvSpPr>
              <p:spPr>
                <a:xfrm>
                  <a:off x="26741" y="11341"/>
                  <a:ext cx="2835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27133" y="11314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36" name="组合 135"/>
                <p:cNvGrpSpPr/>
                <p:nvPr/>
              </p:nvGrpSpPr>
              <p:grpSpPr>
                <a:xfrm rot="0">
                  <a:off x="26893" y="11919"/>
                  <a:ext cx="2551" cy="567"/>
                  <a:chOff x="14873" y="3151"/>
                  <a:chExt cx="2887" cy="567"/>
                </a:xfrm>
              </p:grpSpPr>
              <p:sp>
                <p:nvSpPr>
                  <p:cNvPr id="137" name="Rounded Rectangle 93"/>
                  <p:cNvSpPr/>
                  <p:nvPr/>
                </p:nvSpPr>
                <p:spPr>
                  <a:xfrm>
                    <a:off x="14873" y="3151"/>
                    <a:ext cx="2887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38" name="TextBox 94"/>
                  <p:cNvSpPr txBox="1"/>
                  <p:nvPr/>
                </p:nvSpPr>
                <p:spPr>
                  <a:xfrm>
                    <a:off x="15515" y="3151"/>
                    <a:ext cx="1604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监控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42" name="组合 141"/>
                <p:cNvGrpSpPr/>
                <p:nvPr/>
              </p:nvGrpSpPr>
              <p:grpSpPr>
                <a:xfrm rot="0">
                  <a:off x="26893" y="13559"/>
                  <a:ext cx="2551" cy="567"/>
                  <a:chOff x="27875" y="5474"/>
                  <a:chExt cx="2834" cy="567"/>
                </a:xfrm>
              </p:grpSpPr>
              <p:sp>
                <p:nvSpPr>
                  <p:cNvPr id="143" name="Rounded Rectangle 93"/>
                  <p:cNvSpPr/>
                  <p:nvPr/>
                </p:nvSpPr>
                <p:spPr>
                  <a:xfrm>
                    <a:off x="27875" y="5474"/>
                    <a:ext cx="283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44" name="TextBox 94"/>
                  <p:cNvSpPr txBox="1"/>
                  <p:nvPr/>
                </p:nvSpPr>
                <p:spPr>
                  <a:xfrm>
                    <a:off x="28571" y="5474"/>
                    <a:ext cx="1575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版本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可观测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48" name="组合 147"/>
                <p:cNvGrpSpPr/>
                <p:nvPr/>
              </p:nvGrpSpPr>
              <p:grpSpPr>
                <a:xfrm rot="0">
                  <a:off x="26893" y="12739"/>
                  <a:ext cx="2551" cy="567"/>
                  <a:chOff x="14873" y="3151"/>
                  <a:chExt cx="2887" cy="567"/>
                </a:xfrm>
              </p:grpSpPr>
              <p:sp>
                <p:nvSpPr>
                  <p:cNvPr id="150" name="Rounded Rectangle 93"/>
                  <p:cNvSpPr/>
                  <p:nvPr/>
                </p:nvSpPr>
                <p:spPr>
                  <a:xfrm>
                    <a:off x="14873" y="3151"/>
                    <a:ext cx="2887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51" name="TextBox 94"/>
                  <p:cNvSpPr txBox="1"/>
                  <p:nvPr/>
                </p:nvSpPr>
                <p:spPr>
                  <a:xfrm>
                    <a:off x="15515" y="3151"/>
                    <a:ext cx="1604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推理监控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69" name="组合 168"/>
              <p:cNvGrpSpPr/>
              <p:nvPr/>
            </p:nvGrpSpPr>
            <p:grpSpPr>
              <a:xfrm rot="0">
                <a:off x="3377" y="11341"/>
                <a:ext cx="6502" cy="2990"/>
                <a:chOff x="6193" y="3857"/>
                <a:chExt cx="6502" cy="2990"/>
              </a:xfrm>
            </p:grpSpPr>
            <p:sp>
              <p:nvSpPr>
                <p:cNvPr id="230" name="矩形 229"/>
                <p:cNvSpPr/>
                <p:nvPr/>
              </p:nvSpPr>
              <p:spPr>
                <a:xfrm>
                  <a:off x="6215" y="3857"/>
                  <a:ext cx="6480" cy="1417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31" name="文本框 230"/>
                <p:cNvSpPr txBox="1"/>
                <p:nvPr/>
              </p:nvSpPr>
              <p:spPr>
                <a:xfrm>
                  <a:off x="6215" y="4184"/>
                  <a:ext cx="992" cy="9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场景模型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63" name="组合 162"/>
                <p:cNvGrpSpPr/>
                <p:nvPr/>
              </p:nvGrpSpPr>
              <p:grpSpPr>
                <a:xfrm>
                  <a:off x="7117" y="3968"/>
                  <a:ext cx="1763" cy="566"/>
                  <a:chOff x="11774" y="5369"/>
                  <a:chExt cx="1763" cy="566"/>
                </a:xfrm>
              </p:grpSpPr>
              <p:sp>
                <p:nvSpPr>
                  <p:cNvPr id="233" name="Rounded Rectangle 93"/>
                  <p:cNvSpPr/>
                  <p:nvPr/>
                </p:nvSpPr>
                <p:spPr>
                  <a:xfrm>
                    <a:off x="11837" y="5369"/>
                    <a:ext cx="1700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34" name="TextBox 94"/>
                  <p:cNvSpPr txBox="1"/>
                  <p:nvPr/>
                </p:nvSpPr>
                <p:spPr>
                  <a:xfrm>
                    <a:off x="11774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器物分型分式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6" name="组合 165"/>
                <p:cNvGrpSpPr/>
                <p:nvPr/>
              </p:nvGrpSpPr>
              <p:grpSpPr>
                <a:xfrm>
                  <a:off x="7155" y="4641"/>
                  <a:ext cx="1725" cy="567"/>
                  <a:chOff x="11837" y="6946"/>
                  <a:chExt cx="1725" cy="567"/>
                </a:xfrm>
              </p:grpSpPr>
              <p:sp>
                <p:nvSpPr>
                  <p:cNvPr id="236" name="Rounded Rectangle 93"/>
                  <p:cNvSpPr/>
                  <p:nvPr/>
                </p:nvSpPr>
                <p:spPr>
                  <a:xfrm>
                    <a:off x="11837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37" name="TextBox 94"/>
                  <p:cNvSpPr txBox="1"/>
                  <p:nvPr/>
                </p:nvSpPr>
                <p:spPr>
                  <a:xfrm>
                    <a:off x="11861" y="6970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墓址分期推断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4" name="组合 163"/>
                <p:cNvGrpSpPr/>
                <p:nvPr/>
              </p:nvGrpSpPr>
              <p:grpSpPr>
                <a:xfrm>
                  <a:off x="9047" y="3990"/>
                  <a:ext cx="1722" cy="566"/>
                  <a:chOff x="14058" y="5369"/>
                  <a:chExt cx="1722" cy="566"/>
                </a:xfrm>
              </p:grpSpPr>
              <p:sp>
                <p:nvSpPr>
                  <p:cNvPr id="239" name="Rounded Rectangle 93"/>
                  <p:cNvSpPr/>
                  <p:nvPr/>
                </p:nvSpPr>
                <p:spPr>
                  <a:xfrm>
                    <a:off x="14058" y="536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0" name="TextBox 94"/>
                  <p:cNvSpPr txBox="1"/>
                  <p:nvPr/>
                </p:nvSpPr>
                <p:spPr>
                  <a:xfrm>
                    <a:off x="14080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文化溯源判别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7" name="组合 166"/>
                <p:cNvGrpSpPr/>
                <p:nvPr/>
              </p:nvGrpSpPr>
              <p:grpSpPr>
                <a:xfrm>
                  <a:off x="9047" y="4641"/>
                  <a:ext cx="1709" cy="566"/>
                  <a:chOff x="14049" y="6946"/>
                  <a:chExt cx="1709" cy="566"/>
                </a:xfrm>
              </p:grpSpPr>
              <p:sp>
                <p:nvSpPr>
                  <p:cNvPr id="242" name="Rounded Rectangle 93"/>
                  <p:cNvSpPr/>
                  <p:nvPr/>
                </p:nvSpPr>
                <p:spPr>
                  <a:xfrm>
                    <a:off x="14058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3" name="TextBox 94"/>
                  <p:cNvSpPr txBox="1"/>
                  <p:nvPr/>
                </p:nvSpPr>
                <p:spPr>
                  <a:xfrm>
                    <a:off x="14049" y="6992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聚落等级划分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5" name="组合 164"/>
                <p:cNvGrpSpPr/>
                <p:nvPr/>
              </p:nvGrpSpPr>
              <p:grpSpPr>
                <a:xfrm>
                  <a:off x="10910" y="3968"/>
                  <a:ext cx="1712" cy="566"/>
                  <a:chOff x="16304" y="5369"/>
                  <a:chExt cx="1712" cy="566"/>
                </a:xfrm>
              </p:grpSpPr>
              <p:sp>
                <p:nvSpPr>
                  <p:cNvPr id="245" name="Rounded Rectangle 93"/>
                  <p:cNvSpPr/>
                  <p:nvPr/>
                </p:nvSpPr>
                <p:spPr>
                  <a:xfrm>
                    <a:off x="16304" y="536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6" name="TextBox 94"/>
                  <p:cNvSpPr txBox="1"/>
                  <p:nvPr/>
                </p:nvSpPr>
                <p:spPr>
                  <a:xfrm>
                    <a:off x="16316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墓主身份考证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8" name="组合 167"/>
                <p:cNvGrpSpPr/>
                <p:nvPr/>
              </p:nvGrpSpPr>
              <p:grpSpPr>
                <a:xfrm>
                  <a:off x="10902" y="4642"/>
                  <a:ext cx="1709" cy="566"/>
                  <a:chOff x="16307" y="6946"/>
                  <a:chExt cx="1709" cy="566"/>
                </a:xfrm>
              </p:grpSpPr>
              <p:sp>
                <p:nvSpPr>
                  <p:cNvPr id="248" name="Rounded Rectangle 93"/>
                  <p:cNvSpPr/>
                  <p:nvPr/>
                </p:nvSpPr>
                <p:spPr>
                  <a:xfrm>
                    <a:off x="16316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9" name="TextBox 94"/>
                  <p:cNvSpPr txBox="1"/>
                  <p:nvPr/>
                </p:nvSpPr>
                <p:spPr>
                  <a:xfrm>
                    <a:off x="16307" y="6992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...</a:t>
                    </a:r>
                    <a:endParaRPr lang="en-US" altLang="zh-CN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2" name="组合 161"/>
                <p:cNvGrpSpPr/>
                <p:nvPr/>
              </p:nvGrpSpPr>
              <p:grpSpPr>
                <a:xfrm>
                  <a:off x="6193" y="5409"/>
                  <a:ext cx="6501" cy="1438"/>
                  <a:chOff x="5546" y="5826"/>
                  <a:chExt cx="6501" cy="1438"/>
                </a:xfrm>
              </p:grpSpPr>
              <p:grpSp>
                <p:nvGrpSpPr>
                  <p:cNvPr id="153" name="组合 152"/>
                  <p:cNvGrpSpPr/>
                  <p:nvPr/>
                </p:nvGrpSpPr>
                <p:grpSpPr>
                  <a:xfrm>
                    <a:off x="5546" y="5848"/>
                    <a:ext cx="3208" cy="1416"/>
                    <a:chOff x="5546" y="5848"/>
                    <a:chExt cx="3208" cy="1416"/>
                  </a:xfrm>
                </p:grpSpPr>
                <p:sp>
                  <p:nvSpPr>
                    <p:cNvPr id="203" name="矩形 202"/>
                    <p:cNvSpPr/>
                    <p:nvPr/>
                  </p:nvSpPr>
                  <p:spPr>
                    <a:xfrm>
                      <a:off x="5546" y="5848"/>
                      <a:ext cx="3209" cy="141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 cmpd="sng">
                      <a:solidFill>
                        <a:schemeClr val="accent1">
                          <a:shade val="50000"/>
                        </a:schemeClr>
                      </a:solidFill>
                      <a:prstDash val="dash"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Overflow="overflow" horzOverflow="overflow" vert="horz" wrap="square" numCol="1" spcCol="0" rtlCol="0" fromWordArt="0" anchor="ctr" anchorCtr="0" forceAA="0" compatLnSpc="1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endParaRPr>
                        <a:sym typeface="+mn-ea"/>
                      </a:endParaRPr>
                    </a:p>
                  </p:txBody>
                </p:sp>
                <p:sp>
                  <p:nvSpPr>
                    <p:cNvPr id="174" name="Rounded Rectangle 93"/>
                    <p:cNvSpPr/>
                    <p:nvPr/>
                  </p:nvSpPr>
                  <p:spPr>
                    <a:xfrm>
                      <a:off x="6414" y="6608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75" name="TextBox 94"/>
                    <p:cNvSpPr txBox="1"/>
                    <p:nvPr/>
                  </p:nvSpPr>
                  <p:spPr>
                    <a:xfrm>
                      <a:off x="6566" y="6640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多模态模型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204" name="文本框 203"/>
                    <p:cNvSpPr txBox="1"/>
                    <p:nvPr/>
                  </p:nvSpPr>
                  <p:spPr>
                    <a:xfrm>
                      <a:off x="5574" y="6106"/>
                      <a:ext cx="992" cy="9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r>
                        <a:rPr lang="zh-CN" altLang="en-US" sz="1500" b="1">
                          <a:latin typeface="微软雅黑" panose="020B0503020204020204" charset="-122"/>
                          <a:ea typeface="微软雅黑" panose="020B0503020204020204" charset="-122"/>
                        </a:rPr>
                        <a:t>基座模型</a:t>
                      </a:r>
                      <a:endParaRPr lang="zh-CN" altLang="en-US" sz="1500" b="1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209" name="Rounded Rectangle 93"/>
                    <p:cNvSpPr/>
                    <p:nvPr/>
                  </p:nvSpPr>
                  <p:spPr>
                    <a:xfrm>
                      <a:off x="6414" y="5937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210" name="TextBox 94"/>
                    <p:cNvSpPr txBox="1"/>
                    <p:nvPr/>
                  </p:nvSpPr>
                  <p:spPr>
                    <a:xfrm>
                      <a:off x="6566" y="6005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大语言模型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</p:grpSp>
              <p:grpSp>
                <p:nvGrpSpPr>
                  <p:cNvPr id="155" name="组合 154"/>
                  <p:cNvGrpSpPr/>
                  <p:nvPr/>
                </p:nvGrpSpPr>
                <p:grpSpPr>
                  <a:xfrm>
                    <a:off x="8839" y="5826"/>
                    <a:ext cx="3208" cy="1416"/>
                    <a:chOff x="5546" y="5848"/>
                    <a:chExt cx="3208" cy="1416"/>
                  </a:xfrm>
                </p:grpSpPr>
                <p:sp>
                  <p:nvSpPr>
                    <p:cNvPr id="156" name="矩形 155"/>
                    <p:cNvSpPr/>
                    <p:nvPr/>
                  </p:nvSpPr>
                  <p:spPr>
                    <a:xfrm>
                      <a:off x="5546" y="5848"/>
                      <a:ext cx="3209" cy="141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 cmpd="sng">
                      <a:solidFill>
                        <a:schemeClr val="accent1">
                          <a:shade val="50000"/>
                        </a:schemeClr>
                      </a:solidFill>
                      <a:prstDash val="dash"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Overflow="overflow" horzOverflow="overflow" vert="horz" wrap="square" numCol="1" spcCol="0" rtlCol="0" fromWordArt="0" anchor="ctr" anchorCtr="0" forceAA="0" compatLnSpc="1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endParaRPr>
                        <a:sym typeface="+mn-ea"/>
                      </a:endParaRPr>
                    </a:p>
                  </p:txBody>
                </p:sp>
                <p:sp>
                  <p:nvSpPr>
                    <p:cNvPr id="157" name="Rounded Rectangle 93"/>
                    <p:cNvSpPr/>
                    <p:nvPr/>
                  </p:nvSpPr>
                  <p:spPr>
                    <a:xfrm>
                      <a:off x="6414" y="6608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58" name="TextBox 94"/>
                    <p:cNvSpPr txBox="1"/>
                    <p:nvPr/>
                  </p:nvSpPr>
                  <p:spPr>
                    <a:xfrm>
                      <a:off x="6566" y="6640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考古多模态模型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159" name="文本框 158"/>
                    <p:cNvSpPr txBox="1"/>
                    <p:nvPr/>
                  </p:nvSpPr>
                  <p:spPr>
                    <a:xfrm>
                      <a:off x="5574" y="6106"/>
                      <a:ext cx="992" cy="9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r>
                        <a:rPr lang="zh-CN" altLang="en-US" sz="1500" b="1">
                          <a:latin typeface="微软雅黑" panose="020B0503020204020204" charset="-122"/>
                          <a:ea typeface="微软雅黑" panose="020B0503020204020204" charset="-122"/>
                        </a:rPr>
                        <a:t>领域模型</a:t>
                      </a:r>
                      <a:endParaRPr lang="zh-CN" altLang="en-US" sz="1500" b="1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160" name="Rounded Rectangle 93"/>
                    <p:cNvSpPr/>
                    <p:nvPr/>
                  </p:nvSpPr>
                  <p:spPr>
                    <a:xfrm>
                      <a:off x="6414" y="5937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61" name="TextBox 94"/>
                    <p:cNvSpPr txBox="1"/>
                    <p:nvPr/>
                  </p:nvSpPr>
                  <p:spPr>
                    <a:xfrm>
                      <a:off x="6566" y="6005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考古大语言模型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</p:grpSp>
            </p:grpSp>
          </p:grpSp>
        </p:grpSp>
        <p:grpSp>
          <p:nvGrpSpPr>
            <p:cNvPr id="362" name="组合 361"/>
            <p:cNvGrpSpPr/>
            <p:nvPr/>
          </p:nvGrpSpPr>
          <p:grpSpPr>
            <a:xfrm>
              <a:off x="823" y="4366"/>
              <a:ext cx="27908" cy="4228"/>
              <a:chOff x="823" y="7896"/>
              <a:chExt cx="23447" cy="3130"/>
            </a:xfrm>
          </p:grpSpPr>
          <p:grpSp>
            <p:nvGrpSpPr>
              <p:cNvPr id="275" name="组合 274"/>
              <p:cNvGrpSpPr/>
              <p:nvPr/>
            </p:nvGrpSpPr>
            <p:grpSpPr>
              <a:xfrm>
                <a:off x="823" y="7900"/>
                <a:ext cx="2093" cy="3118"/>
                <a:chOff x="823" y="7856"/>
                <a:chExt cx="2093" cy="3118"/>
              </a:xfrm>
            </p:grpSpPr>
            <p:sp>
              <p:nvSpPr>
                <p:cNvPr id="176" name="Rounded Rectangle 5"/>
                <p:cNvSpPr/>
                <p:nvPr/>
              </p:nvSpPr>
              <p:spPr>
                <a:xfrm>
                  <a:off x="893" y="7856"/>
                  <a:ext cx="2023" cy="3118"/>
                </a:xfrm>
                <a:prstGeom prst="roundRect">
                  <a:avLst>
                    <a:gd name="adj" fmla="val 10169"/>
                  </a:avLst>
                </a:prstGeom>
                <a:solidFill>
                  <a:srgbClr val="E9F1FA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77" name="TextBox 6"/>
                <p:cNvSpPr txBox="1"/>
                <p:nvPr/>
              </p:nvSpPr>
              <p:spPr>
                <a:xfrm>
                  <a:off x="823" y="8615"/>
                  <a:ext cx="2023" cy="5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3000" b="1">
                      <a:solidFill>
                        <a:srgbClr val="2E6DB4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1</a:t>
                  </a:r>
                  <a:endParaRPr sz="3000" b="1">
                    <a:solidFill>
                      <a:srgbClr val="2E6DB4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78" name="TextBox 7"/>
                <p:cNvSpPr txBox="1"/>
                <p:nvPr/>
              </p:nvSpPr>
              <p:spPr>
                <a:xfrm>
                  <a:off x="823" y="9405"/>
                  <a:ext cx="2023" cy="27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1540" b="1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应用工程</a:t>
                  </a:r>
                  <a:endParaRPr sz="154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79" name="TextBox 8"/>
                <p:cNvSpPr txBox="1"/>
                <p:nvPr/>
              </p:nvSpPr>
              <p:spPr>
                <a:xfrm>
                  <a:off x="823" y="9893"/>
                  <a:ext cx="2023" cy="2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200" b="0">
                      <a:solidFill>
                        <a:srgbClr val="2E6DB4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考古场景应用</a:t>
                  </a:r>
                  <a:endParaRPr lang="zh-CN" sz="1200" b="0">
                    <a:solidFill>
                      <a:srgbClr val="2E6DB4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180" name="Rounded Rectangle 9"/>
              <p:cNvSpPr/>
              <p:nvPr/>
            </p:nvSpPr>
            <p:spPr>
              <a:xfrm>
                <a:off x="3147" y="7907"/>
                <a:ext cx="21123" cy="3119"/>
              </a:xfrm>
              <a:prstGeom prst="roundRect">
                <a:avLst>
                  <a:gd name="adj" fmla="val 4690"/>
                </a:avLst>
              </a:prstGeom>
              <a:solidFill>
                <a:srgbClr val="FFFFFF"/>
              </a:solidFill>
              <a:ln w="14514">
                <a:solidFill>
                  <a:srgbClr val="9FC2E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181" name="Rounded Rectangle 10"/>
              <p:cNvSpPr/>
              <p:nvPr/>
            </p:nvSpPr>
            <p:spPr>
              <a:xfrm>
                <a:off x="3134" y="7896"/>
                <a:ext cx="103" cy="3118"/>
              </a:xfrm>
              <a:prstGeom prst="rect">
                <a:avLst/>
              </a:prstGeom>
              <a:solidFill>
                <a:srgbClr val="2E6DB4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76" name="矩形 275"/>
              <p:cNvSpPr/>
              <p:nvPr/>
            </p:nvSpPr>
            <p:spPr>
              <a:xfrm>
                <a:off x="3356" y="10057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258" name="TextBox 64"/>
              <p:cNvSpPr txBox="1"/>
              <p:nvPr/>
            </p:nvSpPr>
            <p:spPr>
              <a:xfrm>
                <a:off x="3377" y="10115"/>
                <a:ext cx="907" cy="64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sz="150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基础</a:t>
                </a:r>
                <a:endParaRPr sz="1500" b="1">
                  <a:solidFill>
                    <a:srgbClr val="12395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ctr">
                  <a:buNone/>
                </a:pPr>
                <a:r>
                  <a:rPr sz="150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能力层</a:t>
                </a:r>
                <a:endParaRPr sz="1500" b="1">
                  <a:solidFill>
                    <a:srgbClr val="12395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280" name="组合 279"/>
              <p:cNvGrpSpPr/>
              <p:nvPr/>
            </p:nvGrpSpPr>
            <p:grpSpPr>
              <a:xfrm rot="0">
                <a:off x="4413" y="10187"/>
                <a:ext cx="3685" cy="567"/>
                <a:chOff x="2800" y="6021"/>
                <a:chExt cx="2268" cy="567"/>
              </a:xfrm>
            </p:grpSpPr>
            <p:sp>
              <p:nvSpPr>
                <p:cNvPr id="259" name="Rounded Rectangle 65"/>
                <p:cNvSpPr/>
                <p:nvPr/>
              </p:nvSpPr>
              <p:spPr>
                <a:xfrm>
                  <a:off x="2800" y="6021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0" name="TextBox 66"/>
                <p:cNvSpPr txBox="1"/>
                <p:nvPr/>
              </p:nvSpPr>
              <p:spPr>
                <a:xfrm>
                  <a:off x="2800" y="6162"/>
                  <a:ext cx="2268" cy="25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路由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7" name="组合 276"/>
              <p:cNvGrpSpPr/>
              <p:nvPr/>
            </p:nvGrpSpPr>
            <p:grpSpPr>
              <a:xfrm rot="0">
                <a:off x="8653" y="10187"/>
                <a:ext cx="3685" cy="566"/>
                <a:chOff x="10449" y="5977"/>
                <a:chExt cx="2268" cy="566"/>
              </a:xfrm>
            </p:grpSpPr>
            <p:sp>
              <p:nvSpPr>
                <p:cNvPr id="261" name="Rounded Rectangle 67"/>
                <p:cNvSpPr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2" name="TextBox 68"/>
                <p:cNvSpPr txBox="1"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知识库</a:t>
                  </a:r>
                  <a:r>
                    <a:rPr sz="12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检索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8" name="组合 277"/>
              <p:cNvGrpSpPr/>
              <p:nvPr/>
            </p:nvGrpSpPr>
            <p:grpSpPr>
              <a:xfrm rot="0">
                <a:off x="12893" y="10187"/>
                <a:ext cx="3685" cy="566"/>
                <a:chOff x="18097" y="5977"/>
                <a:chExt cx="2268" cy="566"/>
              </a:xfrm>
            </p:grpSpPr>
            <p:sp>
              <p:nvSpPr>
                <p:cNvPr id="263" name="Rounded Rectangle 69"/>
                <p:cNvSpPr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4" name="TextBox 70"/>
                <p:cNvSpPr txBox="1"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工具调用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9" name="组合 278"/>
              <p:cNvGrpSpPr/>
              <p:nvPr/>
            </p:nvGrpSpPr>
            <p:grpSpPr>
              <a:xfrm rot="0">
                <a:off x="17133" y="10187"/>
                <a:ext cx="3685" cy="566"/>
                <a:chOff x="25746" y="5977"/>
                <a:chExt cx="2268" cy="566"/>
              </a:xfrm>
            </p:grpSpPr>
            <p:sp>
              <p:nvSpPr>
                <p:cNvPr id="265" name="Rounded Rectangle 71"/>
                <p:cNvSpPr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8" name="TextBox 72"/>
                <p:cNvSpPr txBox="1"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记忆管理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83" name="矩形 282"/>
              <p:cNvSpPr/>
              <p:nvPr/>
            </p:nvSpPr>
            <p:spPr>
              <a:xfrm>
                <a:off x="3355" y="9097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284" name="TextBox 64"/>
              <p:cNvSpPr txBox="1"/>
              <p:nvPr/>
            </p:nvSpPr>
            <p:spPr>
              <a:xfrm>
                <a:off x="3398" y="9155"/>
                <a:ext cx="907" cy="639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lang="zh-CN" sz="150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认知</a:t>
                </a:r>
                <a:endParaRPr lang="zh-CN" sz="1500" b="1">
                  <a:solidFill>
                    <a:srgbClr val="12395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l">
                  <a:buNone/>
                </a:pPr>
                <a:r>
                  <a:rPr lang="zh-CN" sz="150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编排</a:t>
                </a:r>
                <a:r>
                  <a:rPr sz="150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层</a:t>
                </a:r>
                <a:endParaRPr sz="1500" b="1">
                  <a:solidFill>
                    <a:srgbClr val="12395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285" name="组合 284"/>
              <p:cNvGrpSpPr/>
              <p:nvPr/>
            </p:nvGrpSpPr>
            <p:grpSpPr>
              <a:xfrm rot="0">
                <a:off x="4412" y="9227"/>
                <a:ext cx="3685" cy="567"/>
                <a:chOff x="2800" y="6021"/>
                <a:chExt cx="2268" cy="567"/>
              </a:xfrm>
            </p:grpSpPr>
            <p:sp>
              <p:nvSpPr>
                <p:cNvPr id="286" name="Rounded Rectangle 65"/>
                <p:cNvSpPr/>
                <p:nvPr/>
              </p:nvSpPr>
              <p:spPr>
                <a:xfrm>
                  <a:off x="2800" y="6021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87" name="TextBox 66"/>
                <p:cNvSpPr txBox="1"/>
                <p:nvPr/>
              </p:nvSpPr>
              <p:spPr>
                <a:xfrm>
                  <a:off x="2800" y="6162"/>
                  <a:ext cx="2268" cy="25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规划与反思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88" name="组合 287"/>
              <p:cNvGrpSpPr/>
              <p:nvPr/>
            </p:nvGrpSpPr>
            <p:grpSpPr>
              <a:xfrm rot="0">
                <a:off x="8652" y="9227"/>
                <a:ext cx="3685" cy="566"/>
                <a:chOff x="10449" y="5977"/>
                <a:chExt cx="2268" cy="566"/>
              </a:xfrm>
            </p:grpSpPr>
            <p:sp>
              <p:nvSpPr>
                <p:cNvPr id="289" name="Rounded Rectangle 67"/>
                <p:cNvSpPr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90" name="TextBox 68"/>
                <p:cNvSpPr txBox="1"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多智能体协同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91" name="组合 290"/>
              <p:cNvGrpSpPr/>
              <p:nvPr/>
            </p:nvGrpSpPr>
            <p:grpSpPr>
              <a:xfrm rot="0">
                <a:off x="12892" y="9227"/>
                <a:ext cx="3685" cy="566"/>
                <a:chOff x="18097" y="5977"/>
                <a:chExt cx="2268" cy="566"/>
              </a:xfrm>
            </p:grpSpPr>
            <p:sp>
              <p:nvSpPr>
                <p:cNvPr id="292" name="Rounded Rectangle 69"/>
                <p:cNvSpPr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93" name="TextBox 70"/>
                <p:cNvSpPr txBox="1"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工作流编排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94" name="组合 293"/>
              <p:cNvGrpSpPr/>
              <p:nvPr/>
            </p:nvGrpSpPr>
            <p:grpSpPr>
              <a:xfrm rot="0">
                <a:off x="17132" y="9227"/>
                <a:ext cx="3685" cy="566"/>
                <a:chOff x="25746" y="5977"/>
                <a:chExt cx="2268" cy="566"/>
              </a:xfrm>
            </p:grpSpPr>
            <p:sp>
              <p:nvSpPr>
                <p:cNvPr id="295" name="Rounded Rectangle 71"/>
                <p:cNvSpPr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00" name="TextBox 72"/>
                <p:cNvSpPr txBox="1"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RAG</a:t>
                  </a:r>
                  <a:r>
                    <a:rPr lang="zh-CN" altLang="en-US" sz="12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引擎</a:t>
                  </a:r>
                  <a:endParaRPr lang="zh-CN" altLang="en-US"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302" name="矩形 301"/>
              <p:cNvSpPr/>
              <p:nvPr/>
            </p:nvSpPr>
            <p:spPr>
              <a:xfrm>
                <a:off x="3315" y="8095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303" name="TextBox 64"/>
              <p:cNvSpPr txBox="1"/>
              <p:nvPr/>
            </p:nvSpPr>
            <p:spPr>
              <a:xfrm>
                <a:off x="3326" y="8153"/>
                <a:ext cx="1071" cy="64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lang="zh-CN" sz="150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业务智能体</a:t>
                </a:r>
                <a:r>
                  <a:rPr sz="150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层</a:t>
                </a:r>
                <a:endParaRPr sz="1500" b="1">
                  <a:solidFill>
                    <a:srgbClr val="12395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317" name="组合 316"/>
              <p:cNvGrpSpPr/>
              <p:nvPr/>
            </p:nvGrpSpPr>
            <p:grpSpPr>
              <a:xfrm rot="0">
                <a:off x="4387" y="8206"/>
                <a:ext cx="1737" cy="566"/>
                <a:chOff x="11428" y="5332"/>
                <a:chExt cx="1737" cy="566"/>
              </a:xfrm>
            </p:grpSpPr>
            <p:sp>
              <p:nvSpPr>
                <p:cNvPr id="183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84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器物</a:t>
                  </a: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类型学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研究智能体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18" name="组合 317"/>
              <p:cNvGrpSpPr/>
              <p:nvPr/>
            </p:nvGrpSpPr>
            <p:grpSpPr>
              <a:xfrm rot="0">
                <a:off x="6223" y="8206"/>
                <a:ext cx="1737" cy="566"/>
                <a:chOff x="11428" y="5332"/>
                <a:chExt cx="1737" cy="566"/>
              </a:xfrm>
            </p:grpSpPr>
            <p:sp>
              <p:nvSpPr>
                <p:cNvPr id="319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0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遗址分期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研究智能体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21" name="组合 320"/>
              <p:cNvGrpSpPr/>
              <p:nvPr/>
            </p:nvGrpSpPr>
            <p:grpSpPr>
              <a:xfrm rot="0">
                <a:off x="8059" y="8206"/>
                <a:ext cx="1737" cy="566"/>
                <a:chOff x="11428" y="5332"/>
                <a:chExt cx="1737" cy="566"/>
              </a:xfrm>
            </p:grpSpPr>
            <p:sp>
              <p:nvSpPr>
                <p:cNvPr id="322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3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文化因素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分析智能体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24" name="组合 323"/>
              <p:cNvGrpSpPr/>
              <p:nvPr/>
            </p:nvGrpSpPr>
            <p:grpSpPr>
              <a:xfrm rot="0">
                <a:off x="9895" y="8206"/>
                <a:ext cx="1737" cy="566"/>
                <a:chOff x="11428" y="5332"/>
                <a:chExt cx="1737" cy="566"/>
              </a:xfrm>
            </p:grpSpPr>
            <p:sp>
              <p:nvSpPr>
                <p:cNvPr id="325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6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2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聚落形态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2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研究智能体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27" name="组合 326"/>
              <p:cNvGrpSpPr/>
              <p:nvPr/>
            </p:nvGrpSpPr>
            <p:grpSpPr>
              <a:xfrm rot="0">
                <a:off x="11731" y="8206"/>
                <a:ext cx="1737" cy="566"/>
                <a:chOff x="11428" y="5332"/>
                <a:chExt cx="1737" cy="566"/>
              </a:xfrm>
            </p:grpSpPr>
            <p:sp>
              <p:nvSpPr>
                <p:cNvPr id="328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9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文献考证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0" name="组合 329"/>
              <p:cNvGrpSpPr/>
              <p:nvPr/>
            </p:nvGrpSpPr>
            <p:grpSpPr>
              <a:xfrm rot="0">
                <a:off x="13567" y="8206"/>
                <a:ext cx="1737" cy="566"/>
                <a:chOff x="11428" y="5332"/>
                <a:chExt cx="1737" cy="566"/>
              </a:xfrm>
            </p:grpSpPr>
            <p:sp>
              <p:nvSpPr>
                <p:cNvPr id="331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2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墓葬研究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4" name="组合 333"/>
              <p:cNvGrpSpPr/>
              <p:nvPr/>
            </p:nvGrpSpPr>
            <p:grpSpPr>
              <a:xfrm rot="0">
                <a:off x="15403" y="8206"/>
                <a:ext cx="1737" cy="566"/>
                <a:chOff x="11428" y="5332"/>
                <a:chExt cx="1737" cy="566"/>
              </a:xfrm>
            </p:grpSpPr>
            <p:sp>
              <p:nvSpPr>
                <p:cNvPr id="335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6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科技考古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7" name="组合 336"/>
              <p:cNvGrpSpPr/>
              <p:nvPr/>
            </p:nvGrpSpPr>
            <p:grpSpPr>
              <a:xfrm rot="0">
                <a:off x="17239" y="8206"/>
                <a:ext cx="1737" cy="566"/>
                <a:chOff x="11428" y="5332"/>
                <a:chExt cx="1737" cy="566"/>
              </a:xfrm>
            </p:grpSpPr>
            <p:sp>
              <p:nvSpPr>
                <p:cNvPr id="338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9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报告</a:t>
                  </a: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整理与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lang="zh-CN"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审校</a:t>
                  </a: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40" name="组合 339"/>
              <p:cNvGrpSpPr/>
              <p:nvPr/>
            </p:nvGrpSpPr>
            <p:grpSpPr>
              <a:xfrm rot="0">
                <a:off x="19075" y="8206"/>
                <a:ext cx="1737" cy="566"/>
                <a:chOff x="11428" y="5332"/>
                <a:chExt cx="1737" cy="566"/>
              </a:xfrm>
            </p:grpSpPr>
            <p:sp>
              <p:nvSpPr>
                <p:cNvPr id="341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42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知识问答与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学术检索智能体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61" name="组合 360"/>
              <p:cNvGrpSpPr/>
              <p:nvPr/>
            </p:nvGrpSpPr>
            <p:grpSpPr>
              <a:xfrm>
                <a:off x="21164" y="8051"/>
                <a:ext cx="2835" cy="2806"/>
                <a:chOff x="27050" y="6126"/>
                <a:chExt cx="2835" cy="2806"/>
              </a:xfrm>
            </p:grpSpPr>
            <p:sp>
              <p:nvSpPr>
                <p:cNvPr id="344" name="矩形 343"/>
                <p:cNvSpPr/>
                <p:nvPr/>
              </p:nvSpPr>
              <p:spPr>
                <a:xfrm>
                  <a:off x="27050" y="6126"/>
                  <a:ext cx="2835" cy="2806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45" name="文本框 344"/>
                <p:cNvSpPr txBox="1"/>
                <p:nvPr/>
              </p:nvSpPr>
              <p:spPr>
                <a:xfrm>
                  <a:off x="27362" y="6198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应用可观测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351" name="组合 350"/>
                <p:cNvGrpSpPr/>
                <p:nvPr/>
              </p:nvGrpSpPr>
              <p:grpSpPr>
                <a:xfrm>
                  <a:off x="27225" y="8370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0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49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全链路追踪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2" name="组合 351"/>
                <p:cNvGrpSpPr/>
                <p:nvPr/>
              </p:nvGrpSpPr>
              <p:grpSpPr>
                <a:xfrm>
                  <a:off x="27225" y="7794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3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54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成本监控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5" name="组合 354"/>
                <p:cNvGrpSpPr/>
                <p:nvPr/>
              </p:nvGrpSpPr>
              <p:grpSpPr>
                <a:xfrm>
                  <a:off x="27225" y="7218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6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57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编排可观测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8" name="组合 357"/>
                <p:cNvGrpSpPr/>
                <p:nvPr/>
              </p:nvGrpSpPr>
              <p:grpSpPr>
                <a:xfrm>
                  <a:off x="27225" y="6641"/>
                  <a:ext cx="2550" cy="482"/>
                  <a:chOff x="22389" y="4171"/>
                  <a:chExt cx="2550" cy="566"/>
                </a:xfrm>
              </p:grpSpPr>
              <p:sp>
                <p:nvSpPr>
                  <p:cNvPr id="359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60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业务</a:t>
                    </a: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效果监控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</p:grpSp>
        <p:grpSp>
          <p:nvGrpSpPr>
            <p:cNvPr id="552" name="组合 551"/>
            <p:cNvGrpSpPr/>
            <p:nvPr/>
          </p:nvGrpSpPr>
          <p:grpSpPr>
            <a:xfrm>
              <a:off x="28918" y="4380"/>
              <a:ext cx="3442" cy="19692"/>
              <a:chOff x="28918" y="4380"/>
              <a:chExt cx="3442" cy="19692"/>
            </a:xfrm>
          </p:grpSpPr>
          <p:grpSp>
            <p:nvGrpSpPr>
              <p:cNvPr id="419" name="组合 418"/>
              <p:cNvGrpSpPr/>
              <p:nvPr/>
            </p:nvGrpSpPr>
            <p:grpSpPr>
              <a:xfrm>
                <a:off x="28952" y="6078"/>
                <a:ext cx="3400" cy="17994"/>
                <a:chOff x="28952" y="6078"/>
                <a:chExt cx="3409" cy="17994"/>
              </a:xfrm>
            </p:grpSpPr>
            <p:sp>
              <p:nvSpPr>
                <p:cNvPr id="400" name="Rounded Rectangle 198"/>
                <p:cNvSpPr/>
                <p:nvPr/>
              </p:nvSpPr>
              <p:spPr>
                <a:xfrm>
                  <a:off x="28959" y="6080"/>
                  <a:ext cx="3402" cy="17992"/>
                </a:xfrm>
                <a:prstGeom prst="roundRect">
                  <a:avLst>
                    <a:gd name="adj" fmla="val 6837"/>
                  </a:avLst>
                </a:prstGeom>
                <a:solidFill>
                  <a:schemeClr val="bg1"/>
                </a:solidFill>
                <a:ln w="14514">
                  <a:solidFill>
                    <a:srgbClr val="E3A79F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417" name="Rounded Rectangle 28"/>
                <p:cNvSpPr/>
                <p:nvPr/>
              </p:nvSpPr>
              <p:spPr>
                <a:xfrm rot="16200000">
                  <a:off x="30591" y="4439"/>
                  <a:ext cx="123" cy="3402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</p:grpSp>
          <p:grpSp>
            <p:nvGrpSpPr>
              <p:cNvPr id="551" name="组合 550"/>
              <p:cNvGrpSpPr/>
              <p:nvPr/>
            </p:nvGrpSpPr>
            <p:grpSpPr>
              <a:xfrm>
                <a:off x="28918" y="4380"/>
                <a:ext cx="3443" cy="1586"/>
                <a:chOff x="28918" y="4380"/>
                <a:chExt cx="3443" cy="1586"/>
              </a:xfrm>
            </p:grpSpPr>
            <p:sp>
              <p:nvSpPr>
                <p:cNvPr id="412" name="Rounded Rectangle 23"/>
                <p:cNvSpPr/>
                <p:nvPr/>
              </p:nvSpPr>
              <p:spPr>
                <a:xfrm>
                  <a:off x="28959" y="4380"/>
                  <a:ext cx="3402" cy="1587"/>
                </a:xfrm>
                <a:prstGeom prst="roundRect">
                  <a:avLst>
                    <a:gd name="adj" fmla="val 10169"/>
                  </a:avLst>
                </a:prstGeom>
                <a:solidFill>
                  <a:srgbClr val="FBE8E8"/>
                </a:solidFill>
                <a:ln w="14514">
                  <a:solidFill>
                    <a:srgbClr val="E3A79F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414" name="TextBox 24"/>
                <p:cNvSpPr txBox="1"/>
                <p:nvPr/>
              </p:nvSpPr>
              <p:spPr>
                <a:xfrm>
                  <a:off x="28918" y="4764"/>
                  <a:ext cx="850" cy="7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en-US" sz="3000" b="1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5</a:t>
                  </a:r>
                  <a:endParaRPr lang="en-US" sz="3000" b="1">
                    <a:solidFill>
                      <a:schemeClr val="accent2">
                        <a:lumMod val="60000"/>
                        <a:lumOff val="4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15" name="TextBox 25"/>
                <p:cNvSpPr txBox="1"/>
                <p:nvPr/>
              </p:nvSpPr>
              <p:spPr>
                <a:xfrm>
                  <a:off x="29689" y="4746"/>
                  <a:ext cx="2408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b="1">
                      <a:solidFill>
                        <a:schemeClr val="accent2">
                          <a:lumMod val="75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安全</a:t>
                  </a:r>
                  <a:r>
                    <a:rPr b="1">
                      <a:solidFill>
                        <a:schemeClr val="accent2">
                          <a:lumMod val="75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工程</a:t>
                  </a:r>
                  <a:endParaRPr b="1">
                    <a:solidFill>
                      <a:schemeClr val="accent2">
                        <a:lumMod val="7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16" name="TextBox 26"/>
                <p:cNvSpPr txBox="1"/>
                <p:nvPr/>
              </p:nvSpPr>
              <p:spPr>
                <a:xfrm>
                  <a:off x="29768" y="5251"/>
                  <a:ext cx="2268" cy="51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ClrTx/>
                    <a:buSzTx/>
                    <a:buFontTx/>
                    <a:buNone/>
                  </a:pPr>
                  <a:r>
                    <a:rPr sz="120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数据</a:t>
                  </a:r>
                  <a:r>
                    <a:rPr sz="1200" b="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 · 模型 · 应用</a:t>
                  </a:r>
                  <a:endParaRPr sz="1200" b="0">
                    <a:solidFill>
                      <a:srgbClr val="6E1F1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505" name="组合 504"/>
              <p:cNvGrpSpPr/>
              <p:nvPr/>
            </p:nvGrpSpPr>
            <p:grpSpPr>
              <a:xfrm>
                <a:off x="29086" y="6289"/>
                <a:ext cx="3118" cy="4308"/>
                <a:chOff x="33428" y="6158"/>
                <a:chExt cx="3118" cy="4308"/>
              </a:xfrm>
            </p:grpSpPr>
            <p:sp>
              <p:nvSpPr>
                <p:cNvPr id="418" name="矩形 417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404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应用</a:t>
                  </a: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04" name="组合 503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403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08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内容安全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围栏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3" name="组合 502"/>
                <p:cNvGrpSpPr/>
                <p:nvPr/>
              </p:nvGrpSpPr>
              <p:grpSpPr>
                <a:xfrm>
                  <a:off x="33578" y="7684"/>
                  <a:ext cx="2834" cy="764"/>
                  <a:chOff x="33578" y="7814"/>
                  <a:chExt cx="2834" cy="764"/>
                </a:xfrm>
              </p:grpSpPr>
              <p:sp>
                <p:nvSpPr>
                  <p:cNvPr id="471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2" name="TextBox 206"/>
                  <p:cNvSpPr txBox="1"/>
                  <p:nvPr/>
                </p:nvSpPr>
                <p:spPr>
                  <a:xfrm>
                    <a:off x="33886" y="8039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学术伦理与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版权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2" name="组合 501"/>
                <p:cNvGrpSpPr/>
                <p:nvPr/>
              </p:nvGrpSpPr>
              <p:grpSpPr>
                <a:xfrm>
                  <a:off x="33578" y="8632"/>
                  <a:ext cx="2834" cy="764"/>
                  <a:chOff x="33578" y="8897"/>
                  <a:chExt cx="2834" cy="764"/>
                </a:xfrm>
              </p:grpSpPr>
              <p:sp>
                <p:nvSpPr>
                  <p:cNvPr id="474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5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运行时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1" name="组合 500"/>
                <p:cNvGrpSpPr/>
                <p:nvPr/>
              </p:nvGrpSpPr>
              <p:grpSpPr>
                <a:xfrm>
                  <a:off x="33578" y="9580"/>
                  <a:ext cx="2834" cy="764"/>
                  <a:chOff x="33578" y="9909"/>
                  <a:chExt cx="2834" cy="764"/>
                </a:xfrm>
              </p:grpSpPr>
              <p:sp>
                <p:nvSpPr>
                  <p:cNvPr id="476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7" name="TextBox 206"/>
                  <p:cNvSpPr txBox="1"/>
                  <p:nvPr/>
                </p:nvSpPr>
                <p:spPr>
                  <a:xfrm>
                    <a:off x="33886" y="10134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审计与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溯源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06" name="组合 505"/>
              <p:cNvGrpSpPr/>
              <p:nvPr/>
            </p:nvGrpSpPr>
            <p:grpSpPr>
              <a:xfrm>
                <a:off x="29086" y="10718"/>
                <a:ext cx="3118" cy="4309"/>
                <a:chOff x="33428" y="6158"/>
                <a:chExt cx="3118" cy="4309"/>
              </a:xfrm>
            </p:grpSpPr>
            <p:sp>
              <p:nvSpPr>
                <p:cNvPr id="507" name="矩形 506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08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模型安全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09" name="组合 508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10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1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模型引入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评估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2" name="组合 511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13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4" name="TextBox 206"/>
                  <p:cNvSpPr txBox="1"/>
                  <p:nvPr/>
                </p:nvSpPr>
                <p:spPr>
                  <a:xfrm>
                    <a:off x="33886" y="8039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模型幻觉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治理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5" name="组合 514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16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7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防御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8" name="组合 517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19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0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版本管理与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追溯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21" name="组合 520"/>
              <p:cNvGrpSpPr/>
              <p:nvPr/>
            </p:nvGrpSpPr>
            <p:grpSpPr>
              <a:xfrm>
                <a:off x="29086" y="15148"/>
                <a:ext cx="3118" cy="4309"/>
                <a:chOff x="33428" y="6158"/>
                <a:chExt cx="3118" cy="4309"/>
              </a:xfrm>
            </p:grpSpPr>
            <p:sp>
              <p:nvSpPr>
                <p:cNvPr id="522" name="矩形 521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23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24" name="组合 523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25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6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分级分类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管理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27" name="组合 526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28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9" name="TextBox 206"/>
                  <p:cNvSpPr txBox="1"/>
                  <p:nvPr/>
                </p:nvSpPr>
                <p:spPr>
                  <a:xfrm>
                    <a:off x="33886" y="804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脱敏与隐私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保护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30" name="组合 529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31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2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防篡改与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溯源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33" name="组合 532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34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5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数据安全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审计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36" name="组合 535"/>
              <p:cNvGrpSpPr/>
              <p:nvPr/>
            </p:nvGrpSpPr>
            <p:grpSpPr>
              <a:xfrm>
                <a:off x="29086" y="19578"/>
                <a:ext cx="3118" cy="4309"/>
                <a:chOff x="33428" y="6158"/>
                <a:chExt cx="3118" cy="4309"/>
              </a:xfrm>
            </p:grpSpPr>
            <p:sp>
              <p:nvSpPr>
                <p:cNvPr id="537" name="矩形 536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38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39" name="组合 538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40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1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算力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2" name="组合 541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43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4" name="TextBox 206"/>
                  <p:cNvSpPr txBox="1"/>
                  <p:nvPr/>
                </p:nvSpPr>
                <p:spPr>
                  <a:xfrm>
                    <a:off x="33886" y="804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存储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5" name="组合 544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46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7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网络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8" name="组合 547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49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50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平台运行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686</Words>
  <Application>WPS 演示</Application>
  <PresentationFormat>On-screen Show (4:3)</PresentationFormat>
  <Paragraphs>276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qilichao</cp:lastModifiedBy>
  <cp:revision>13</cp:revision>
  <dcterms:created xsi:type="dcterms:W3CDTF">2013-01-27T09:14:00Z</dcterms:created>
  <dcterms:modified xsi:type="dcterms:W3CDTF">2026-09-15T05:39:02Z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8C57B7E33CBF406DB424E88E8BB2F5CF_12</vt:lpwstr>
  </property>
  <property fmtid="{D5CDD505-2E9C-101B-9397-08002B2CF9AE}" pid="3" name="KSOProductBuildVer">
    <vt:lpwstr>2052-12.1.0.28505</vt:lpwstr>
  </property>
</Properties>
</file>