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60" r:id="rId5"/>
  </p:sldIdLst>
  <p:sldSz cx="24384000" cy="159219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6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65870" y="1143000"/>
            <a:ext cx="472626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托片、三维点云、</a:t>
            </a:r>
            <a:r>
              <a:rPr lang="zh-CN" altLang="en-US"/>
              <a:t>遥感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19216" y="692513"/>
            <a:ext cx="7982857" cy="676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考古领域人工智能应用架构</a:t>
            </a:r>
            <a:endParaRPr sz="440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904" y="1467213"/>
            <a:ext cx="21599999" cy="43543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53000">
                <a:srgbClr val="2D6BB2"/>
              </a:gs>
              <a:gs pos="100000">
                <a:srgbClr val="1F897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grpSp>
        <p:nvGrpSpPr>
          <p:cNvPr id="553" name="组合 552"/>
          <p:cNvGrpSpPr/>
          <p:nvPr/>
        </p:nvGrpSpPr>
        <p:grpSpPr>
          <a:xfrm>
            <a:off x="522605" y="1836420"/>
            <a:ext cx="20026630" cy="12551410"/>
            <a:chOff x="823" y="4366"/>
            <a:chExt cx="31538" cy="19766"/>
          </a:xfrm>
        </p:grpSpPr>
        <p:grpSp>
          <p:nvGrpSpPr>
            <p:cNvPr id="37" name="组合 36"/>
            <p:cNvGrpSpPr/>
            <p:nvPr/>
          </p:nvGrpSpPr>
          <p:grpSpPr>
            <a:xfrm>
              <a:off x="893" y="21052"/>
              <a:ext cx="27772" cy="3080"/>
              <a:chOff x="893" y="20159"/>
              <a:chExt cx="23332" cy="2280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893" y="20159"/>
                <a:ext cx="2023" cy="2268"/>
              </a:xfrm>
              <a:prstGeom prst="roundRect">
                <a:avLst>
                  <a:gd name="adj" fmla="val 10169"/>
                </a:avLst>
              </a:prstGeom>
              <a:solidFill>
                <a:srgbClr val="FBF0E3"/>
              </a:solidFill>
              <a:ln w="14514">
                <a:solidFill>
                  <a:srgbClr val="E0AE7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93" y="20412"/>
                <a:ext cx="2023" cy="5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buNone/>
                </a:pPr>
                <a:r>
                  <a:rPr sz="3000" b="1">
                    <a:solidFill>
                      <a:srgbClr val="C0762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sz="3000" b="1">
                  <a:solidFill>
                    <a:srgbClr val="C0762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893" y="21112"/>
                <a:ext cx="2023" cy="32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buNone/>
                </a:pPr>
                <a:r>
                  <a:rPr b="1">
                    <a:solidFill>
                      <a:srgbClr val="6B3F0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资源工程</a:t>
                </a:r>
                <a:endParaRPr b="1">
                  <a:solidFill>
                    <a:srgbClr val="6B3F0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893" y="21668"/>
                <a:ext cx="2023" cy="21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buNone/>
                </a:pPr>
                <a:r>
                  <a:rPr sz="1200" b="0">
                    <a:solidFill>
                      <a:srgbClr val="C0762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算力 · 存储 · 网络</a:t>
                </a:r>
                <a:endParaRPr sz="1200" b="0">
                  <a:solidFill>
                    <a:srgbClr val="C0762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3099" y="20171"/>
                <a:ext cx="21126" cy="2268"/>
              </a:xfrm>
              <a:prstGeom prst="roundRect">
                <a:avLst>
                  <a:gd name="adj" fmla="val 8208"/>
                </a:avLst>
              </a:prstGeom>
              <a:solidFill>
                <a:srgbClr val="FFFFFF"/>
              </a:solidFill>
              <a:ln w="14514">
                <a:solidFill>
                  <a:srgbClr val="E0AE7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3099" y="20171"/>
                <a:ext cx="103" cy="2268"/>
              </a:xfrm>
              <a:prstGeom prst="roundRect">
                <a:avLst>
                  <a:gd name="adj" fmla="val 50000"/>
                </a:avLst>
              </a:prstGeom>
              <a:solidFill>
                <a:srgbClr val="C0762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5478" y="21406"/>
                <a:ext cx="5385" cy="790"/>
                <a:chOff x="7375" y="12907"/>
                <a:chExt cx="3798" cy="790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7375" y="12907"/>
                  <a:ext cx="3798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49" name="TextBox 148"/>
                <p:cNvSpPr txBox="1"/>
                <p:nvPr/>
              </p:nvSpPr>
              <p:spPr>
                <a:xfrm>
                  <a:off x="7563" y="13039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网络系统：</a:t>
                  </a:r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RoCE</a:t>
                  </a:r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、</a:t>
                  </a:r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TCP</a:t>
                  </a:r>
                  <a:endParaRPr lang="en-US" alt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3369" y="21406"/>
                <a:ext cx="5386" cy="790"/>
                <a:chOff x="7553" y="15716"/>
                <a:chExt cx="4535" cy="790"/>
              </a:xfrm>
            </p:grpSpPr>
            <p:sp>
              <p:nvSpPr>
                <p:cNvPr id="7" name="矩形 6"/>
                <p:cNvSpPr/>
                <p:nvPr/>
              </p:nvSpPr>
              <p:spPr>
                <a:xfrm>
                  <a:off x="7553" y="15716"/>
                  <a:ext cx="4535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8" name="TextBox 148"/>
                <p:cNvSpPr txBox="1"/>
                <p:nvPr/>
              </p:nvSpPr>
              <p:spPr>
                <a:xfrm>
                  <a:off x="8077" y="1584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国产算力：</a:t>
                  </a:r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GPU</a:t>
                  </a:r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、</a:t>
                  </a:r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NPU</a:t>
                  </a:r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、</a:t>
                  </a:r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DPU</a:t>
                  </a:r>
                  <a:endParaRPr lang="en-US" alt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9424" y="21406"/>
                <a:ext cx="5385" cy="790"/>
                <a:chOff x="7375" y="12907"/>
                <a:chExt cx="3798" cy="790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7375" y="12907"/>
                  <a:ext cx="3798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1" name="TextBox 148"/>
                <p:cNvSpPr txBox="1"/>
                <p:nvPr/>
              </p:nvSpPr>
              <p:spPr>
                <a:xfrm>
                  <a:off x="7455" y="13039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存储系统：文件</a:t>
                  </a:r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、对象、块存储</a:t>
                  </a:r>
                  <a:endParaRPr lang="en-US" alt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402" y="20318"/>
                <a:ext cx="2835" cy="790"/>
                <a:chOff x="7553" y="15716"/>
                <a:chExt cx="4535" cy="790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7553" y="15716"/>
                  <a:ext cx="4535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5" name="TextBox 148"/>
                <p:cNvSpPr txBox="1"/>
                <p:nvPr/>
              </p:nvSpPr>
              <p:spPr>
                <a:xfrm>
                  <a:off x="8077" y="1584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算力切分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7059" y="20318"/>
                <a:ext cx="2834" cy="790"/>
                <a:chOff x="7553" y="15716"/>
                <a:chExt cx="4535" cy="790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7553" y="15716"/>
                  <a:ext cx="4535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8" name="TextBox 148"/>
                <p:cNvSpPr txBox="1"/>
                <p:nvPr/>
              </p:nvSpPr>
              <p:spPr>
                <a:xfrm>
                  <a:off x="8077" y="1584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算力池化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10715" y="20318"/>
                <a:ext cx="2834" cy="790"/>
                <a:chOff x="7553" y="15716"/>
                <a:chExt cx="4535" cy="790"/>
              </a:xfrm>
            </p:grpSpPr>
            <p:sp>
              <p:nvSpPr>
                <p:cNvPr id="20" name="矩形 19"/>
                <p:cNvSpPr/>
                <p:nvPr/>
              </p:nvSpPr>
              <p:spPr>
                <a:xfrm>
                  <a:off x="7553" y="15716"/>
                  <a:ext cx="4535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21" name="TextBox 148"/>
                <p:cNvSpPr txBox="1"/>
                <p:nvPr/>
              </p:nvSpPr>
              <p:spPr>
                <a:xfrm>
                  <a:off x="8077" y="1584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异构调度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4371" y="20318"/>
                <a:ext cx="2834" cy="790"/>
                <a:chOff x="7553" y="15716"/>
                <a:chExt cx="4535" cy="790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7553" y="15716"/>
                  <a:ext cx="4535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30" name="TextBox 148"/>
                <p:cNvSpPr txBox="1"/>
                <p:nvPr/>
              </p:nvSpPr>
              <p:spPr>
                <a:xfrm>
                  <a:off x="8077" y="1584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拓扑亲和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8027" y="20318"/>
                <a:ext cx="2834" cy="790"/>
                <a:chOff x="7553" y="15716"/>
                <a:chExt cx="4535" cy="790"/>
              </a:xfrm>
            </p:grpSpPr>
            <p:sp>
              <p:nvSpPr>
                <p:cNvPr id="32" name="矩形 31"/>
                <p:cNvSpPr/>
                <p:nvPr/>
              </p:nvSpPr>
              <p:spPr>
                <a:xfrm>
                  <a:off x="7553" y="15716"/>
                  <a:ext cx="4535" cy="790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33" name="TextBox 148"/>
                <p:cNvSpPr txBox="1"/>
                <p:nvPr/>
              </p:nvSpPr>
              <p:spPr>
                <a:xfrm>
                  <a:off x="8077" y="1584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资源隔离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21228" y="20295"/>
                <a:ext cx="2834" cy="1928"/>
                <a:chOff x="7763" y="15664"/>
                <a:chExt cx="4535" cy="842"/>
              </a:xfrm>
            </p:grpSpPr>
            <p:sp>
              <p:nvSpPr>
                <p:cNvPr id="35" name="矩形 34"/>
                <p:cNvSpPr/>
                <p:nvPr/>
              </p:nvSpPr>
              <p:spPr>
                <a:xfrm>
                  <a:off x="7763" y="15664"/>
                  <a:ext cx="4535" cy="842"/>
                </a:xfrm>
                <a:prstGeom prst="rect">
                  <a:avLst/>
                </a:prstGeom>
                <a:solidFill>
                  <a:srgbClr val="F6E2C8"/>
                </a:solidFill>
                <a:ln w="14514">
                  <a:solidFill>
                    <a:srgbClr val="E0AE7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36" name="TextBox 148"/>
                <p:cNvSpPr txBox="1"/>
                <p:nvPr/>
              </p:nvSpPr>
              <p:spPr>
                <a:xfrm>
                  <a:off x="8077" y="15798"/>
                  <a:ext cx="3610" cy="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资源监控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06" name="组合 205"/>
            <p:cNvGrpSpPr/>
            <p:nvPr/>
          </p:nvGrpSpPr>
          <p:grpSpPr>
            <a:xfrm>
              <a:off x="887" y="13806"/>
              <a:ext cx="27769" cy="6979"/>
              <a:chOff x="887" y="14780"/>
              <a:chExt cx="23330" cy="5166"/>
            </a:xfrm>
          </p:grpSpPr>
          <p:sp>
            <p:nvSpPr>
              <p:cNvPr id="38" name="Rounded Rectangle 17"/>
              <p:cNvSpPr/>
              <p:nvPr/>
            </p:nvSpPr>
            <p:spPr>
              <a:xfrm>
                <a:off x="887" y="14780"/>
                <a:ext cx="2023" cy="5102"/>
              </a:xfrm>
              <a:prstGeom prst="roundRect">
                <a:avLst>
                  <a:gd name="adj" fmla="val 10169"/>
                </a:avLst>
              </a:prstGeom>
              <a:solidFill>
                <a:srgbClr val="E6F4F1"/>
              </a:solidFill>
              <a:ln w="14514">
                <a:solidFill>
                  <a:srgbClr val="8CCBB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sp>
            <p:nvSpPr>
              <p:cNvPr id="39" name="TextBox 18"/>
              <p:cNvSpPr txBox="1"/>
              <p:nvPr/>
            </p:nvSpPr>
            <p:spPr>
              <a:xfrm>
                <a:off x="893" y="16053"/>
                <a:ext cx="2023" cy="5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buNone/>
                </a:pPr>
                <a:r>
                  <a:rPr sz="3000" b="1">
                    <a:solidFill>
                      <a:srgbClr val="1F8A78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sz="3000" b="1">
                  <a:solidFill>
                    <a:srgbClr val="1F8A78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TextBox 19"/>
              <p:cNvSpPr txBox="1"/>
              <p:nvPr/>
            </p:nvSpPr>
            <p:spPr>
              <a:xfrm>
                <a:off x="887" y="16965"/>
                <a:ext cx="2023" cy="32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buNone/>
                </a:pPr>
                <a:r>
                  <a:rPr b="1">
                    <a:solidFill>
                      <a:srgbClr val="0C483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数据工程</a:t>
                </a:r>
                <a:endParaRPr b="1">
                  <a:solidFill>
                    <a:srgbClr val="0C483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" name="TextBox 20"/>
              <p:cNvSpPr txBox="1"/>
              <p:nvPr/>
            </p:nvSpPr>
            <p:spPr>
              <a:xfrm>
                <a:off x="887" y="17563"/>
                <a:ext cx="2023" cy="21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buNone/>
                </a:pPr>
                <a:r>
                  <a:rPr sz="1200" b="0">
                    <a:solidFill>
                      <a:srgbClr val="1F8A78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三类数据资产</a:t>
                </a:r>
                <a:endParaRPr sz="1200" b="0">
                  <a:solidFill>
                    <a:srgbClr val="1F8A78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2" name="Rounded Rectangle 21"/>
              <p:cNvSpPr/>
              <p:nvPr/>
            </p:nvSpPr>
            <p:spPr>
              <a:xfrm>
                <a:off x="3093" y="14844"/>
                <a:ext cx="21124" cy="5102"/>
              </a:xfrm>
              <a:prstGeom prst="roundRect">
                <a:avLst>
                  <a:gd name="adj" fmla="val 4471"/>
                </a:avLst>
              </a:prstGeom>
              <a:solidFill>
                <a:srgbClr val="FFFFFF"/>
              </a:solidFill>
              <a:ln w="14514">
                <a:solidFill>
                  <a:srgbClr val="8CCBB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sp>
            <p:nvSpPr>
              <p:cNvPr id="43" name="Rounded Rectangle 22"/>
              <p:cNvSpPr/>
              <p:nvPr/>
            </p:nvSpPr>
            <p:spPr>
              <a:xfrm>
                <a:off x="3093" y="14836"/>
                <a:ext cx="103" cy="5102"/>
              </a:xfrm>
              <a:prstGeom prst="roundRect">
                <a:avLst>
                  <a:gd name="adj" fmla="val 50000"/>
                </a:avLst>
              </a:prstGeom>
              <a:solidFill>
                <a:srgbClr val="1F8A7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grpSp>
            <p:nvGrpSpPr>
              <p:cNvPr id="54" name="组合 53"/>
              <p:cNvGrpSpPr/>
              <p:nvPr/>
            </p:nvGrpSpPr>
            <p:grpSpPr>
              <a:xfrm rot="0">
                <a:off x="3378" y="18181"/>
                <a:ext cx="17594" cy="1622"/>
                <a:chOff x="17435" y="17219"/>
                <a:chExt cx="17594" cy="1622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17435" y="17219"/>
                  <a:ext cx="17594" cy="1622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33" name="Rounded Rectangle 132"/>
                <p:cNvSpPr/>
                <p:nvPr/>
              </p:nvSpPr>
              <p:spPr>
                <a:xfrm>
                  <a:off x="18500" y="18123"/>
                  <a:ext cx="2268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考古报告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5" name="Rounded Rectangle 132"/>
                <p:cNvSpPr/>
                <p:nvPr/>
              </p:nvSpPr>
              <p:spPr>
                <a:xfrm>
                  <a:off x="21303" y="18123"/>
                  <a:ext cx="2267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通识</a:t>
                  </a: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教材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6" name="Rounded Rectangle 132"/>
                <p:cNvSpPr/>
                <p:nvPr/>
              </p:nvSpPr>
              <p:spPr>
                <a:xfrm>
                  <a:off x="24105" y="18123"/>
                  <a:ext cx="2267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学术</a:t>
                  </a: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论文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7" name="Rounded Rectangle 132"/>
                <p:cNvSpPr/>
                <p:nvPr/>
              </p:nvSpPr>
              <p:spPr>
                <a:xfrm>
                  <a:off x="26907" y="18123"/>
                  <a:ext cx="2267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拓片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8" name="Rounded Rectangle 132"/>
                <p:cNvSpPr/>
                <p:nvPr/>
              </p:nvSpPr>
              <p:spPr>
                <a:xfrm>
                  <a:off x="29709" y="18123"/>
                  <a:ext cx="2267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三维</a:t>
                  </a:r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点云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9" name="Rounded Rectangle 132"/>
                <p:cNvSpPr/>
                <p:nvPr/>
              </p:nvSpPr>
              <p:spPr>
                <a:xfrm>
                  <a:off x="32511" y="18123"/>
                  <a:ext cx="2267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遥感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0" name="Rounded Rectangle 132"/>
                <p:cNvSpPr/>
                <p:nvPr/>
              </p:nvSpPr>
              <p:spPr>
                <a:xfrm>
                  <a:off x="18500" y="17379"/>
                  <a:ext cx="16271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内容结构化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2" name="文本框 51"/>
                <p:cNvSpPr txBox="1"/>
                <p:nvPr/>
              </p:nvSpPr>
              <p:spPr>
                <a:xfrm>
                  <a:off x="17494" y="17514"/>
                  <a:ext cx="671" cy="1154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noAutofit/>
                </a:bodyPr>
                <a:p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数据湖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62" name="矩形 61"/>
              <p:cNvSpPr/>
              <p:nvPr/>
            </p:nvSpPr>
            <p:spPr>
              <a:xfrm>
                <a:off x="3359" y="16908"/>
                <a:ext cx="17594" cy="1077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>
                  <a:sym typeface="+mn-ea"/>
                </a:endParaRPr>
              </a:p>
            </p:txBody>
          </p:sp>
          <p:sp>
            <p:nvSpPr>
              <p:cNvPr id="57" name="Rounded Rectangle 132"/>
              <p:cNvSpPr/>
              <p:nvPr/>
            </p:nvSpPr>
            <p:spPr>
              <a:xfrm>
                <a:off x="4470" y="17094"/>
                <a:ext cx="3628" cy="767"/>
              </a:xfrm>
              <a:prstGeom prst="rect">
                <a:avLst/>
              </a:prstGeom>
              <a:solidFill>
                <a:srgbClr val="D2EBE6"/>
              </a:solidFill>
              <a:ln w="14514">
                <a:solidFill>
                  <a:srgbClr val="8CCBB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文本数据加工</a:t>
                </a:r>
                <a:endParaRPr lang="zh-CN" sz="1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8" name="Rounded Rectangle 132"/>
              <p:cNvSpPr/>
              <p:nvPr/>
            </p:nvSpPr>
            <p:spPr>
              <a:xfrm>
                <a:off x="8668" y="17094"/>
                <a:ext cx="3628" cy="767"/>
              </a:xfrm>
              <a:prstGeom prst="rect">
                <a:avLst/>
              </a:prstGeom>
              <a:solidFill>
                <a:srgbClr val="D2EBE6"/>
              </a:solidFill>
              <a:ln w="14514">
                <a:solidFill>
                  <a:srgbClr val="8CCBB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图片数据加工</a:t>
                </a:r>
                <a:endParaRPr lang="zh-CN" sz="1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9" name="Rounded Rectangle 132"/>
              <p:cNvSpPr/>
              <p:nvPr/>
            </p:nvSpPr>
            <p:spPr>
              <a:xfrm>
                <a:off x="12866" y="17094"/>
                <a:ext cx="3628" cy="767"/>
              </a:xfrm>
              <a:prstGeom prst="rect">
                <a:avLst/>
              </a:prstGeom>
              <a:solidFill>
                <a:srgbClr val="D2EBE6"/>
              </a:solidFill>
              <a:ln w="14514">
                <a:solidFill>
                  <a:srgbClr val="8CCBB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音视频数据加工</a:t>
                </a:r>
                <a:endParaRPr lang="zh-CN" sz="1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3356" y="17094"/>
                <a:ext cx="1009" cy="8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500" b="1">
                    <a:latin typeface="微软雅黑" panose="020B0503020204020204" charset="-122"/>
                    <a:ea typeface="微软雅黑" panose="020B0503020204020204" charset="-122"/>
                  </a:rPr>
                  <a:t>数据</a:t>
                </a:r>
                <a:endParaRPr lang="zh-CN" altLang="en-US" sz="1500" b="1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 b="1">
                    <a:latin typeface="微软雅黑" panose="020B0503020204020204" charset="-122"/>
                    <a:ea typeface="微软雅黑" panose="020B0503020204020204" charset="-122"/>
                  </a:rPr>
                  <a:t>加工</a:t>
                </a:r>
                <a:endParaRPr lang="zh-CN" altLang="en-US" sz="15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 rot="0">
                <a:off x="3402" y="15002"/>
                <a:ext cx="5843" cy="1624"/>
                <a:chOff x="4344" y="11156"/>
                <a:chExt cx="5843" cy="1624"/>
              </a:xfrm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4344" y="11156"/>
                  <a:ext cx="5843" cy="1624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75" name="Rounded Rectangle 132"/>
                <p:cNvSpPr/>
                <p:nvPr/>
              </p:nvSpPr>
              <p:spPr>
                <a:xfrm>
                  <a:off x="5378" y="12062"/>
                  <a:ext cx="4535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预训练数据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8" name="文本框 77"/>
                <p:cNvSpPr txBox="1"/>
                <p:nvPr/>
              </p:nvSpPr>
              <p:spPr>
                <a:xfrm>
                  <a:off x="4519" y="11216"/>
                  <a:ext cx="586" cy="14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训练数据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9" name="Rounded Rectangle 132"/>
                <p:cNvSpPr/>
                <p:nvPr/>
              </p:nvSpPr>
              <p:spPr>
                <a:xfrm>
                  <a:off x="5400" y="11304"/>
                  <a:ext cx="198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SFT</a:t>
                  </a:r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数据</a:t>
                  </a:r>
                  <a:endParaRPr lang="zh-CN" altLang="en-US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80" name="Rounded Rectangle 132"/>
                <p:cNvSpPr/>
                <p:nvPr/>
              </p:nvSpPr>
              <p:spPr>
                <a:xfrm>
                  <a:off x="7891" y="11304"/>
                  <a:ext cx="198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RL</a:t>
                  </a:r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数据</a:t>
                  </a:r>
                  <a:endParaRPr lang="zh-CN" altLang="en-US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 rot="0">
                <a:off x="9501" y="15002"/>
                <a:ext cx="5592" cy="1624"/>
                <a:chOff x="10399" y="11222"/>
                <a:chExt cx="5592" cy="1624"/>
              </a:xfrm>
            </p:grpSpPr>
            <p:sp>
              <p:nvSpPr>
                <p:cNvPr id="84" name="矩形 83"/>
                <p:cNvSpPr/>
                <p:nvPr/>
              </p:nvSpPr>
              <p:spPr>
                <a:xfrm>
                  <a:off x="10399" y="11222"/>
                  <a:ext cx="5593" cy="1624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85" name="Rounded Rectangle 132"/>
                <p:cNvSpPr/>
                <p:nvPr/>
              </p:nvSpPr>
              <p:spPr>
                <a:xfrm>
                  <a:off x="11103" y="12129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知识图谱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86" name="文本框 85"/>
                <p:cNvSpPr txBox="1"/>
                <p:nvPr/>
              </p:nvSpPr>
              <p:spPr>
                <a:xfrm>
                  <a:off x="10442" y="11282"/>
                  <a:ext cx="586" cy="14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应用数据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87" name="Rounded Rectangle 132"/>
                <p:cNvSpPr/>
                <p:nvPr/>
              </p:nvSpPr>
              <p:spPr>
                <a:xfrm>
                  <a:off x="11103" y="11370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本体库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88" name="Rounded Rectangle 132"/>
                <p:cNvSpPr/>
                <p:nvPr/>
              </p:nvSpPr>
              <p:spPr>
                <a:xfrm>
                  <a:off x="13704" y="11370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向量知识库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89" name="Rounded Rectangle 132"/>
                <p:cNvSpPr/>
                <p:nvPr/>
              </p:nvSpPr>
              <p:spPr>
                <a:xfrm>
                  <a:off x="13704" y="12129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图文检索库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 rot="0">
                <a:off x="15303" y="15030"/>
                <a:ext cx="5592" cy="1624"/>
                <a:chOff x="10399" y="11222"/>
                <a:chExt cx="5592" cy="1624"/>
              </a:xfrm>
            </p:grpSpPr>
            <p:sp>
              <p:nvSpPr>
                <p:cNvPr id="92" name="矩形 91"/>
                <p:cNvSpPr/>
                <p:nvPr/>
              </p:nvSpPr>
              <p:spPr>
                <a:xfrm>
                  <a:off x="10399" y="11222"/>
                  <a:ext cx="5593" cy="1624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93" name="Rounded Rectangle 132"/>
                <p:cNvSpPr/>
                <p:nvPr/>
              </p:nvSpPr>
              <p:spPr>
                <a:xfrm>
                  <a:off x="11103" y="12129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多模态感知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94" name="文本框 93"/>
                <p:cNvSpPr txBox="1"/>
                <p:nvPr/>
              </p:nvSpPr>
              <p:spPr>
                <a:xfrm>
                  <a:off x="10442" y="11282"/>
                  <a:ext cx="586" cy="14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评测数据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95" name="Rounded Rectangle 132"/>
                <p:cNvSpPr/>
                <p:nvPr/>
              </p:nvSpPr>
              <p:spPr>
                <a:xfrm>
                  <a:off x="11103" y="11370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知识理解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96" name="Rounded Rectangle 132"/>
                <p:cNvSpPr/>
                <p:nvPr/>
              </p:nvSpPr>
              <p:spPr>
                <a:xfrm>
                  <a:off x="13704" y="11370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时空推理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97" name="Rounded Rectangle 132"/>
                <p:cNvSpPr/>
                <p:nvPr/>
              </p:nvSpPr>
              <p:spPr>
                <a:xfrm>
                  <a:off x="13704" y="12129"/>
                  <a:ext cx="2154" cy="567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学术生成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 rot="0">
                <a:off x="21229" y="15010"/>
                <a:ext cx="2834" cy="4708"/>
                <a:chOff x="27217" y="11142"/>
                <a:chExt cx="2834" cy="4708"/>
              </a:xfrm>
            </p:grpSpPr>
            <p:sp>
              <p:nvSpPr>
                <p:cNvPr id="99" name="矩形 98"/>
                <p:cNvSpPr/>
                <p:nvPr/>
              </p:nvSpPr>
              <p:spPr>
                <a:xfrm>
                  <a:off x="27217" y="11142"/>
                  <a:ext cx="2834" cy="4708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56" name="Rounded Rectangle 132"/>
                <p:cNvSpPr/>
                <p:nvPr/>
              </p:nvSpPr>
              <p:spPr>
                <a:xfrm>
                  <a:off x="27369" y="14738"/>
                  <a:ext cx="2551" cy="895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血缘追踪</a:t>
                  </a:r>
                  <a:endPara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01" name="文本框 100"/>
                <p:cNvSpPr txBox="1"/>
                <p:nvPr/>
              </p:nvSpPr>
              <p:spPr>
                <a:xfrm>
                  <a:off x="27716" y="11258"/>
                  <a:ext cx="1835" cy="4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数据可观测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05" name="Rounded Rectangle 132"/>
                <p:cNvSpPr/>
                <p:nvPr/>
              </p:nvSpPr>
              <p:spPr>
                <a:xfrm>
                  <a:off x="27369" y="13391"/>
                  <a:ext cx="2551" cy="895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质量监控</a:t>
                  </a:r>
                  <a:endParaRPr lang="zh-CN" altLang="en-US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06" name="Rounded Rectangle 132"/>
                <p:cNvSpPr/>
                <p:nvPr/>
              </p:nvSpPr>
              <p:spPr>
                <a:xfrm>
                  <a:off x="27369" y="12044"/>
                  <a:ext cx="2551" cy="895"/>
                </a:xfrm>
                <a:prstGeom prst="rect">
                  <a:avLst/>
                </a:prstGeom>
                <a:solidFill>
                  <a:srgbClr val="D2EBE6"/>
                </a:solidFill>
                <a:ln w="14514">
                  <a:solidFill>
                    <a:srgbClr val="8CCBB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r>
                    <a:rPr lang="zh-CN" altLang="en-US" sz="140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漂移监控</a:t>
                  </a:r>
                  <a:endParaRPr lang="zh-CN" altLang="en-US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205" name="Rounded Rectangle 132"/>
              <p:cNvSpPr/>
              <p:nvPr/>
            </p:nvSpPr>
            <p:spPr>
              <a:xfrm>
                <a:off x="17064" y="17094"/>
                <a:ext cx="3628" cy="767"/>
              </a:xfrm>
              <a:prstGeom prst="rect">
                <a:avLst/>
              </a:prstGeom>
              <a:solidFill>
                <a:srgbClr val="D2EBE6"/>
              </a:solidFill>
              <a:ln w="14514">
                <a:solidFill>
                  <a:srgbClr val="8CCBB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zh-CN" sz="14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其它模态数据加工</a:t>
                </a:r>
                <a:endParaRPr lang="zh-CN" sz="1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73" name="组合 172"/>
            <p:cNvGrpSpPr/>
            <p:nvPr/>
          </p:nvGrpSpPr>
          <p:grpSpPr>
            <a:xfrm>
              <a:off x="867" y="8909"/>
              <a:ext cx="27813" cy="4630"/>
              <a:chOff x="867" y="11101"/>
              <a:chExt cx="23367" cy="3427"/>
            </a:xfrm>
          </p:grpSpPr>
          <p:grpSp>
            <p:nvGrpSpPr>
              <p:cNvPr id="172" name="组合 171"/>
              <p:cNvGrpSpPr/>
              <p:nvPr/>
            </p:nvGrpSpPr>
            <p:grpSpPr>
              <a:xfrm>
                <a:off x="867" y="11101"/>
                <a:ext cx="23367" cy="3402"/>
                <a:chOff x="867" y="10991"/>
                <a:chExt cx="23367" cy="3402"/>
              </a:xfrm>
            </p:grpSpPr>
            <p:grpSp>
              <p:nvGrpSpPr>
                <p:cNvPr id="171" name="组合 170"/>
                <p:cNvGrpSpPr/>
                <p:nvPr/>
              </p:nvGrpSpPr>
              <p:grpSpPr>
                <a:xfrm>
                  <a:off x="867" y="10991"/>
                  <a:ext cx="2043" cy="3402"/>
                  <a:chOff x="867" y="10933"/>
                  <a:chExt cx="2043" cy="3402"/>
                </a:xfrm>
              </p:grpSpPr>
              <p:sp>
                <p:nvSpPr>
                  <p:cNvPr id="109" name="Rounded Rectangle 11"/>
                  <p:cNvSpPr/>
                  <p:nvPr/>
                </p:nvSpPr>
                <p:spPr>
                  <a:xfrm>
                    <a:off x="887" y="10933"/>
                    <a:ext cx="2023" cy="3402"/>
                  </a:xfrm>
                  <a:prstGeom prst="roundRect">
                    <a:avLst>
                      <a:gd name="adj" fmla="val 10169"/>
                    </a:avLst>
                  </a:prstGeom>
                  <a:solidFill>
                    <a:srgbClr val="F2EDFA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10" name="TextBox 12"/>
                  <p:cNvSpPr txBox="1"/>
                  <p:nvPr/>
                </p:nvSpPr>
                <p:spPr>
                  <a:xfrm>
                    <a:off x="887" y="11644"/>
                    <a:ext cx="2023" cy="53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sz="3000" b="1">
                        <a:solidFill>
                          <a:srgbClr val="7A5AA8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2</a:t>
                    </a:r>
                    <a:endParaRPr sz="3000" b="1">
                      <a:solidFill>
                        <a:srgbClr val="7A5AA8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11" name="TextBox 13"/>
                  <p:cNvSpPr txBox="1"/>
                  <p:nvPr/>
                </p:nvSpPr>
                <p:spPr>
                  <a:xfrm>
                    <a:off x="887" y="12510"/>
                    <a:ext cx="2023" cy="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b="1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模型工程</a:t>
                    </a:r>
                    <a:endParaRPr b="1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12" name="TextBox 14"/>
                  <p:cNvSpPr txBox="1"/>
                  <p:nvPr/>
                </p:nvSpPr>
                <p:spPr>
                  <a:xfrm>
                    <a:off x="867" y="13089"/>
                    <a:ext cx="2023" cy="21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sz="1200" b="0">
                        <a:solidFill>
                          <a:srgbClr val="7A5AA8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 领域适配</a:t>
                    </a:r>
                    <a:endParaRPr sz="1200" b="0">
                      <a:solidFill>
                        <a:srgbClr val="7A5AA8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113" name="Rounded Rectangle 15"/>
                <p:cNvSpPr/>
                <p:nvPr/>
              </p:nvSpPr>
              <p:spPr>
                <a:xfrm>
                  <a:off x="3110" y="10991"/>
                  <a:ext cx="21124" cy="3402"/>
                </a:xfrm>
                <a:prstGeom prst="roundRect">
                  <a:avLst>
                    <a:gd name="adj" fmla="val 3691"/>
                  </a:avLst>
                </a:prstGeom>
                <a:solidFill>
                  <a:srgbClr val="FFFFFF"/>
                </a:solidFill>
                <a:ln w="14514">
                  <a:solidFill>
                    <a:srgbClr val="B79F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</p:grpSp>
          <p:sp>
            <p:nvSpPr>
              <p:cNvPr id="114" name="Rounded Rectangle 16"/>
              <p:cNvSpPr/>
              <p:nvPr/>
            </p:nvSpPr>
            <p:spPr>
              <a:xfrm>
                <a:off x="3110" y="11126"/>
                <a:ext cx="103" cy="3402"/>
              </a:xfrm>
              <a:prstGeom prst="roundRect">
                <a:avLst>
                  <a:gd name="adj" fmla="val 50000"/>
                </a:avLst>
              </a:prstGeom>
              <a:solidFill>
                <a:srgbClr val="7A5AA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grpSp>
            <p:nvGrpSpPr>
              <p:cNvPr id="108" name="组合 107"/>
              <p:cNvGrpSpPr/>
              <p:nvPr/>
            </p:nvGrpSpPr>
            <p:grpSpPr>
              <a:xfrm rot="0">
                <a:off x="9986" y="11339"/>
                <a:ext cx="3532" cy="2972"/>
                <a:chOff x="13298" y="3094"/>
                <a:chExt cx="3532" cy="2972"/>
              </a:xfrm>
            </p:grpSpPr>
            <p:sp>
              <p:nvSpPr>
                <p:cNvPr id="266" name="矩形 265"/>
                <p:cNvSpPr/>
                <p:nvPr/>
              </p:nvSpPr>
              <p:spPr>
                <a:xfrm>
                  <a:off x="13298" y="3094"/>
                  <a:ext cx="3532" cy="2972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267" name="文本框 266"/>
                <p:cNvSpPr txBox="1"/>
                <p:nvPr/>
              </p:nvSpPr>
              <p:spPr>
                <a:xfrm>
                  <a:off x="14064" y="3221"/>
                  <a:ext cx="2154" cy="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效果优化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102" name="组合 101"/>
                <p:cNvGrpSpPr/>
                <p:nvPr/>
              </p:nvGrpSpPr>
              <p:grpSpPr>
                <a:xfrm rot="0">
                  <a:off x="13465" y="4096"/>
                  <a:ext cx="1503" cy="567"/>
                  <a:chOff x="9209" y="5189"/>
                  <a:chExt cx="1701" cy="567"/>
                </a:xfrm>
              </p:grpSpPr>
              <p:sp>
                <p:nvSpPr>
                  <p:cNvPr id="269" name="Rounded Rectangle 93"/>
                  <p:cNvSpPr/>
                  <p:nvPr/>
                </p:nvSpPr>
                <p:spPr>
                  <a:xfrm>
                    <a:off x="9209" y="5189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70" name="TextBox 94"/>
                  <p:cNvSpPr txBox="1"/>
                  <p:nvPr/>
                </p:nvSpPr>
                <p:spPr>
                  <a:xfrm>
                    <a:off x="9353" y="5189"/>
                    <a:ext cx="1531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en-US" alt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RL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训练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297" name="组合 296"/>
                <p:cNvGrpSpPr/>
                <p:nvPr/>
              </p:nvGrpSpPr>
              <p:grpSpPr>
                <a:xfrm rot="0">
                  <a:off x="15166" y="5189"/>
                  <a:ext cx="1531" cy="567"/>
                  <a:chOff x="27875" y="5474"/>
                  <a:chExt cx="1531" cy="567"/>
                </a:xfrm>
              </p:grpSpPr>
              <p:sp>
                <p:nvSpPr>
                  <p:cNvPr id="298" name="Rounded Rectangle 93"/>
                  <p:cNvSpPr/>
                  <p:nvPr/>
                </p:nvSpPr>
                <p:spPr>
                  <a:xfrm>
                    <a:off x="27875" y="5474"/>
                    <a:ext cx="153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99" name="TextBox 94"/>
                  <p:cNvSpPr txBox="1"/>
                  <p:nvPr/>
                </p:nvSpPr>
                <p:spPr>
                  <a:xfrm>
                    <a:off x="27941" y="5520"/>
                    <a:ext cx="1283" cy="48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en-US" alt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SFT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训练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6" name="组合 5"/>
                <p:cNvGrpSpPr/>
                <p:nvPr/>
              </p:nvGrpSpPr>
              <p:grpSpPr>
                <a:xfrm rot="0">
                  <a:off x="13438" y="5189"/>
                  <a:ext cx="1531" cy="591"/>
                  <a:chOff x="27875" y="5474"/>
                  <a:chExt cx="1701" cy="591"/>
                </a:xfrm>
              </p:grpSpPr>
              <p:sp>
                <p:nvSpPr>
                  <p:cNvPr id="51" name="Rounded Rectangle 93"/>
                  <p:cNvSpPr/>
                  <p:nvPr/>
                </p:nvSpPr>
                <p:spPr>
                  <a:xfrm>
                    <a:off x="27875" y="5474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3" name="TextBox 94"/>
                  <p:cNvSpPr txBox="1"/>
                  <p:nvPr/>
                </p:nvSpPr>
                <p:spPr>
                  <a:xfrm>
                    <a:off x="27941" y="5498"/>
                    <a:ext cx="1531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持续训练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5" name="组合 54"/>
                <p:cNvGrpSpPr/>
                <p:nvPr/>
              </p:nvGrpSpPr>
              <p:grpSpPr>
                <a:xfrm rot="0">
                  <a:off x="15141" y="4096"/>
                  <a:ext cx="1556" cy="568"/>
                  <a:chOff x="27875" y="5474"/>
                  <a:chExt cx="2017" cy="568"/>
                </a:xfrm>
              </p:grpSpPr>
              <p:sp>
                <p:nvSpPr>
                  <p:cNvPr id="60" name="Rounded Rectangle 93"/>
                  <p:cNvSpPr/>
                  <p:nvPr/>
                </p:nvSpPr>
                <p:spPr>
                  <a:xfrm>
                    <a:off x="27875" y="5474"/>
                    <a:ext cx="1984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61" name="TextBox 94"/>
                  <p:cNvSpPr txBox="1"/>
                  <p:nvPr/>
                </p:nvSpPr>
                <p:spPr>
                  <a:xfrm>
                    <a:off x="27967" y="5476"/>
                    <a:ext cx="1925" cy="5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提示词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优化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116" name="组合 115"/>
              <p:cNvGrpSpPr/>
              <p:nvPr/>
            </p:nvGrpSpPr>
            <p:grpSpPr>
              <a:xfrm rot="0">
                <a:off x="13644" y="11351"/>
                <a:ext cx="3629" cy="2972"/>
                <a:chOff x="21381" y="4009"/>
                <a:chExt cx="3629" cy="2972"/>
              </a:xfrm>
            </p:grpSpPr>
            <p:sp>
              <p:nvSpPr>
                <p:cNvPr id="65" name="矩形 64"/>
                <p:cNvSpPr/>
                <p:nvPr/>
              </p:nvSpPr>
              <p:spPr>
                <a:xfrm>
                  <a:off x="21381" y="4009"/>
                  <a:ext cx="3629" cy="2972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22241" y="4124"/>
                  <a:ext cx="2154" cy="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模型</a:t>
                  </a:r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压缩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8" name="Rounded Rectangle 93"/>
                <p:cNvSpPr/>
                <p:nvPr/>
              </p:nvSpPr>
              <p:spPr>
                <a:xfrm>
                  <a:off x="21521" y="5043"/>
                  <a:ext cx="1531" cy="567"/>
                </a:xfrm>
                <a:prstGeom prst="rect">
                  <a:avLst/>
                </a:prstGeom>
                <a:solidFill>
                  <a:srgbClr val="E3D9F4"/>
                </a:solidFill>
                <a:ln w="14514">
                  <a:solidFill>
                    <a:srgbClr val="B79F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69" name="TextBox 94"/>
                <p:cNvSpPr txBox="1"/>
                <p:nvPr/>
              </p:nvSpPr>
              <p:spPr>
                <a:xfrm>
                  <a:off x="21663" y="5043"/>
                  <a:ext cx="1313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量化</a:t>
                  </a:r>
                  <a:endParaRPr lang="zh-CN" altLang="en-US" sz="1400" b="0">
                    <a:solidFill>
                      <a:srgbClr val="432A63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7" name="Rounded Rectangle 93"/>
                <p:cNvSpPr/>
                <p:nvPr/>
              </p:nvSpPr>
              <p:spPr>
                <a:xfrm>
                  <a:off x="21521" y="6136"/>
                  <a:ext cx="3325" cy="567"/>
                </a:xfrm>
                <a:prstGeom prst="rect">
                  <a:avLst/>
                </a:prstGeom>
                <a:solidFill>
                  <a:srgbClr val="E3D9F4"/>
                </a:solidFill>
                <a:ln w="14514">
                  <a:solidFill>
                    <a:srgbClr val="B79F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81" name="TextBox 94"/>
                <p:cNvSpPr txBox="1"/>
                <p:nvPr/>
              </p:nvSpPr>
              <p:spPr>
                <a:xfrm>
                  <a:off x="21727" y="6141"/>
                  <a:ext cx="2996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蒸馏</a:t>
                  </a:r>
                  <a:endParaRPr lang="zh-CN" altLang="en-US" sz="1400" b="0">
                    <a:solidFill>
                      <a:srgbClr val="432A63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98" name="Rounded Rectangle 93"/>
                <p:cNvSpPr/>
                <p:nvPr/>
              </p:nvSpPr>
              <p:spPr>
                <a:xfrm>
                  <a:off x="23315" y="5043"/>
                  <a:ext cx="1531" cy="567"/>
                </a:xfrm>
                <a:prstGeom prst="rect">
                  <a:avLst/>
                </a:prstGeom>
                <a:solidFill>
                  <a:srgbClr val="E3D9F4"/>
                </a:solidFill>
                <a:ln w="14514">
                  <a:solidFill>
                    <a:srgbClr val="B79F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100" name="TextBox 94"/>
                <p:cNvSpPr txBox="1"/>
                <p:nvPr/>
              </p:nvSpPr>
              <p:spPr>
                <a:xfrm>
                  <a:off x="23338" y="5067"/>
                  <a:ext cx="145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剪枝</a:t>
                  </a:r>
                  <a:endParaRPr lang="zh-CN" altLang="en-US" sz="1400" b="0">
                    <a:solidFill>
                      <a:srgbClr val="432A63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17" name="组合 116"/>
              <p:cNvGrpSpPr/>
              <p:nvPr/>
            </p:nvGrpSpPr>
            <p:grpSpPr>
              <a:xfrm rot="0">
                <a:off x="17398" y="11361"/>
                <a:ext cx="3532" cy="2972"/>
                <a:chOff x="13298" y="3094"/>
                <a:chExt cx="3532" cy="2972"/>
              </a:xfrm>
            </p:grpSpPr>
            <p:sp>
              <p:nvSpPr>
                <p:cNvPr id="118" name="矩形 117"/>
                <p:cNvSpPr/>
                <p:nvPr/>
              </p:nvSpPr>
              <p:spPr>
                <a:xfrm>
                  <a:off x="13298" y="3094"/>
                  <a:ext cx="3532" cy="2972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14064" y="3199"/>
                  <a:ext cx="2154" cy="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推理</a:t>
                  </a:r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加速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120" name="组合 119"/>
                <p:cNvGrpSpPr/>
                <p:nvPr/>
              </p:nvGrpSpPr>
              <p:grpSpPr>
                <a:xfrm rot="0">
                  <a:off x="13465" y="4096"/>
                  <a:ext cx="1503" cy="567"/>
                  <a:chOff x="9209" y="5189"/>
                  <a:chExt cx="1701" cy="567"/>
                </a:xfrm>
              </p:grpSpPr>
              <p:sp>
                <p:nvSpPr>
                  <p:cNvPr id="121" name="Rounded Rectangle 93"/>
                  <p:cNvSpPr/>
                  <p:nvPr/>
                </p:nvSpPr>
                <p:spPr>
                  <a:xfrm>
                    <a:off x="9209" y="5189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22" name="TextBox 94"/>
                  <p:cNvSpPr txBox="1"/>
                  <p:nvPr/>
                </p:nvSpPr>
                <p:spPr>
                  <a:xfrm>
                    <a:off x="9353" y="5189"/>
                    <a:ext cx="1531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缓存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优化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23" name="组合 122"/>
                <p:cNvGrpSpPr/>
                <p:nvPr/>
              </p:nvGrpSpPr>
              <p:grpSpPr>
                <a:xfrm rot="0">
                  <a:off x="15166" y="5189"/>
                  <a:ext cx="1531" cy="567"/>
                  <a:chOff x="27875" y="5474"/>
                  <a:chExt cx="1531" cy="567"/>
                </a:xfrm>
              </p:grpSpPr>
              <p:sp>
                <p:nvSpPr>
                  <p:cNvPr id="124" name="Rounded Rectangle 93"/>
                  <p:cNvSpPr/>
                  <p:nvPr/>
                </p:nvSpPr>
                <p:spPr>
                  <a:xfrm>
                    <a:off x="27875" y="5474"/>
                    <a:ext cx="153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25" name="TextBox 94"/>
                  <p:cNvSpPr txBox="1"/>
                  <p:nvPr/>
                </p:nvSpPr>
                <p:spPr>
                  <a:xfrm>
                    <a:off x="27941" y="5520"/>
                    <a:ext cx="1283" cy="48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系统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调度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26" name="组合 125"/>
                <p:cNvGrpSpPr/>
                <p:nvPr/>
              </p:nvGrpSpPr>
              <p:grpSpPr>
                <a:xfrm rot="0">
                  <a:off x="13438" y="5189"/>
                  <a:ext cx="1531" cy="591"/>
                  <a:chOff x="27875" y="5474"/>
                  <a:chExt cx="1701" cy="591"/>
                </a:xfrm>
              </p:grpSpPr>
              <p:sp>
                <p:nvSpPr>
                  <p:cNvPr id="127" name="Rounded Rectangle 93"/>
                  <p:cNvSpPr/>
                  <p:nvPr/>
                </p:nvSpPr>
                <p:spPr>
                  <a:xfrm>
                    <a:off x="27875" y="5474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28" name="TextBox 94"/>
                  <p:cNvSpPr txBox="1"/>
                  <p:nvPr/>
                </p:nvSpPr>
                <p:spPr>
                  <a:xfrm>
                    <a:off x="27941" y="5498"/>
                    <a:ext cx="1531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并行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策略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29" name="组合 128"/>
                <p:cNvGrpSpPr/>
                <p:nvPr/>
              </p:nvGrpSpPr>
              <p:grpSpPr>
                <a:xfrm rot="0">
                  <a:off x="15141" y="4096"/>
                  <a:ext cx="1556" cy="568"/>
                  <a:chOff x="27875" y="5474"/>
                  <a:chExt cx="2017" cy="568"/>
                </a:xfrm>
              </p:grpSpPr>
              <p:sp>
                <p:nvSpPr>
                  <p:cNvPr id="130" name="Rounded Rectangle 93"/>
                  <p:cNvSpPr/>
                  <p:nvPr/>
                </p:nvSpPr>
                <p:spPr>
                  <a:xfrm>
                    <a:off x="27875" y="5474"/>
                    <a:ext cx="1984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31" name="TextBox 94"/>
                  <p:cNvSpPr txBox="1"/>
                  <p:nvPr/>
                </p:nvSpPr>
                <p:spPr>
                  <a:xfrm>
                    <a:off x="27967" y="5476"/>
                    <a:ext cx="1925" cy="5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计算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加速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152" name="组合 151"/>
              <p:cNvGrpSpPr/>
              <p:nvPr/>
            </p:nvGrpSpPr>
            <p:grpSpPr>
              <a:xfrm rot="0">
                <a:off x="21213" y="11336"/>
                <a:ext cx="2835" cy="2999"/>
                <a:chOff x="26741" y="11314"/>
                <a:chExt cx="2835" cy="2999"/>
              </a:xfrm>
            </p:grpSpPr>
            <p:sp>
              <p:nvSpPr>
                <p:cNvPr id="134" name="矩形 133"/>
                <p:cNvSpPr/>
                <p:nvPr/>
              </p:nvSpPr>
              <p:spPr>
                <a:xfrm>
                  <a:off x="26741" y="11341"/>
                  <a:ext cx="2835" cy="2972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135" name="文本框 134"/>
                <p:cNvSpPr txBox="1"/>
                <p:nvPr/>
              </p:nvSpPr>
              <p:spPr>
                <a:xfrm>
                  <a:off x="27133" y="11314"/>
                  <a:ext cx="2154" cy="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模型</a:t>
                  </a:r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可观测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136" name="组合 135"/>
                <p:cNvGrpSpPr/>
                <p:nvPr/>
              </p:nvGrpSpPr>
              <p:grpSpPr>
                <a:xfrm rot="0">
                  <a:off x="26893" y="11919"/>
                  <a:ext cx="2551" cy="567"/>
                  <a:chOff x="14873" y="3151"/>
                  <a:chExt cx="2887" cy="567"/>
                </a:xfrm>
              </p:grpSpPr>
              <p:sp>
                <p:nvSpPr>
                  <p:cNvPr id="137" name="Rounded Rectangle 93"/>
                  <p:cNvSpPr/>
                  <p:nvPr/>
                </p:nvSpPr>
                <p:spPr>
                  <a:xfrm>
                    <a:off x="14873" y="3151"/>
                    <a:ext cx="2887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38" name="TextBox 94"/>
                  <p:cNvSpPr txBox="1"/>
                  <p:nvPr/>
                </p:nvSpPr>
                <p:spPr>
                  <a:xfrm>
                    <a:off x="15515" y="3151"/>
                    <a:ext cx="1604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训练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监控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42" name="组合 141"/>
                <p:cNvGrpSpPr/>
                <p:nvPr/>
              </p:nvGrpSpPr>
              <p:grpSpPr>
                <a:xfrm rot="0">
                  <a:off x="26893" y="13559"/>
                  <a:ext cx="2551" cy="567"/>
                  <a:chOff x="27875" y="5474"/>
                  <a:chExt cx="2834" cy="567"/>
                </a:xfrm>
              </p:grpSpPr>
              <p:sp>
                <p:nvSpPr>
                  <p:cNvPr id="143" name="Rounded Rectangle 93"/>
                  <p:cNvSpPr/>
                  <p:nvPr/>
                </p:nvSpPr>
                <p:spPr>
                  <a:xfrm>
                    <a:off x="27875" y="5474"/>
                    <a:ext cx="2834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44" name="TextBox 94"/>
                  <p:cNvSpPr txBox="1"/>
                  <p:nvPr/>
                </p:nvSpPr>
                <p:spPr>
                  <a:xfrm>
                    <a:off x="28571" y="5474"/>
                    <a:ext cx="1575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版本</a:t>
                    </a: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可观测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48" name="组合 147"/>
                <p:cNvGrpSpPr/>
                <p:nvPr/>
              </p:nvGrpSpPr>
              <p:grpSpPr>
                <a:xfrm rot="0">
                  <a:off x="26893" y="12739"/>
                  <a:ext cx="2551" cy="567"/>
                  <a:chOff x="14873" y="3151"/>
                  <a:chExt cx="2887" cy="567"/>
                </a:xfrm>
              </p:grpSpPr>
              <p:sp>
                <p:nvSpPr>
                  <p:cNvPr id="150" name="Rounded Rectangle 93"/>
                  <p:cNvSpPr/>
                  <p:nvPr/>
                </p:nvSpPr>
                <p:spPr>
                  <a:xfrm>
                    <a:off x="14873" y="3151"/>
                    <a:ext cx="2887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151" name="TextBox 94"/>
                  <p:cNvSpPr txBox="1"/>
                  <p:nvPr/>
                </p:nvSpPr>
                <p:spPr>
                  <a:xfrm>
                    <a:off x="15515" y="3151"/>
                    <a:ext cx="1604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推理监控</a:t>
                    </a:r>
                    <a:endParaRPr lang="zh-CN" altLang="en-US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169" name="组合 168"/>
              <p:cNvGrpSpPr/>
              <p:nvPr/>
            </p:nvGrpSpPr>
            <p:grpSpPr>
              <a:xfrm rot="0">
                <a:off x="3377" y="11341"/>
                <a:ext cx="6502" cy="2990"/>
                <a:chOff x="6193" y="3857"/>
                <a:chExt cx="6502" cy="2990"/>
              </a:xfrm>
            </p:grpSpPr>
            <p:sp>
              <p:nvSpPr>
                <p:cNvPr id="230" name="矩形 229"/>
                <p:cNvSpPr/>
                <p:nvPr/>
              </p:nvSpPr>
              <p:spPr>
                <a:xfrm>
                  <a:off x="6215" y="3857"/>
                  <a:ext cx="6480" cy="1417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231" name="文本框 230"/>
                <p:cNvSpPr txBox="1"/>
                <p:nvPr/>
              </p:nvSpPr>
              <p:spPr>
                <a:xfrm>
                  <a:off x="6215" y="4184"/>
                  <a:ext cx="992" cy="9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场景模型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163" name="组合 162"/>
                <p:cNvGrpSpPr/>
                <p:nvPr/>
              </p:nvGrpSpPr>
              <p:grpSpPr>
                <a:xfrm>
                  <a:off x="7117" y="3968"/>
                  <a:ext cx="1763" cy="566"/>
                  <a:chOff x="11774" y="5369"/>
                  <a:chExt cx="1763" cy="566"/>
                </a:xfrm>
              </p:grpSpPr>
              <p:sp>
                <p:nvSpPr>
                  <p:cNvPr id="233" name="Rounded Rectangle 93"/>
                  <p:cNvSpPr/>
                  <p:nvPr/>
                </p:nvSpPr>
                <p:spPr>
                  <a:xfrm>
                    <a:off x="11837" y="5369"/>
                    <a:ext cx="1700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34" name="TextBox 94"/>
                  <p:cNvSpPr txBox="1"/>
                  <p:nvPr/>
                </p:nvSpPr>
                <p:spPr>
                  <a:xfrm>
                    <a:off x="11774" y="5391"/>
                    <a:ext cx="1701" cy="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sz="12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器物分型分式</a:t>
                    </a:r>
                    <a:endParaRPr lang="zh-CN" sz="12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66" name="组合 165"/>
                <p:cNvGrpSpPr/>
                <p:nvPr/>
              </p:nvGrpSpPr>
              <p:grpSpPr>
                <a:xfrm>
                  <a:off x="7155" y="4641"/>
                  <a:ext cx="1725" cy="567"/>
                  <a:chOff x="11837" y="6946"/>
                  <a:chExt cx="1725" cy="567"/>
                </a:xfrm>
              </p:grpSpPr>
              <p:sp>
                <p:nvSpPr>
                  <p:cNvPr id="236" name="Rounded Rectangle 93"/>
                  <p:cNvSpPr/>
                  <p:nvPr/>
                </p:nvSpPr>
                <p:spPr>
                  <a:xfrm>
                    <a:off x="11837" y="6946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37" name="TextBox 94"/>
                  <p:cNvSpPr txBox="1"/>
                  <p:nvPr/>
                </p:nvSpPr>
                <p:spPr>
                  <a:xfrm>
                    <a:off x="11861" y="6970"/>
                    <a:ext cx="1701" cy="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sz="12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墓址分期推断</a:t>
                    </a:r>
                    <a:endParaRPr lang="zh-CN" sz="12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64" name="组合 163"/>
                <p:cNvGrpSpPr/>
                <p:nvPr/>
              </p:nvGrpSpPr>
              <p:grpSpPr>
                <a:xfrm>
                  <a:off x="9047" y="3990"/>
                  <a:ext cx="1722" cy="566"/>
                  <a:chOff x="14058" y="5369"/>
                  <a:chExt cx="1722" cy="566"/>
                </a:xfrm>
              </p:grpSpPr>
              <p:sp>
                <p:nvSpPr>
                  <p:cNvPr id="239" name="Rounded Rectangle 93"/>
                  <p:cNvSpPr/>
                  <p:nvPr/>
                </p:nvSpPr>
                <p:spPr>
                  <a:xfrm>
                    <a:off x="14058" y="5369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40" name="TextBox 94"/>
                  <p:cNvSpPr txBox="1"/>
                  <p:nvPr/>
                </p:nvSpPr>
                <p:spPr>
                  <a:xfrm>
                    <a:off x="14080" y="5391"/>
                    <a:ext cx="1701" cy="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sz="12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文化溯源判别</a:t>
                    </a:r>
                    <a:endParaRPr lang="zh-CN" sz="12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67" name="组合 166"/>
                <p:cNvGrpSpPr/>
                <p:nvPr/>
              </p:nvGrpSpPr>
              <p:grpSpPr>
                <a:xfrm>
                  <a:off x="9047" y="4641"/>
                  <a:ext cx="1709" cy="566"/>
                  <a:chOff x="14049" y="6946"/>
                  <a:chExt cx="1709" cy="566"/>
                </a:xfrm>
              </p:grpSpPr>
              <p:sp>
                <p:nvSpPr>
                  <p:cNvPr id="242" name="Rounded Rectangle 93"/>
                  <p:cNvSpPr/>
                  <p:nvPr/>
                </p:nvSpPr>
                <p:spPr>
                  <a:xfrm>
                    <a:off x="14058" y="6946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43" name="TextBox 94"/>
                  <p:cNvSpPr txBox="1"/>
                  <p:nvPr/>
                </p:nvSpPr>
                <p:spPr>
                  <a:xfrm>
                    <a:off x="14049" y="6992"/>
                    <a:ext cx="1701" cy="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sz="12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聚落等级划分</a:t>
                    </a:r>
                    <a:endParaRPr lang="zh-CN" sz="12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65" name="组合 164"/>
                <p:cNvGrpSpPr/>
                <p:nvPr/>
              </p:nvGrpSpPr>
              <p:grpSpPr>
                <a:xfrm>
                  <a:off x="10910" y="3968"/>
                  <a:ext cx="1712" cy="566"/>
                  <a:chOff x="16304" y="5369"/>
                  <a:chExt cx="1712" cy="566"/>
                </a:xfrm>
              </p:grpSpPr>
              <p:sp>
                <p:nvSpPr>
                  <p:cNvPr id="245" name="Rounded Rectangle 93"/>
                  <p:cNvSpPr/>
                  <p:nvPr/>
                </p:nvSpPr>
                <p:spPr>
                  <a:xfrm>
                    <a:off x="16304" y="5369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46" name="TextBox 94"/>
                  <p:cNvSpPr txBox="1"/>
                  <p:nvPr/>
                </p:nvSpPr>
                <p:spPr>
                  <a:xfrm>
                    <a:off x="16316" y="5391"/>
                    <a:ext cx="1701" cy="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sz="12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墓主身份考证</a:t>
                    </a:r>
                    <a:endParaRPr lang="zh-CN" sz="12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68" name="组合 167"/>
                <p:cNvGrpSpPr/>
                <p:nvPr/>
              </p:nvGrpSpPr>
              <p:grpSpPr>
                <a:xfrm>
                  <a:off x="10902" y="4642"/>
                  <a:ext cx="1709" cy="566"/>
                  <a:chOff x="16307" y="6946"/>
                  <a:chExt cx="1709" cy="566"/>
                </a:xfrm>
              </p:grpSpPr>
              <p:sp>
                <p:nvSpPr>
                  <p:cNvPr id="248" name="Rounded Rectangle 93"/>
                  <p:cNvSpPr/>
                  <p:nvPr/>
                </p:nvSpPr>
                <p:spPr>
                  <a:xfrm>
                    <a:off x="16316" y="6946"/>
                    <a:ext cx="1701" cy="567"/>
                  </a:xfrm>
                  <a:prstGeom prst="rect">
                    <a:avLst/>
                  </a:prstGeom>
                  <a:solidFill>
                    <a:srgbClr val="E3D9F4"/>
                  </a:solidFill>
                  <a:ln w="14514">
                    <a:solidFill>
                      <a:srgbClr val="B79FD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249" name="TextBox 94"/>
                  <p:cNvSpPr txBox="1"/>
                  <p:nvPr/>
                </p:nvSpPr>
                <p:spPr>
                  <a:xfrm>
                    <a:off x="16307" y="6992"/>
                    <a:ext cx="1701" cy="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en-US" alt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...</a:t>
                    </a:r>
                    <a:endParaRPr lang="en-US" altLang="zh-CN" sz="1400" b="0">
                      <a:solidFill>
                        <a:srgbClr val="432A63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162" name="组合 161"/>
                <p:cNvGrpSpPr/>
                <p:nvPr/>
              </p:nvGrpSpPr>
              <p:grpSpPr>
                <a:xfrm>
                  <a:off x="6193" y="5409"/>
                  <a:ext cx="6501" cy="1438"/>
                  <a:chOff x="5546" y="5826"/>
                  <a:chExt cx="6501" cy="1438"/>
                </a:xfrm>
              </p:grpSpPr>
              <p:grpSp>
                <p:nvGrpSpPr>
                  <p:cNvPr id="153" name="组合 152"/>
                  <p:cNvGrpSpPr/>
                  <p:nvPr/>
                </p:nvGrpSpPr>
                <p:grpSpPr>
                  <a:xfrm>
                    <a:off x="5546" y="5848"/>
                    <a:ext cx="3208" cy="1416"/>
                    <a:chOff x="5546" y="5848"/>
                    <a:chExt cx="3208" cy="1416"/>
                  </a:xfrm>
                </p:grpSpPr>
                <p:sp>
                  <p:nvSpPr>
                    <p:cNvPr id="203" name="矩形 202"/>
                    <p:cNvSpPr/>
                    <p:nvPr/>
                  </p:nvSpPr>
                  <p:spPr>
                    <a:xfrm>
                      <a:off x="5546" y="5848"/>
                      <a:ext cx="3209" cy="141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dash"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Overflow="overflow" horzOverflow="overflow" vert="horz" wrap="square" numCol="1" spcCol="0" rtlCol="0" fromWordArt="0" anchor="ctr" anchorCtr="0" forceAA="0" compatLnSpc="1">
                      <a:noAutofit/>
                    </a:bodyPr>
                    <a:lstStyle/>
                    <a:p>
                      <a:pPr lvl="0" algn="ctr">
                        <a:buClrTx/>
                        <a:buSzTx/>
                        <a:buFontTx/>
                      </a:pPr>
                      <a:endParaRPr>
                        <a:sym typeface="+mn-ea"/>
                      </a:endParaRPr>
                    </a:p>
                  </p:txBody>
                </p:sp>
                <p:sp>
                  <p:nvSpPr>
                    <p:cNvPr id="174" name="Rounded Rectangle 93"/>
                    <p:cNvSpPr/>
                    <p:nvPr/>
                  </p:nvSpPr>
                  <p:spPr>
                    <a:xfrm>
                      <a:off x="6414" y="6608"/>
                      <a:ext cx="2268" cy="567"/>
                    </a:xfrm>
                    <a:prstGeom prst="rect">
                      <a:avLst/>
                    </a:prstGeom>
                    <a:solidFill>
                      <a:srgbClr val="E3D9F4"/>
                    </a:solidFill>
                    <a:ln w="14514">
                      <a:solidFill>
                        <a:srgbClr val="B79FDC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75" name="TextBox 94"/>
                    <p:cNvSpPr txBox="1"/>
                    <p:nvPr/>
                  </p:nvSpPr>
                  <p:spPr>
                    <a:xfrm>
                      <a:off x="6566" y="6640"/>
                      <a:ext cx="1984" cy="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zh-CN" sz="1400" b="0">
                          <a:solidFill>
                            <a:srgbClr val="43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多模态模型</a:t>
                      </a:r>
                      <a:endParaRPr 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204" name="文本框 203"/>
                    <p:cNvSpPr txBox="1"/>
                    <p:nvPr/>
                  </p:nvSpPr>
                  <p:spPr>
                    <a:xfrm>
                      <a:off x="5574" y="6106"/>
                      <a:ext cx="992" cy="9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p>
                      <a:r>
                        <a:rPr lang="zh-CN" altLang="en-US" sz="15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基座模型</a:t>
                      </a:r>
                      <a:endParaRPr lang="zh-CN" altLang="en-US" sz="15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209" name="Rounded Rectangle 93"/>
                    <p:cNvSpPr/>
                    <p:nvPr/>
                  </p:nvSpPr>
                  <p:spPr>
                    <a:xfrm>
                      <a:off x="6414" y="5937"/>
                      <a:ext cx="2268" cy="567"/>
                    </a:xfrm>
                    <a:prstGeom prst="rect">
                      <a:avLst/>
                    </a:prstGeom>
                    <a:solidFill>
                      <a:srgbClr val="E3D9F4"/>
                    </a:solidFill>
                    <a:ln w="14514">
                      <a:solidFill>
                        <a:srgbClr val="B79FDC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210" name="TextBox 94"/>
                    <p:cNvSpPr txBox="1"/>
                    <p:nvPr/>
                  </p:nvSpPr>
                  <p:spPr>
                    <a:xfrm>
                      <a:off x="6566" y="6005"/>
                      <a:ext cx="1984" cy="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zh-CN" sz="1400" b="0">
                          <a:solidFill>
                            <a:srgbClr val="43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大语言模型</a:t>
                      </a:r>
                      <a:endParaRPr 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</p:grpSp>
              <p:grpSp>
                <p:nvGrpSpPr>
                  <p:cNvPr id="155" name="组合 154"/>
                  <p:cNvGrpSpPr/>
                  <p:nvPr/>
                </p:nvGrpSpPr>
                <p:grpSpPr>
                  <a:xfrm>
                    <a:off x="8839" y="5826"/>
                    <a:ext cx="3208" cy="1416"/>
                    <a:chOff x="5546" y="5848"/>
                    <a:chExt cx="3208" cy="1416"/>
                  </a:xfrm>
                </p:grpSpPr>
                <p:sp>
                  <p:nvSpPr>
                    <p:cNvPr id="156" name="矩形 155"/>
                    <p:cNvSpPr/>
                    <p:nvPr/>
                  </p:nvSpPr>
                  <p:spPr>
                    <a:xfrm>
                      <a:off x="5546" y="5848"/>
                      <a:ext cx="3209" cy="141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dash"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Overflow="overflow" horzOverflow="overflow" vert="horz" wrap="square" numCol="1" spcCol="0" rtlCol="0" fromWordArt="0" anchor="ctr" anchorCtr="0" forceAA="0" compatLnSpc="1">
                      <a:noAutofit/>
                    </a:bodyPr>
                    <a:lstStyle/>
                    <a:p>
                      <a:pPr lvl="0" algn="ctr">
                        <a:buClrTx/>
                        <a:buSzTx/>
                        <a:buFontTx/>
                      </a:pPr>
                      <a:endParaRPr>
                        <a:sym typeface="+mn-ea"/>
                      </a:endParaRPr>
                    </a:p>
                  </p:txBody>
                </p:sp>
                <p:sp>
                  <p:nvSpPr>
                    <p:cNvPr id="157" name="Rounded Rectangle 93"/>
                    <p:cNvSpPr/>
                    <p:nvPr/>
                  </p:nvSpPr>
                  <p:spPr>
                    <a:xfrm>
                      <a:off x="6414" y="6608"/>
                      <a:ext cx="2268" cy="567"/>
                    </a:xfrm>
                    <a:prstGeom prst="rect">
                      <a:avLst/>
                    </a:prstGeom>
                    <a:solidFill>
                      <a:srgbClr val="E3D9F4"/>
                    </a:solidFill>
                    <a:ln w="14514">
                      <a:solidFill>
                        <a:srgbClr val="B79FDC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58" name="TextBox 94"/>
                    <p:cNvSpPr txBox="1"/>
                    <p:nvPr/>
                  </p:nvSpPr>
                  <p:spPr>
                    <a:xfrm>
                      <a:off x="6566" y="6640"/>
                      <a:ext cx="1984" cy="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zh-CN" sz="1400" b="0">
                          <a:solidFill>
                            <a:srgbClr val="43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考古多模态模型</a:t>
                      </a:r>
                      <a:endParaRPr 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159" name="文本框 158"/>
                    <p:cNvSpPr txBox="1"/>
                    <p:nvPr/>
                  </p:nvSpPr>
                  <p:spPr>
                    <a:xfrm>
                      <a:off x="5574" y="6106"/>
                      <a:ext cx="992" cy="9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p>
                      <a:r>
                        <a:rPr lang="zh-CN" altLang="en-US" sz="15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领域模型</a:t>
                      </a:r>
                      <a:endParaRPr lang="zh-CN" altLang="en-US" sz="15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  <p:sp>
                  <p:nvSpPr>
                    <p:cNvPr id="160" name="Rounded Rectangle 93"/>
                    <p:cNvSpPr/>
                    <p:nvPr/>
                  </p:nvSpPr>
                  <p:spPr>
                    <a:xfrm>
                      <a:off x="6414" y="5937"/>
                      <a:ext cx="2268" cy="567"/>
                    </a:xfrm>
                    <a:prstGeom prst="rect">
                      <a:avLst/>
                    </a:prstGeom>
                    <a:solidFill>
                      <a:srgbClr val="E3D9F4"/>
                    </a:solidFill>
                    <a:ln w="14514">
                      <a:solidFill>
                        <a:srgbClr val="B79FDC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61" name="TextBox 94"/>
                    <p:cNvSpPr txBox="1"/>
                    <p:nvPr/>
                  </p:nvSpPr>
                  <p:spPr>
                    <a:xfrm>
                      <a:off x="6566" y="6005"/>
                      <a:ext cx="1984" cy="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lang="zh-CN" sz="1400" b="0">
                          <a:solidFill>
                            <a:srgbClr val="432A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考古大语言模型</a:t>
                      </a:r>
                      <a:endParaRPr lang="zh-CN" sz="1400" b="0">
                        <a:solidFill>
                          <a:srgbClr val="432A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362" name="组合 361"/>
            <p:cNvGrpSpPr/>
            <p:nvPr/>
          </p:nvGrpSpPr>
          <p:grpSpPr>
            <a:xfrm>
              <a:off x="823" y="4366"/>
              <a:ext cx="27908" cy="4228"/>
              <a:chOff x="823" y="7896"/>
              <a:chExt cx="23447" cy="3130"/>
            </a:xfrm>
          </p:grpSpPr>
          <p:grpSp>
            <p:nvGrpSpPr>
              <p:cNvPr id="275" name="组合 274"/>
              <p:cNvGrpSpPr/>
              <p:nvPr/>
            </p:nvGrpSpPr>
            <p:grpSpPr>
              <a:xfrm>
                <a:off x="823" y="7900"/>
                <a:ext cx="2093" cy="3118"/>
                <a:chOff x="823" y="7856"/>
                <a:chExt cx="2093" cy="3118"/>
              </a:xfrm>
            </p:grpSpPr>
            <p:sp>
              <p:nvSpPr>
                <p:cNvPr id="176" name="Rounded Rectangle 5"/>
                <p:cNvSpPr/>
                <p:nvPr/>
              </p:nvSpPr>
              <p:spPr>
                <a:xfrm>
                  <a:off x="893" y="7856"/>
                  <a:ext cx="2023" cy="3118"/>
                </a:xfrm>
                <a:prstGeom prst="roundRect">
                  <a:avLst>
                    <a:gd name="adj" fmla="val 10169"/>
                  </a:avLst>
                </a:prstGeom>
                <a:solidFill>
                  <a:srgbClr val="E9F1FA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177" name="TextBox 6"/>
                <p:cNvSpPr txBox="1"/>
                <p:nvPr/>
              </p:nvSpPr>
              <p:spPr>
                <a:xfrm>
                  <a:off x="823" y="8615"/>
                  <a:ext cx="2023" cy="5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sz="3000" b="1">
                      <a:solidFill>
                        <a:srgbClr val="2E6DB4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1</a:t>
                  </a:r>
                  <a:endParaRPr sz="3000" b="1">
                    <a:solidFill>
                      <a:srgbClr val="2E6DB4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8" name="TextBox 7"/>
                <p:cNvSpPr txBox="1"/>
                <p:nvPr/>
              </p:nvSpPr>
              <p:spPr>
                <a:xfrm>
                  <a:off x="823" y="9381"/>
                  <a:ext cx="2023" cy="32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b="1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应用工程</a:t>
                  </a:r>
                  <a:endParaRPr b="1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9" name="TextBox 8"/>
                <p:cNvSpPr txBox="1"/>
                <p:nvPr/>
              </p:nvSpPr>
              <p:spPr>
                <a:xfrm>
                  <a:off x="823" y="9893"/>
                  <a:ext cx="2023" cy="2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sz="1200" b="0">
                      <a:solidFill>
                        <a:srgbClr val="2E6DB4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考古场景应用</a:t>
                  </a:r>
                  <a:endParaRPr lang="zh-CN" sz="1200" b="0">
                    <a:solidFill>
                      <a:srgbClr val="2E6DB4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80" name="Rounded Rectangle 9"/>
              <p:cNvSpPr/>
              <p:nvPr/>
            </p:nvSpPr>
            <p:spPr>
              <a:xfrm>
                <a:off x="3147" y="7907"/>
                <a:ext cx="21123" cy="3119"/>
              </a:xfrm>
              <a:prstGeom prst="roundRect">
                <a:avLst>
                  <a:gd name="adj" fmla="val 4690"/>
                </a:avLst>
              </a:prstGeom>
              <a:solidFill>
                <a:srgbClr val="FFFFFF"/>
              </a:solidFill>
              <a:ln w="14514">
                <a:solidFill>
                  <a:srgbClr val="9FC2E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ounded Rectangle 10"/>
              <p:cNvSpPr/>
              <p:nvPr/>
            </p:nvSpPr>
            <p:spPr>
              <a:xfrm>
                <a:off x="3134" y="7896"/>
                <a:ext cx="103" cy="3118"/>
              </a:xfrm>
              <a:prstGeom prst="rect">
                <a:avLst/>
              </a:prstGeom>
              <a:solidFill>
                <a:srgbClr val="2E6DB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3356" y="10057"/>
                <a:ext cx="17574" cy="837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>
                  <a:sym typeface="+mn-ea"/>
                </a:endParaRPr>
              </a:p>
            </p:txBody>
          </p:sp>
          <p:sp>
            <p:nvSpPr>
              <p:cNvPr id="258" name="TextBox 64"/>
              <p:cNvSpPr txBox="1"/>
              <p:nvPr/>
            </p:nvSpPr>
            <p:spPr>
              <a:xfrm>
                <a:off x="3377" y="10115"/>
                <a:ext cx="907" cy="64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基础</a:t>
                </a:r>
                <a:endParaRPr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>
                  <a:buNone/>
                </a:pPr>
                <a:r>
                  <a:rPr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能力层</a:t>
                </a:r>
                <a:endParaRPr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80" name="组合 279"/>
              <p:cNvGrpSpPr/>
              <p:nvPr/>
            </p:nvGrpSpPr>
            <p:grpSpPr>
              <a:xfrm rot="0">
                <a:off x="4413" y="10187"/>
                <a:ext cx="3685" cy="567"/>
                <a:chOff x="2800" y="6021"/>
                <a:chExt cx="2268" cy="567"/>
              </a:xfrm>
            </p:grpSpPr>
            <p:sp>
              <p:nvSpPr>
                <p:cNvPr id="259" name="Rounded Rectangle 65"/>
                <p:cNvSpPr/>
                <p:nvPr/>
              </p:nvSpPr>
              <p:spPr>
                <a:xfrm>
                  <a:off x="2800" y="6021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60" name="TextBox 66"/>
                <p:cNvSpPr txBox="1"/>
                <p:nvPr/>
              </p:nvSpPr>
              <p:spPr>
                <a:xfrm>
                  <a:off x="2800" y="6162"/>
                  <a:ext cx="2268" cy="25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模型</a:t>
                  </a:r>
                  <a:r>
                    <a:rPr lang="zh-CN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路由</a:t>
                  </a:r>
                  <a:endParaRPr lang="zh-CN"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77" name="组合 276"/>
              <p:cNvGrpSpPr/>
              <p:nvPr/>
            </p:nvGrpSpPr>
            <p:grpSpPr>
              <a:xfrm rot="0">
                <a:off x="8653" y="10187"/>
                <a:ext cx="3685" cy="566"/>
                <a:chOff x="10449" y="5977"/>
                <a:chExt cx="2268" cy="566"/>
              </a:xfrm>
            </p:grpSpPr>
            <p:sp>
              <p:nvSpPr>
                <p:cNvPr id="261" name="Rounded Rectangle 67"/>
                <p:cNvSpPr/>
                <p:nvPr/>
              </p:nvSpPr>
              <p:spPr>
                <a:xfrm>
                  <a:off x="10449" y="5977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62" name="TextBox 68"/>
                <p:cNvSpPr txBox="1"/>
                <p:nvPr/>
              </p:nvSpPr>
              <p:spPr>
                <a:xfrm>
                  <a:off x="10449" y="5977"/>
                  <a:ext cx="226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知识库</a:t>
                  </a:r>
                  <a:r>
                    <a:rPr sz="12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检索</a:t>
                  </a:r>
                  <a:endParaRPr sz="12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78" name="组合 277"/>
              <p:cNvGrpSpPr/>
              <p:nvPr/>
            </p:nvGrpSpPr>
            <p:grpSpPr>
              <a:xfrm rot="0">
                <a:off x="12893" y="10187"/>
                <a:ext cx="3685" cy="566"/>
                <a:chOff x="18097" y="5977"/>
                <a:chExt cx="2268" cy="566"/>
              </a:xfrm>
            </p:grpSpPr>
            <p:sp>
              <p:nvSpPr>
                <p:cNvPr id="263" name="Rounded Rectangle 69"/>
                <p:cNvSpPr/>
                <p:nvPr/>
              </p:nvSpPr>
              <p:spPr>
                <a:xfrm>
                  <a:off x="18097" y="5977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64" name="TextBox 70"/>
                <p:cNvSpPr txBox="1"/>
                <p:nvPr/>
              </p:nvSpPr>
              <p:spPr>
                <a:xfrm>
                  <a:off x="18097" y="5977"/>
                  <a:ext cx="226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工具调用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79" name="组合 278"/>
              <p:cNvGrpSpPr/>
              <p:nvPr/>
            </p:nvGrpSpPr>
            <p:grpSpPr>
              <a:xfrm rot="0">
                <a:off x="17133" y="10187"/>
                <a:ext cx="3685" cy="566"/>
                <a:chOff x="25746" y="5977"/>
                <a:chExt cx="2268" cy="566"/>
              </a:xfrm>
            </p:grpSpPr>
            <p:sp>
              <p:nvSpPr>
                <p:cNvPr id="265" name="Rounded Rectangle 71"/>
                <p:cNvSpPr/>
                <p:nvPr/>
              </p:nvSpPr>
              <p:spPr>
                <a:xfrm>
                  <a:off x="25746" y="5977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68" name="TextBox 72"/>
                <p:cNvSpPr txBox="1"/>
                <p:nvPr/>
              </p:nvSpPr>
              <p:spPr>
                <a:xfrm>
                  <a:off x="25746" y="5977"/>
                  <a:ext cx="226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记忆管理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283" name="矩形 282"/>
              <p:cNvSpPr/>
              <p:nvPr/>
            </p:nvSpPr>
            <p:spPr>
              <a:xfrm>
                <a:off x="3355" y="9097"/>
                <a:ext cx="17574" cy="837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>
                  <a:sym typeface="+mn-ea"/>
                </a:endParaRPr>
              </a:p>
            </p:txBody>
          </p:sp>
          <p:sp>
            <p:nvSpPr>
              <p:cNvPr id="284" name="TextBox 64"/>
              <p:cNvSpPr txBox="1"/>
              <p:nvPr/>
            </p:nvSpPr>
            <p:spPr>
              <a:xfrm>
                <a:off x="3398" y="9155"/>
                <a:ext cx="907" cy="63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认知</a:t>
                </a:r>
                <a:endParaRPr lang="zh-CN"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>
                  <a:buNone/>
                </a:pPr>
                <a:r>
                  <a: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编排</a:t>
                </a:r>
                <a:r>
                  <a:rPr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层</a:t>
                </a:r>
                <a:endParaRPr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85" name="组合 284"/>
              <p:cNvGrpSpPr/>
              <p:nvPr/>
            </p:nvGrpSpPr>
            <p:grpSpPr>
              <a:xfrm rot="0">
                <a:off x="4412" y="9227"/>
                <a:ext cx="3685" cy="567"/>
                <a:chOff x="2800" y="6021"/>
                <a:chExt cx="2268" cy="567"/>
              </a:xfrm>
            </p:grpSpPr>
            <p:sp>
              <p:nvSpPr>
                <p:cNvPr id="286" name="Rounded Rectangle 65"/>
                <p:cNvSpPr/>
                <p:nvPr/>
              </p:nvSpPr>
              <p:spPr>
                <a:xfrm>
                  <a:off x="2800" y="6021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87" name="TextBox 66"/>
                <p:cNvSpPr txBox="1"/>
                <p:nvPr/>
              </p:nvSpPr>
              <p:spPr>
                <a:xfrm>
                  <a:off x="2800" y="6162"/>
                  <a:ext cx="2268" cy="25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规划与反思</a:t>
                  </a:r>
                  <a:endParaRPr lang="zh-CN"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88" name="组合 287"/>
              <p:cNvGrpSpPr/>
              <p:nvPr/>
            </p:nvGrpSpPr>
            <p:grpSpPr>
              <a:xfrm rot="0">
                <a:off x="8652" y="9227"/>
                <a:ext cx="3685" cy="566"/>
                <a:chOff x="10449" y="5977"/>
                <a:chExt cx="2268" cy="566"/>
              </a:xfrm>
            </p:grpSpPr>
            <p:sp>
              <p:nvSpPr>
                <p:cNvPr id="289" name="Rounded Rectangle 67"/>
                <p:cNvSpPr/>
                <p:nvPr/>
              </p:nvSpPr>
              <p:spPr>
                <a:xfrm>
                  <a:off x="10449" y="5977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90" name="TextBox 68"/>
                <p:cNvSpPr txBox="1"/>
                <p:nvPr/>
              </p:nvSpPr>
              <p:spPr>
                <a:xfrm>
                  <a:off x="10449" y="5977"/>
                  <a:ext cx="226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多智能体协同</a:t>
                  </a:r>
                  <a:endParaRPr lang="zh-CN"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91" name="组合 290"/>
              <p:cNvGrpSpPr/>
              <p:nvPr/>
            </p:nvGrpSpPr>
            <p:grpSpPr>
              <a:xfrm rot="0">
                <a:off x="12892" y="9227"/>
                <a:ext cx="3685" cy="566"/>
                <a:chOff x="18097" y="5977"/>
                <a:chExt cx="2268" cy="566"/>
              </a:xfrm>
            </p:grpSpPr>
            <p:sp>
              <p:nvSpPr>
                <p:cNvPr id="292" name="Rounded Rectangle 69"/>
                <p:cNvSpPr/>
                <p:nvPr/>
              </p:nvSpPr>
              <p:spPr>
                <a:xfrm>
                  <a:off x="18097" y="5977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293" name="TextBox 70"/>
                <p:cNvSpPr txBox="1"/>
                <p:nvPr/>
              </p:nvSpPr>
              <p:spPr>
                <a:xfrm>
                  <a:off x="18097" y="5977"/>
                  <a:ext cx="226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zh-CN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工作流编排</a:t>
                  </a:r>
                  <a:endParaRPr lang="zh-CN"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94" name="组合 293"/>
              <p:cNvGrpSpPr/>
              <p:nvPr/>
            </p:nvGrpSpPr>
            <p:grpSpPr>
              <a:xfrm rot="0">
                <a:off x="17132" y="9227"/>
                <a:ext cx="3685" cy="566"/>
                <a:chOff x="25746" y="5977"/>
                <a:chExt cx="2268" cy="566"/>
              </a:xfrm>
            </p:grpSpPr>
            <p:sp>
              <p:nvSpPr>
                <p:cNvPr id="295" name="Rounded Rectangle 71"/>
                <p:cNvSpPr/>
                <p:nvPr/>
              </p:nvSpPr>
              <p:spPr>
                <a:xfrm>
                  <a:off x="25746" y="5977"/>
                  <a:ext cx="2268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00" name="TextBox 72"/>
                <p:cNvSpPr txBox="1"/>
                <p:nvPr/>
              </p:nvSpPr>
              <p:spPr>
                <a:xfrm>
                  <a:off x="25746" y="5977"/>
                  <a:ext cx="2268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RAG</a:t>
                  </a:r>
                  <a:r>
                    <a:rPr lang="zh-CN" altLang="en-US" sz="12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引擎</a:t>
                  </a:r>
                  <a:endParaRPr lang="zh-CN" altLang="en-US" sz="12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302" name="矩形 301"/>
              <p:cNvSpPr/>
              <p:nvPr/>
            </p:nvSpPr>
            <p:spPr>
              <a:xfrm>
                <a:off x="3315" y="8095"/>
                <a:ext cx="17574" cy="837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>
                  <a:sym typeface="+mn-ea"/>
                </a:endParaRPr>
              </a:p>
            </p:txBody>
          </p:sp>
          <p:sp>
            <p:nvSpPr>
              <p:cNvPr id="303" name="TextBox 64"/>
              <p:cNvSpPr txBox="1"/>
              <p:nvPr/>
            </p:nvSpPr>
            <p:spPr>
              <a:xfrm>
                <a:off x="3326" y="8153"/>
                <a:ext cx="953" cy="64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业务智能体</a:t>
                </a:r>
                <a:r>
                  <a:rPr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层</a:t>
                </a:r>
                <a:endParaRPr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317" name="组合 316"/>
              <p:cNvGrpSpPr/>
              <p:nvPr/>
            </p:nvGrpSpPr>
            <p:grpSpPr>
              <a:xfrm rot="0">
                <a:off x="4387" y="8206"/>
                <a:ext cx="1737" cy="566"/>
                <a:chOff x="11428" y="5332"/>
                <a:chExt cx="1737" cy="566"/>
              </a:xfrm>
            </p:grpSpPr>
            <p:sp>
              <p:nvSpPr>
                <p:cNvPr id="183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184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器物</a:t>
                  </a: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类型学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研究智能体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18" name="组合 317"/>
              <p:cNvGrpSpPr/>
              <p:nvPr/>
            </p:nvGrpSpPr>
            <p:grpSpPr>
              <a:xfrm rot="0">
                <a:off x="6223" y="8206"/>
                <a:ext cx="1737" cy="566"/>
                <a:chOff x="11428" y="5332"/>
                <a:chExt cx="1737" cy="566"/>
              </a:xfrm>
            </p:grpSpPr>
            <p:sp>
              <p:nvSpPr>
                <p:cNvPr id="319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20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遗址分期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研究智能体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321" name="组合 320"/>
              <p:cNvGrpSpPr/>
              <p:nvPr/>
            </p:nvGrpSpPr>
            <p:grpSpPr>
              <a:xfrm rot="0">
                <a:off x="8059" y="8206"/>
                <a:ext cx="1737" cy="566"/>
                <a:chOff x="11428" y="5332"/>
                <a:chExt cx="1737" cy="566"/>
              </a:xfrm>
            </p:grpSpPr>
            <p:sp>
              <p:nvSpPr>
                <p:cNvPr id="322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23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文化因素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分析智能体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324" name="组合 323"/>
              <p:cNvGrpSpPr/>
              <p:nvPr/>
            </p:nvGrpSpPr>
            <p:grpSpPr>
              <a:xfrm rot="0">
                <a:off x="9895" y="8206"/>
                <a:ext cx="1737" cy="566"/>
                <a:chOff x="11428" y="5332"/>
                <a:chExt cx="1737" cy="566"/>
              </a:xfrm>
            </p:grpSpPr>
            <p:sp>
              <p:nvSpPr>
                <p:cNvPr id="325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26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2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聚落形态</a:t>
                  </a:r>
                  <a:endParaRPr sz="12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2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研究智能体</a:t>
                  </a:r>
                  <a:endParaRPr sz="12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27" name="组合 326"/>
              <p:cNvGrpSpPr/>
              <p:nvPr/>
            </p:nvGrpSpPr>
            <p:grpSpPr>
              <a:xfrm rot="0">
                <a:off x="11731" y="8206"/>
                <a:ext cx="1737" cy="566"/>
                <a:chOff x="11428" y="5332"/>
                <a:chExt cx="1737" cy="566"/>
              </a:xfrm>
            </p:grpSpPr>
            <p:sp>
              <p:nvSpPr>
                <p:cNvPr id="328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29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文献考证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330" name="组合 329"/>
              <p:cNvGrpSpPr/>
              <p:nvPr/>
            </p:nvGrpSpPr>
            <p:grpSpPr>
              <a:xfrm rot="0">
                <a:off x="13567" y="8206"/>
                <a:ext cx="1737" cy="566"/>
                <a:chOff x="11428" y="5332"/>
                <a:chExt cx="1737" cy="566"/>
              </a:xfrm>
            </p:grpSpPr>
            <p:sp>
              <p:nvSpPr>
                <p:cNvPr id="331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32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墓葬研究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334" name="组合 333"/>
              <p:cNvGrpSpPr/>
              <p:nvPr/>
            </p:nvGrpSpPr>
            <p:grpSpPr>
              <a:xfrm rot="0">
                <a:off x="15403" y="8206"/>
                <a:ext cx="1737" cy="566"/>
                <a:chOff x="11428" y="5332"/>
                <a:chExt cx="1737" cy="566"/>
              </a:xfrm>
            </p:grpSpPr>
            <p:sp>
              <p:nvSpPr>
                <p:cNvPr id="335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36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科技考古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337" name="组合 336"/>
              <p:cNvGrpSpPr/>
              <p:nvPr/>
            </p:nvGrpSpPr>
            <p:grpSpPr>
              <a:xfrm rot="0">
                <a:off x="17239" y="8206"/>
                <a:ext cx="1737" cy="566"/>
                <a:chOff x="11428" y="5332"/>
                <a:chExt cx="1737" cy="566"/>
              </a:xfrm>
            </p:grpSpPr>
            <p:sp>
              <p:nvSpPr>
                <p:cNvPr id="338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39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报告</a:t>
                  </a: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整理与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lang="zh-CN"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审校</a:t>
                  </a: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40" name="组合 339"/>
              <p:cNvGrpSpPr/>
              <p:nvPr/>
            </p:nvGrpSpPr>
            <p:grpSpPr>
              <a:xfrm rot="0">
                <a:off x="19075" y="8206"/>
                <a:ext cx="1737" cy="566"/>
                <a:chOff x="11428" y="5332"/>
                <a:chExt cx="1737" cy="566"/>
              </a:xfrm>
            </p:grpSpPr>
            <p:sp>
              <p:nvSpPr>
                <p:cNvPr id="341" name="Rounded Rectangle 30"/>
                <p:cNvSpPr/>
                <p:nvPr/>
              </p:nvSpPr>
              <p:spPr>
                <a:xfrm>
                  <a:off x="11465" y="5332"/>
                  <a:ext cx="1701" cy="567"/>
                </a:xfrm>
                <a:prstGeom prst="rect">
                  <a:avLst/>
                </a:prstGeom>
                <a:solidFill>
                  <a:srgbClr val="D6E6F7"/>
                </a:solidFill>
                <a:ln w="14514">
                  <a:solidFill>
                    <a:srgbClr val="9FC2E6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342" name="TextBox 31"/>
                <p:cNvSpPr txBox="1"/>
                <p:nvPr/>
              </p:nvSpPr>
              <p:spPr>
                <a:xfrm>
                  <a:off x="11428" y="5332"/>
                  <a:ext cx="1701" cy="5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知识问答与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  <a:p>
                  <a:pPr algn="ctr">
                    <a:lnSpc>
                      <a:spcPct val="93000"/>
                    </a:lnSpc>
                    <a:buNone/>
                  </a:pPr>
                  <a:r>
                    <a:rPr sz="140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学术检索智能体</a:t>
                  </a:r>
                  <a:endParaRPr sz="1400" b="0">
                    <a:solidFill>
                      <a:srgbClr val="12395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361" name="组合 360"/>
              <p:cNvGrpSpPr/>
              <p:nvPr/>
            </p:nvGrpSpPr>
            <p:grpSpPr>
              <a:xfrm>
                <a:off x="21164" y="8051"/>
                <a:ext cx="2835" cy="2806"/>
                <a:chOff x="27050" y="6126"/>
                <a:chExt cx="2835" cy="2806"/>
              </a:xfrm>
            </p:grpSpPr>
            <p:sp>
              <p:nvSpPr>
                <p:cNvPr id="344" name="矩形 343"/>
                <p:cNvSpPr/>
                <p:nvPr/>
              </p:nvSpPr>
              <p:spPr>
                <a:xfrm>
                  <a:off x="27050" y="6126"/>
                  <a:ext cx="2835" cy="2806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345" name="文本框 344"/>
                <p:cNvSpPr txBox="1"/>
                <p:nvPr/>
              </p:nvSpPr>
              <p:spPr>
                <a:xfrm>
                  <a:off x="27362" y="6198"/>
                  <a:ext cx="2154" cy="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500" b="1">
                      <a:latin typeface="微软雅黑" panose="020B0503020204020204" charset="-122"/>
                      <a:ea typeface="微软雅黑" panose="020B0503020204020204" charset="-122"/>
                    </a:rPr>
                    <a:t>应用可观测</a:t>
                  </a:r>
                  <a:endParaRPr lang="zh-CN" altLang="en-US" sz="15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351" name="组合 350"/>
                <p:cNvGrpSpPr/>
                <p:nvPr/>
              </p:nvGrpSpPr>
              <p:grpSpPr>
                <a:xfrm>
                  <a:off x="27225" y="8370"/>
                  <a:ext cx="2550" cy="481"/>
                  <a:chOff x="22389" y="4171"/>
                  <a:chExt cx="2550" cy="566"/>
                </a:xfrm>
              </p:grpSpPr>
              <p:sp>
                <p:nvSpPr>
                  <p:cNvPr id="350" name="Rounded Rectangle 49"/>
                  <p:cNvSpPr/>
                  <p:nvPr/>
                </p:nvSpPr>
                <p:spPr>
                  <a:xfrm>
                    <a:off x="22389" y="4171"/>
                    <a:ext cx="2551" cy="567"/>
                  </a:xfrm>
                  <a:prstGeom prst="rect">
                    <a:avLst/>
                  </a:prstGeom>
                  <a:solidFill>
                    <a:srgbClr val="D6E6F7"/>
                  </a:solidFill>
                  <a:ln w="14514">
                    <a:solidFill>
                      <a:srgbClr val="9FC2E6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349" name="TextBox 50"/>
                  <p:cNvSpPr txBox="1"/>
                  <p:nvPr/>
                </p:nvSpPr>
                <p:spPr>
                  <a:xfrm>
                    <a:off x="22584" y="4171"/>
                    <a:ext cx="2268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12395F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全链路追踪</a:t>
                    </a:r>
                    <a:endParaRPr lang="zh-CN" altLang="en-US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352" name="组合 351"/>
                <p:cNvGrpSpPr/>
                <p:nvPr/>
              </p:nvGrpSpPr>
              <p:grpSpPr>
                <a:xfrm>
                  <a:off x="27225" y="7794"/>
                  <a:ext cx="2550" cy="481"/>
                  <a:chOff x="22389" y="4171"/>
                  <a:chExt cx="2550" cy="566"/>
                </a:xfrm>
              </p:grpSpPr>
              <p:sp>
                <p:nvSpPr>
                  <p:cNvPr id="353" name="Rounded Rectangle 49"/>
                  <p:cNvSpPr/>
                  <p:nvPr/>
                </p:nvSpPr>
                <p:spPr>
                  <a:xfrm>
                    <a:off x="22389" y="4171"/>
                    <a:ext cx="2551" cy="567"/>
                  </a:xfrm>
                  <a:prstGeom prst="rect">
                    <a:avLst/>
                  </a:prstGeom>
                  <a:solidFill>
                    <a:srgbClr val="D6E6F7"/>
                  </a:solidFill>
                  <a:ln w="14514">
                    <a:solidFill>
                      <a:srgbClr val="9FC2E6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354" name="TextBox 50"/>
                  <p:cNvSpPr txBox="1"/>
                  <p:nvPr/>
                </p:nvSpPr>
                <p:spPr>
                  <a:xfrm>
                    <a:off x="22584" y="4171"/>
                    <a:ext cx="2268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12395F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成本监控</a:t>
                    </a:r>
                    <a:endParaRPr lang="zh-CN" altLang="en-US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355" name="组合 354"/>
                <p:cNvGrpSpPr/>
                <p:nvPr/>
              </p:nvGrpSpPr>
              <p:grpSpPr>
                <a:xfrm>
                  <a:off x="27225" y="7218"/>
                  <a:ext cx="2550" cy="481"/>
                  <a:chOff x="22389" y="4171"/>
                  <a:chExt cx="2550" cy="566"/>
                </a:xfrm>
              </p:grpSpPr>
              <p:sp>
                <p:nvSpPr>
                  <p:cNvPr id="356" name="Rounded Rectangle 49"/>
                  <p:cNvSpPr/>
                  <p:nvPr/>
                </p:nvSpPr>
                <p:spPr>
                  <a:xfrm>
                    <a:off x="22389" y="4171"/>
                    <a:ext cx="2551" cy="567"/>
                  </a:xfrm>
                  <a:prstGeom prst="rect">
                    <a:avLst/>
                  </a:prstGeom>
                  <a:solidFill>
                    <a:srgbClr val="D6E6F7"/>
                  </a:solidFill>
                  <a:ln w="14514">
                    <a:solidFill>
                      <a:srgbClr val="9FC2E6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357" name="TextBox 50"/>
                  <p:cNvSpPr txBox="1"/>
                  <p:nvPr/>
                </p:nvSpPr>
                <p:spPr>
                  <a:xfrm>
                    <a:off x="22584" y="4171"/>
                    <a:ext cx="2268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12395F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编排可观测</a:t>
                    </a:r>
                    <a:endParaRPr lang="zh-CN" altLang="en-US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358" name="组合 357"/>
                <p:cNvGrpSpPr/>
                <p:nvPr/>
              </p:nvGrpSpPr>
              <p:grpSpPr>
                <a:xfrm>
                  <a:off x="27225" y="6641"/>
                  <a:ext cx="2550" cy="482"/>
                  <a:chOff x="22389" y="4171"/>
                  <a:chExt cx="2550" cy="566"/>
                </a:xfrm>
              </p:grpSpPr>
              <p:sp>
                <p:nvSpPr>
                  <p:cNvPr id="359" name="Rounded Rectangle 49"/>
                  <p:cNvSpPr/>
                  <p:nvPr/>
                </p:nvSpPr>
                <p:spPr>
                  <a:xfrm>
                    <a:off x="22389" y="4171"/>
                    <a:ext cx="2551" cy="567"/>
                  </a:xfrm>
                  <a:prstGeom prst="rect">
                    <a:avLst/>
                  </a:prstGeom>
                  <a:solidFill>
                    <a:srgbClr val="D6E6F7"/>
                  </a:solidFill>
                  <a:ln w="14514">
                    <a:solidFill>
                      <a:srgbClr val="9FC2E6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360" name="TextBox 50"/>
                  <p:cNvSpPr txBox="1"/>
                  <p:nvPr/>
                </p:nvSpPr>
                <p:spPr>
                  <a:xfrm>
                    <a:off x="22584" y="4171"/>
                    <a:ext cx="2268" cy="56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noAutofit/>
                  </a:bodyPr>
                  <a:lstStyle/>
                  <a:p>
                    <a:pPr algn="ctr">
                      <a:buNone/>
                    </a:pPr>
                    <a:r>
                      <a:rPr lang="zh-CN" altLang="en-US" sz="1400" b="0">
                        <a:solidFill>
                          <a:srgbClr val="12395F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业务效果评估</a:t>
                    </a:r>
                    <a:r>
                      <a:rPr lang="zh-CN" altLang="en-US" sz="1400" b="0">
                        <a:solidFill>
                          <a:srgbClr val="12395F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与监控</a:t>
                    </a:r>
                    <a:endParaRPr lang="zh-CN" altLang="en-US" sz="1400" b="0">
                      <a:solidFill>
                        <a:srgbClr val="12395F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</p:grpSp>
        <p:grpSp>
          <p:nvGrpSpPr>
            <p:cNvPr id="552" name="组合 551"/>
            <p:cNvGrpSpPr/>
            <p:nvPr/>
          </p:nvGrpSpPr>
          <p:grpSpPr>
            <a:xfrm>
              <a:off x="28918" y="4380"/>
              <a:ext cx="3443" cy="19692"/>
              <a:chOff x="28918" y="4380"/>
              <a:chExt cx="3443" cy="19692"/>
            </a:xfrm>
          </p:grpSpPr>
          <p:grpSp>
            <p:nvGrpSpPr>
              <p:cNvPr id="419" name="组合 418"/>
              <p:cNvGrpSpPr/>
              <p:nvPr/>
            </p:nvGrpSpPr>
            <p:grpSpPr>
              <a:xfrm>
                <a:off x="28952" y="6078"/>
                <a:ext cx="3400" cy="17994"/>
                <a:chOff x="28952" y="6078"/>
                <a:chExt cx="3409" cy="17994"/>
              </a:xfrm>
            </p:grpSpPr>
            <p:sp>
              <p:nvSpPr>
                <p:cNvPr id="400" name="Rounded Rectangle 198"/>
                <p:cNvSpPr/>
                <p:nvPr/>
              </p:nvSpPr>
              <p:spPr>
                <a:xfrm>
                  <a:off x="28959" y="6080"/>
                  <a:ext cx="3402" cy="17992"/>
                </a:xfrm>
                <a:prstGeom prst="roundRect">
                  <a:avLst>
                    <a:gd name="adj" fmla="val 6837"/>
                  </a:avLst>
                </a:prstGeom>
                <a:solidFill>
                  <a:schemeClr val="bg1"/>
                </a:solidFill>
                <a:ln w="14514">
                  <a:solidFill>
                    <a:srgbClr val="E3A79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  <p:sp>
              <p:nvSpPr>
                <p:cNvPr id="417" name="Rounded Rectangle 28"/>
                <p:cNvSpPr/>
                <p:nvPr/>
              </p:nvSpPr>
              <p:spPr>
                <a:xfrm rot="16200000">
                  <a:off x="30591" y="4439"/>
                  <a:ext cx="123" cy="340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51" name="组合 550"/>
              <p:cNvGrpSpPr/>
              <p:nvPr/>
            </p:nvGrpSpPr>
            <p:grpSpPr>
              <a:xfrm>
                <a:off x="28918" y="4380"/>
                <a:ext cx="3443" cy="1587"/>
                <a:chOff x="28918" y="4380"/>
                <a:chExt cx="3443" cy="1587"/>
              </a:xfrm>
            </p:grpSpPr>
            <p:sp>
              <p:nvSpPr>
                <p:cNvPr id="412" name="Rounded Rectangle 23"/>
                <p:cNvSpPr/>
                <p:nvPr/>
              </p:nvSpPr>
              <p:spPr>
                <a:xfrm>
                  <a:off x="28959" y="4380"/>
                  <a:ext cx="3402" cy="1587"/>
                </a:xfrm>
                <a:prstGeom prst="roundRect">
                  <a:avLst>
                    <a:gd name="adj" fmla="val 10169"/>
                  </a:avLst>
                </a:prstGeom>
                <a:solidFill>
                  <a:srgbClr val="FBE8E8"/>
                </a:solidFill>
                <a:ln w="14514">
                  <a:solidFill>
                    <a:srgbClr val="E3A79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414" name="TextBox 24"/>
                <p:cNvSpPr txBox="1"/>
                <p:nvPr/>
              </p:nvSpPr>
              <p:spPr>
                <a:xfrm>
                  <a:off x="28918" y="4764"/>
                  <a:ext cx="850" cy="7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3000" b="1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5</a:t>
                  </a:r>
                  <a:endParaRPr lang="en-US" sz="3000" b="1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15" name="TextBox 25"/>
                <p:cNvSpPr txBox="1"/>
                <p:nvPr/>
              </p:nvSpPr>
              <p:spPr>
                <a:xfrm>
                  <a:off x="29689" y="4746"/>
                  <a:ext cx="2408" cy="43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b="1">
                      <a:solidFill>
                        <a:schemeClr val="accent2">
                          <a:lumMod val="7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安全</a:t>
                  </a:r>
                  <a:r>
                    <a:rPr b="1">
                      <a:solidFill>
                        <a:schemeClr val="accent2">
                          <a:lumMod val="7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工程</a:t>
                  </a:r>
                  <a:endParaRPr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16" name="TextBox 26"/>
                <p:cNvSpPr txBox="1"/>
                <p:nvPr/>
              </p:nvSpPr>
              <p:spPr>
                <a:xfrm>
                  <a:off x="29456" y="5251"/>
                  <a:ext cx="2835" cy="51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ClrTx/>
                    <a:buSzTx/>
                    <a:buFontTx/>
                    <a:buNone/>
                  </a:pPr>
                  <a:r>
                    <a:rPr lang="zh-CN" sz="1200">
                      <a:solidFill>
                        <a:srgbClr val="6E1F16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应用</a:t>
                  </a:r>
                  <a:r>
                    <a:rPr sz="1200" b="0">
                      <a:solidFill>
                        <a:srgbClr val="6E1F1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· 模型 · </a:t>
                  </a:r>
                  <a:r>
                    <a:rPr lang="zh-CN" sz="1200" b="0">
                      <a:solidFill>
                        <a:srgbClr val="6E1F1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数据、</a:t>
                  </a:r>
                  <a:r>
                    <a:rPr lang="zh-CN" sz="1200" b="0">
                      <a:solidFill>
                        <a:srgbClr val="6E1F1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资源</a:t>
                  </a:r>
                  <a:endParaRPr lang="zh-CN" sz="1200" b="0">
                    <a:solidFill>
                      <a:srgbClr val="6E1F16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505" name="组合 504"/>
              <p:cNvGrpSpPr/>
              <p:nvPr/>
            </p:nvGrpSpPr>
            <p:grpSpPr>
              <a:xfrm>
                <a:off x="29086" y="6289"/>
                <a:ext cx="3118" cy="4308"/>
                <a:chOff x="33428" y="6158"/>
                <a:chExt cx="3118" cy="4308"/>
              </a:xfrm>
            </p:grpSpPr>
            <p:sp>
              <p:nvSpPr>
                <p:cNvPr id="418" name="矩形 417"/>
                <p:cNvSpPr/>
                <p:nvPr/>
              </p:nvSpPr>
              <p:spPr>
                <a:xfrm>
                  <a:off x="33428" y="6158"/>
                  <a:ext cx="3118" cy="4309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404" name="TextBox 202"/>
                <p:cNvSpPr txBox="1"/>
                <p:nvPr/>
              </p:nvSpPr>
              <p:spPr>
                <a:xfrm>
                  <a:off x="33516" y="6244"/>
                  <a:ext cx="2835" cy="3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sz="15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应用</a:t>
                  </a:r>
                  <a:r>
                    <a:rPr lang="zh-CN" sz="15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安全</a:t>
                  </a:r>
                  <a:endPara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504" name="组合 503"/>
                <p:cNvGrpSpPr/>
                <p:nvPr/>
              </p:nvGrpSpPr>
              <p:grpSpPr>
                <a:xfrm>
                  <a:off x="33578" y="6735"/>
                  <a:ext cx="2835" cy="765"/>
                  <a:chOff x="33578" y="6735"/>
                  <a:chExt cx="2835" cy="765"/>
                </a:xfrm>
              </p:grpSpPr>
              <p:sp>
                <p:nvSpPr>
                  <p:cNvPr id="403" name="Rounded Rectangle 201"/>
                  <p:cNvSpPr/>
                  <p:nvPr/>
                </p:nvSpPr>
                <p:spPr>
                  <a:xfrm>
                    <a:off x="33578" y="6735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408" name="TextBox 206"/>
                  <p:cNvSpPr txBox="1"/>
                  <p:nvPr/>
                </p:nvSpPr>
                <p:spPr>
                  <a:xfrm>
                    <a:off x="33886" y="6960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内容安全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围栏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03" name="组合 502"/>
                <p:cNvGrpSpPr/>
                <p:nvPr/>
              </p:nvGrpSpPr>
              <p:grpSpPr>
                <a:xfrm>
                  <a:off x="33578" y="7684"/>
                  <a:ext cx="2834" cy="764"/>
                  <a:chOff x="33578" y="7814"/>
                  <a:chExt cx="2834" cy="764"/>
                </a:xfrm>
              </p:grpSpPr>
              <p:sp>
                <p:nvSpPr>
                  <p:cNvPr id="471" name="Rounded Rectangle 201"/>
                  <p:cNvSpPr/>
                  <p:nvPr/>
                </p:nvSpPr>
                <p:spPr>
                  <a:xfrm>
                    <a:off x="33578" y="7814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472" name="TextBox 206"/>
                  <p:cNvSpPr txBox="1"/>
                  <p:nvPr/>
                </p:nvSpPr>
                <p:spPr>
                  <a:xfrm>
                    <a:off x="33886" y="8039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学术伦理与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版权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02" name="组合 501"/>
                <p:cNvGrpSpPr/>
                <p:nvPr/>
              </p:nvGrpSpPr>
              <p:grpSpPr>
                <a:xfrm>
                  <a:off x="33578" y="8632"/>
                  <a:ext cx="2834" cy="764"/>
                  <a:chOff x="33578" y="8897"/>
                  <a:chExt cx="2834" cy="764"/>
                </a:xfrm>
              </p:grpSpPr>
              <p:sp>
                <p:nvSpPr>
                  <p:cNvPr id="474" name="Rounded Rectangle 201"/>
                  <p:cNvSpPr/>
                  <p:nvPr/>
                </p:nvSpPr>
                <p:spPr>
                  <a:xfrm>
                    <a:off x="33578" y="8897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475" name="TextBox 206"/>
                  <p:cNvSpPr txBox="1"/>
                  <p:nvPr/>
                </p:nvSpPr>
                <p:spPr>
                  <a:xfrm>
                    <a:off x="33886" y="9122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运行时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安全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01" name="组合 500"/>
                <p:cNvGrpSpPr/>
                <p:nvPr/>
              </p:nvGrpSpPr>
              <p:grpSpPr>
                <a:xfrm>
                  <a:off x="33578" y="9580"/>
                  <a:ext cx="2834" cy="764"/>
                  <a:chOff x="33578" y="9909"/>
                  <a:chExt cx="2834" cy="764"/>
                </a:xfrm>
              </p:grpSpPr>
              <p:sp>
                <p:nvSpPr>
                  <p:cNvPr id="476" name="Rounded Rectangle 201"/>
                  <p:cNvSpPr/>
                  <p:nvPr/>
                </p:nvSpPr>
                <p:spPr>
                  <a:xfrm>
                    <a:off x="33578" y="9909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477" name="TextBox 206"/>
                  <p:cNvSpPr txBox="1"/>
                  <p:nvPr/>
                </p:nvSpPr>
                <p:spPr>
                  <a:xfrm>
                    <a:off x="33886" y="10134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审计与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溯源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506" name="组合 505"/>
              <p:cNvGrpSpPr/>
              <p:nvPr/>
            </p:nvGrpSpPr>
            <p:grpSpPr>
              <a:xfrm>
                <a:off x="29086" y="10718"/>
                <a:ext cx="3118" cy="4309"/>
                <a:chOff x="33428" y="6158"/>
                <a:chExt cx="3118" cy="4309"/>
              </a:xfrm>
            </p:grpSpPr>
            <p:sp>
              <p:nvSpPr>
                <p:cNvPr id="507" name="矩形 506"/>
                <p:cNvSpPr/>
                <p:nvPr/>
              </p:nvSpPr>
              <p:spPr>
                <a:xfrm>
                  <a:off x="33428" y="6158"/>
                  <a:ext cx="3118" cy="4309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508" name="TextBox 202"/>
                <p:cNvSpPr txBox="1"/>
                <p:nvPr/>
              </p:nvSpPr>
              <p:spPr>
                <a:xfrm>
                  <a:off x="33516" y="6244"/>
                  <a:ext cx="2835" cy="3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sz="15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模型安全</a:t>
                  </a:r>
                  <a:endPara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509" name="组合 508"/>
                <p:cNvGrpSpPr/>
                <p:nvPr/>
              </p:nvGrpSpPr>
              <p:grpSpPr>
                <a:xfrm>
                  <a:off x="33578" y="6735"/>
                  <a:ext cx="2835" cy="765"/>
                  <a:chOff x="33578" y="6735"/>
                  <a:chExt cx="2835" cy="765"/>
                </a:xfrm>
              </p:grpSpPr>
              <p:sp>
                <p:nvSpPr>
                  <p:cNvPr id="510" name="Rounded Rectangle 201"/>
                  <p:cNvSpPr/>
                  <p:nvPr/>
                </p:nvSpPr>
                <p:spPr>
                  <a:xfrm>
                    <a:off x="33578" y="6735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11" name="TextBox 206"/>
                  <p:cNvSpPr txBox="1"/>
                  <p:nvPr/>
                </p:nvSpPr>
                <p:spPr>
                  <a:xfrm>
                    <a:off x="33886" y="6960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模型引入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评估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12" name="组合 511"/>
                <p:cNvGrpSpPr/>
                <p:nvPr/>
              </p:nvGrpSpPr>
              <p:grpSpPr>
                <a:xfrm>
                  <a:off x="33578" y="7684"/>
                  <a:ext cx="2835" cy="765"/>
                  <a:chOff x="33578" y="7814"/>
                  <a:chExt cx="2835" cy="765"/>
                </a:xfrm>
              </p:grpSpPr>
              <p:sp>
                <p:nvSpPr>
                  <p:cNvPr id="513" name="Rounded Rectangle 201"/>
                  <p:cNvSpPr/>
                  <p:nvPr/>
                </p:nvSpPr>
                <p:spPr>
                  <a:xfrm>
                    <a:off x="33578" y="7814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14" name="TextBox 206"/>
                  <p:cNvSpPr txBox="1"/>
                  <p:nvPr/>
                </p:nvSpPr>
                <p:spPr>
                  <a:xfrm>
                    <a:off x="33886" y="8039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模型幻觉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治理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15" name="组合 514"/>
                <p:cNvGrpSpPr/>
                <p:nvPr/>
              </p:nvGrpSpPr>
              <p:grpSpPr>
                <a:xfrm>
                  <a:off x="33578" y="8632"/>
                  <a:ext cx="2835" cy="765"/>
                  <a:chOff x="33578" y="8897"/>
                  <a:chExt cx="2835" cy="765"/>
                </a:xfrm>
              </p:grpSpPr>
              <p:sp>
                <p:nvSpPr>
                  <p:cNvPr id="516" name="Rounded Rectangle 201"/>
                  <p:cNvSpPr/>
                  <p:nvPr/>
                </p:nvSpPr>
                <p:spPr>
                  <a:xfrm>
                    <a:off x="33578" y="8897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17" name="TextBox 206"/>
                  <p:cNvSpPr txBox="1"/>
                  <p:nvPr/>
                </p:nvSpPr>
                <p:spPr>
                  <a:xfrm>
                    <a:off x="33886" y="9122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模型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防御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18" name="组合 517"/>
                <p:cNvGrpSpPr/>
                <p:nvPr/>
              </p:nvGrpSpPr>
              <p:grpSpPr>
                <a:xfrm>
                  <a:off x="33578" y="9580"/>
                  <a:ext cx="2835" cy="765"/>
                  <a:chOff x="33578" y="9909"/>
                  <a:chExt cx="2835" cy="765"/>
                </a:xfrm>
              </p:grpSpPr>
              <p:sp>
                <p:nvSpPr>
                  <p:cNvPr id="519" name="Rounded Rectangle 201"/>
                  <p:cNvSpPr/>
                  <p:nvPr/>
                </p:nvSpPr>
                <p:spPr>
                  <a:xfrm>
                    <a:off x="33578" y="9909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20" name="TextBox 206"/>
                  <p:cNvSpPr txBox="1"/>
                  <p:nvPr/>
                </p:nvSpPr>
                <p:spPr>
                  <a:xfrm>
                    <a:off x="33886" y="10135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版本管理与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追溯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521" name="组合 520"/>
              <p:cNvGrpSpPr/>
              <p:nvPr/>
            </p:nvGrpSpPr>
            <p:grpSpPr>
              <a:xfrm>
                <a:off x="29086" y="15148"/>
                <a:ext cx="3118" cy="4309"/>
                <a:chOff x="33428" y="6158"/>
                <a:chExt cx="3118" cy="4309"/>
              </a:xfrm>
            </p:grpSpPr>
            <p:sp>
              <p:nvSpPr>
                <p:cNvPr id="522" name="矩形 521"/>
                <p:cNvSpPr/>
                <p:nvPr/>
              </p:nvSpPr>
              <p:spPr>
                <a:xfrm>
                  <a:off x="33428" y="6158"/>
                  <a:ext cx="3118" cy="4309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523" name="TextBox 202"/>
                <p:cNvSpPr txBox="1"/>
                <p:nvPr/>
              </p:nvSpPr>
              <p:spPr>
                <a:xfrm>
                  <a:off x="33516" y="6244"/>
                  <a:ext cx="2835" cy="3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sz="15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数据安全</a:t>
                  </a:r>
                  <a:endPara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524" name="组合 523"/>
                <p:cNvGrpSpPr/>
                <p:nvPr/>
              </p:nvGrpSpPr>
              <p:grpSpPr>
                <a:xfrm>
                  <a:off x="33578" y="6735"/>
                  <a:ext cx="2835" cy="765"/>
                  <a:chOff x="33578" y="6735"/>
                  <a:chExt cx="2835" cy="765"/>
                </a:xfrm>
              </p:grpSpPr>
              <p:sp>
                <p:nvSpPr>
                  <p:cNvPr id="525" name="Rounded Rectangle 201"/>
                  <p:cNvSpPr/>
                  <p:nvPr/>
                </p:nvSpPr>
                <p:spPr>
                  <a:xfrm>
                    <a:off x="33578" y="6735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26" name="TextBox 206"/>
                  <p:cNvSpPr txBox="1"/>
                  <p:nvPr/>
                </p:nvSpPr>
                <p:spPr>
                  <a:xfrm>
                    <a:off x="33886" y="6960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分级分类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管理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27" name="组合 526"/>
                <p:cNvGrpSpPr/>
                <p:nvPr/>
              </p:nvGrpSpPr>
              <p:grpSpPr>
                <a:xfrm>
                  <a:off x="33578" y="7684"/>
                  <a:ext cx="2835" cy="765"/>
                  <a:chOff x="33578" y="7814"/>
                  <a:chExt cx="2835" cy="765"/>
                </a:xfrm>
              </p:grpSpPr>
              <p:sp>
                <p:nvSpPr>
                  <p:cNvPr id="528" name="Rounded Rectangle 201"/>
                  <p:cNvSpPr/>
                  <p:nvPr/>
                </p:nvSpPr>
                <p:spPr>
                  <a:xfrm>
                    <a:off x="33578" y="7814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29" name="TextBox 206"/>
                  <p:cNvSpPr txBox="1"/>
                  <p:nvPr/>
                </p:nvSpPr>
                <p:spPr>
                  <a:xfrm>
                    <a:off x="33886" y="8040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脱敏与隐私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保护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30" name="组合 529"/>
                <p:cNvGrpSpPr/>
                <p:nvPr/>
              </p:nvGrpSpPr>
              <p:grpSpPr>
                <a:xfrm>
                  <a:off x="33578" y="8632"/>
                  <a:ext cx="2835" cy="765"/>
                  <a:chOff x="33578" y="8897"/>
                  <a:chExt cx="2835" cy="765"/>
                </a:xfrm>
              </p:grpSpPr>
              <p:sp>
                <p:nvSpPr>
                  <p:cNvPr id="531" name="Rounded Rectangle 201"/>
                  <p:cNvSpPr/>
                  <p:nvPr/>
                </p:nvSpPr>
                <p:spPr>
                  <a:xfrm>
                    <a:off x="33578" y="8897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32" name="TextBox 206"/>
                  <p:cNvSpPr txBox="1"/>
                  <p:nvPr/>
                </p:nvSpPr>
                <p:spPr>
                  <a:xfrm>
                    <a:off x="33886" y="9122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防篡改与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溯源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33" name="组合 532"/>
                <p:cNvGrpSpPr/>
                <p:nvPr/>
              </p:nvGrpSpPr>
              <p:grpSpPr>
                <a:xfrm>
                  <a:off x="33578" y="9580"/>
                  <a:ext cx="2835" cy="765"/>
                  <a:chOff x="33578" y="9909"/>
                  <a:chExt cx="2835" cy="765"/>
                </a:xfrm>
              </p:grpSpPr>
              <p:sp>
                <p:nvSpPr>
                  <p:cNvPr id="534" name="Rounded Rectangle 201"/>
                  <p:cNvSpPr/>
                  <p:nvPr/>
                </p:nvSpPr>
                <p:spPr>
                  <a:xfrm>
                    <a:off x="33578" y="9909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35" name="TextBox 206"/>
                  <p:cNvSpPr txBox="1"/>
                  <p:nvPr/>
                </p:nvSpPr>
                <p:spPr>
                  <a:xfrm>
                    <a:off x="33886" y="10135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数据安全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审计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  <p:grpSp>
            <p:nvGrpSpPr>
              <p:cNvPr id="536" name="组合 535"/>
              <p:cNvGrpSpPr/>
              <p:nvPr/>
            </p:nvGrpSpPr>
            <p:grpSpPr>
              <a:xfrm>
                <a:off x="29086" y="19578"/>
                <a:ext cx="3118" cy="4309"/>
                <a:chOff x="33428" y="6158"/>
                <a:chExt cx="3118" cy="4309"/>
              </a:xfrm>
            </p:grpSpPr>
            <p:sp>
              <p:nvSpPr>
                <p:cNvPr id="537" name="矩形 536"/>
                <p:cNvSpPr/>
                <p:nvPr/>
              </p:nvSpPr>
              <p:spPr>
                <a:xfrm>
                  <a:off x="33428" y="6158"/>
                  <a:ext cx="3118" cy="4309"/>
                </a:xfrm>
                <a:prstGeom prst="rect">
                  <a:avLst/>
                </a:prstGeom>
                <a:solidFill>
                  <a:schemeClr val="bg1"/>
                </a:solidFill>
                <a:ln w="12700" cmpd="sng">
                  <a:solidFill>
                    <a:schemeClr val="accent1">
                      <a:shade val="50000"/>
                    </a:schemeClr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>
                    <a:sym typeface="+mn-ea"/>
                  </a:endParaRPr>
                </a:p>
              </p:txBody>
            </p:sp>
            <p:sp>
              <p:nvSpPr>
                <p:cNvPr id="538" name="TextBox 202"/>
                <p:cNvSpPr txBox="1"/>
                <p:nvPr/>
              </p:nvSpPr>
              <p:spPr>
                <a:xfrm>
                  <a:off x="33516" y="6244"/>
                  <a:ext cx="2835" cy="3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zh-CN" sz="15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资源安全</a:t>
                  </a:r>
                  <a:endParaRPr lang="zh-CN" sz="15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grpSp>
              <p:nvGrpSpPr>
                <p:cNvPr id="539" name="组合 538"/>
                <p:cNvGrpSpPr/>
                <p:nvPr/>
              </p:nvGrpSpPr>
              <p:grpSpPr>
                <a:xfrm>
                  <a:off x="33578" y="6735"/>
                  <a:ext cx="2835" cy="765"/>
                  <a:chOff x="33578" y="6735"/>
                  <a:chExt cx="2835" cy="765"/>
                </a:xfrm>
              </p:grpSpPr>
              <p:sp>
                <p:nvSpPr>
                  <p:cNvPr id="540" name="Rounded Rectangle 201"/>
                  <p:cNvSpPr/>
                  <p:nvPr/>
                </p:nvSpPr>
                <p:spPr>
                  <a:xfrm>
                    <a:off x="33578" y="6735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41" name="TextBox 206"/>
                  <p:cNvSpPr txBox="1"/>
                  <p:nvPr/>
                </p:nvSpPr>
                <p:spPr>
                  <a:xfrm>
                    <a:off x="33886" y="6960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算力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安全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42" name="组合 541"/>
                <p:cNvGrpSpPr/>
                <p:nvPr/>
              </p:nvGrpSpPr>
              <p:grpSpPr>
                <a:xfrm>
                  <a:off x="33578" y="7684"/>
                  <a:ext cx="2835" cy="765"/>
                  <a:chOff x="33578" y="7814"/>
                  <a:chExt cx="2835" cy="765"/>
                </a:xfrm>
              </p:grpSpPr>
              <p:sp>
                <p:nvSpPr>
                  <p:cNvPr id="543" name="Rounded Rectangle 201"/>
                  <p:cNvSpPr/>
                  <p:nvPr/>
                </p:nvSpPr>
                <p:spPr>
                  <a:xfrm>
                    <a:off x="33578" y="7814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44" name="TextBox 206"/>
                  <p:cNvSpPr txBox="1"/>
                  <p:nvPr/>
                </p:nvSpPr>
                <p:spPr>
                  <a:xfrm>
                    <a:off x="33886" y="8040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存储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安全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45" name="组合 544"/>
                <p:cNvGrpSpPr/>
                <p:nvPr/>
              </p:nvGrpSpPr>
              <p:grpSpPr>
                <a:xfrm>
                  <a:off x="33578" y="8632"/>
                  <a:ext cx="2835" cy="765"/>
                  <a:chOff x="33578" y="8897"/>
                  <a:chExt cx="2835" cy="765"/>
                </a:xfrm>
              </p:grpSpPr>
              <p:sp>
                <p:nvSpPr>
                  <p:cNvPr id="546" name="Rounded Rectangle 201"/>
                  <p:cNvSpPr/>
                  <p:nvPr/>
                </p:nvSpPr>
                <p:spPr>
                  <a:xfrm>
                    <a:off x="33578" y="8897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47" name="TextBox 206"/>
                  <p:cNvSpPr txBox="1"/>
                  <p:nvPr/>
                </p:nvSpPr>
                <p:spPr>
                  <a:xfrm>
                    <a:off x="33886" y="9122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网络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安全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548" name="组合 547"/>
                <p:cNvGrpSpPr/>
                <p:nvPr/>
              </p:nvGrpSpPr>
              <p:grpSpPr>
                <a:xfrm>
                  <a:off x="33578" y="9580"/>
                  <a:ext cx="2835" cy="765"/>
                  <a:chOff x="33578" y="9909"/>
                  <a:chExt cx="2835" cy="765"/>
                </a:xfrm>
              </p:grpSpPr>
              <p:sp>
                <p:nvSpPr>
                  <p:cNvPr id="549" name="Rounded Rectangle 201"/>
                  <p:cNvSpPr/>
                  <p:nvPr/>
                </p:nvSpPr>
                <p:spPr>
                  <a:xfrm>
                    <a:off x="33578" y="9909"/>
                    <a:ext cx="2835" cy="7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4514">
                    <a:solidFill>
                      <a:srgbClr val="E3A79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</a:p>
                </p:txBody>
              </p:sp>
              <p:sp>
                <p:nvSpPr>
                  <p:cNvPr id="550" name="TextBox 206"/>
                  <p:cNvSpPr txBox="1"/>
                  <p:nvPr/>
                </p:nvSpPr>
                <p:spPr>
                  <a:xfrm>
                    <a:off x="33886" y="10135"/>
                    <a:ext cx="2268" cy="33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buNone/>
                    </a:pP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平台运行</a:t>
                    </a:r>
                    <a:r>
                      <a:rPr lang="zh-CN" sz="14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rPr>
                      <a:t>安全</a:t>
                    </a:r>
                    <a:endParaRPr lang="zh-CN" sz="1400" b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16" y="696958"/>
            <a:ext cx="7982857" cy="67691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1E5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考古领域人工智能应用架构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94904" y="1471658"/>
            <a:ext cx="21599999" cy="4354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55A5">
                  <a:alpha val="100000"/>
                </a:srgbClr>
              </a:gs>
              <a:gs pos="53000">
                <a:srgbClr val="2D87D7">
                  <a:alpha val="100000"/>
                </a:srgbClr>
              </a:gs>
              <a:gs pos="100000">
                <a:srgbClr val="14AA9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grpSp>
        <p:nvGrpSpPr>
          <p:cNvPr id="242" name="组合 241"/>
          <p:cNvGrpSpPr/>
          <p:nvPr/>
        </p:nvGrpSpPr>
        <p:grpSpPr>
          <a:xfrm>
            <a:off x="522605" y="1840865"/>
            <a:ext cx="20026630" cy="12551410"/>
            <a:chOff x="823" y="2892"/>
            <a:chExt cx="31538" cy="19766"/>
          </a:xfrm>
        </p:grpSpPr>
        <p:sp>
          <p:nvSpPr>
            <p:cNvPr id="4" name="AutoShape 4"/>
            <p:cNvSpPr/>
            <p:nvPr/>
          </p:nvSpPr>
          <p:spPr>
            <a:xfrm>
              <a:off x="893" y="19578"/>
              <a:ext cx="2408" cy="3064"/>
            </a:xfrm>
            <a:prstGeom prst="roundRect">
              <a:avLst>
                <a:gd name="adj" fmla="val 10169"/>
              </a:avLst>
            </a:prstGeom>
            <a:solidFill>
              <a:srgbClr val="FDF8E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893" y="19920"/>
              <a:ext cx="2408" cy="727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3000" b="1" i="0" u="none" strike="noStrike">
                  <a:solidFill>
                    <a:srgbClr val="DE8E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4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93" y="20865"/>
              <a:ext cx="2408" cy="43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8C521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资源工程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893" y="21616"/>
              <a:ext cx="2408" cy="29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DE8E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算力 · 存储 · 网络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3519" y="19594"/>
              <a:ext cx="25146" cy="3064"/>
            </a:xfrm>
            <a:prstGeom prst="roundRect">
              <a:avLst>
                <a:gd name="adj" fmla="val 8207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3519" y="19594"/>
              <a:ext cx="123" cy="3064"/>
            </a:xfrm>
            <a:prstGeom prst="roundRect">
              <a:avLst>
                <a:gd name="adj" fmla="val 50000"/>
              </a:avLst>
            </a:prstGeom>
            <a:solidFill>
              <a:srgbClr val="DE8E2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8253" y="21263"/>
              <a:ext cx="6410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8571" y="21441"/>
              <a:ext cx="6092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网络系统：RoCE、TCP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840" y="21263"/>
              <a:ext cx="6411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4581" y="21441"/>
              <a:ext cx="5103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国产算力：GPU、NPU、DPU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1047" y="21263"/>
              <a:ext cx="6410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1182" y="21441"/>
              <a:ext cx="6092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存储系统：文件、对象、块存储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879" y="19793"/>
              <a:ext cx="3374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4269" y="19971"/>
              <a:ext cx="2686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算力切分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232" y="19793"/>
              <a:ext cx="3373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8622" y="19971"/>
              <a:ext cx="2685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算力池化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2584" y="19793"/>
              <a:ext cx="3373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2974" y="19971"/>
              <a:ext cx="2685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异构调度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6936" y="19793"/>
              <a:ext cx="3373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7326" y="19971"/>
              <a:ext cx="2685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拓扑亲和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21288" y="19793"/>
              <a:ext cx="3373" cy="1067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1677" y="19971"/>
              <a:ext cx="2685" cy="77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资源隔离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25098" y="19762"/>
              <a:ext cx="3373" cy="2604"/>
            </a:xfrm>
            <a:prstGeom prst="roundRect">
              <a:avLst>
                <a:gd name="adj" fmla="val 0"/>
              </a:avLst>
            </a:prstGeom>
            <a:solidFill>
              <a:srgbClr val="FDF2DE">
                <a:alpha val="100000"/>
              </a:srgbClr>
            </a:solidFill>
            <a:ln w="12700" cap="flat" cmpd="sng">
              <a:solidFill>
                <a:srgbClr val="F0BC6E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5331" y="20176"/>
              <a:ext cx="2685" cy="17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资源监控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887" y="12332"/>
              <a:ext cx="2408" cy="6893"/>
            </a:xfrm>
            <a:prstGeom prst="roundRect">
              <a:avLst>
                <a:gd name="adj" fmla="val 10168"/>
              </a:avLst>
            </a:prstGeom>
            <a:solidFill>
              <a:srgbClr val="EEF9F6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894" y="14052"/>
              <a:ext cx="2408" cy="727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3000" b="1" i="0" u="none" strike="noStrike">
                  <a:solidFill>
                    <a:srgbClr val="16A0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3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887" y="15284"/>
              <a:ext cx="2408" cy="43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0F5F5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数据工程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887" y="16092"/>
              <a:ext cx="2408" cy="29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16A08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三类数据资产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3513" y="12418"/>
              <a:ext cx="25143" cy="6893"/>
            </a:xfrm>
            <a:prstGeom prst="roundRect">
              <a:avLst>
                <a:gd name="adj" fmla="val 447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3513" y="12408"/>
              <a:ext cx="123" cy="6893"/>
            </a:xfrm>
            <a:prstGeom prst="roundRect">
              <a:avLst>
                <a:gd name="adj" fmla="val 50000"/>
              </a:avLst>
            </a:prstGeom>
            <a:solidFill>
              <a:srgbClr val="16A08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4" name="AutoShape 34"/>
            <p:cNvSpPr/>
            <p:nvPr/>
          </p:nvSpPr>
          <p:spPr>
            <a:xfrm>
              <a:off x="3852" y="16927"/>
              <a:ext cx="20942" cy="219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5" name="AutoShape 35"/>
            <p:cNvSpPr/>
            <p:nvPr/>
          </p:nvSpPr>
          <p:spPr>
            <a:xfrm>
              <a:off x="5120" y="18148"/>
              <a:ext cx="2700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考古报告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8456" y="18148"/>
              <a:ext cx="2698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通识教材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AutoShape 37"/>
            <p:cNvSpPr/>
            <p:nvPr/>
          </p:nvSpPr>
          <p:spPr>
            <a:xfrm>
              <a:off x="11791" y="18148"/>
              <a:ext cx="2698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学术</a:t>
              </a:r>
              <a:r>
                <a:rPr lang="zh-CN" alt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论文</a:t>
              </a:r>
              <a:endParaRPr lang="zh-CN" altLang="en-US" sz="1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5126" y="18148"/>
              <a:ext cx="2698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拓片</a:t>
              </a:r>
              <a:endParaRPr lang="zh-CN" altLang="en-US" sz="1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8461" y="18148"/>
              <a:ext cx="2698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三维点云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AutoShape 40"/>
            <p:cNvSpPr/>
            <p:nvPr/>
          </p:nvSpPr>
          <p:spPr>
            <a:xfrm>
              <a:off x="21796" y="18148"/>
              <a:ext cx="2698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遥感</a:t>
              </a:r>
              <a:endParaRPr lang="zh-CN" altLang="en-US" sz="1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1" name="AutoShape 41"/>
            <p:cNvSpPr/>
            <p:nvPr/>
          </p:nvSpPr>
          <p:spPr>
            <a:xfrm>
              <a:off x="5120" y="17143"/>
              <a:ext cx="19367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内容结构化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3922" y="17325"/>
              <a:ext cx="799" cy="155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vert="eaVert"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数据湖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3829" y="15207"/>
              <a:ext cx="20942" cy="145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4" name="AutoShape 44"/>
            <p:cNvSpPr/>
            <p:nvPr/>
          </p:nvSpPr>
          <p:spPr>
            <a:xfrm>
              <a:off x="5152" y="15458"/>
              <a:ext cx="4318" cy="103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文本数据加工</a:t>
              </a:r>
              <a:endParaRPr lang="en-US" sz="110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10148" y="15458"/>
              <a:ext cx="4318" cy="103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图片数据加工</a:t>
              </a:r>
              <a:endParaRPr lang="en-US" sz="1100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15145" y="15458"/>
              <a:ext cx="4318" cy="103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音视频数据加工</a:t>
              </a:r>
              <a:endParaRPr lang="en-US" sz="110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3826" y="15458"/>
              <a:ext cx="1201" cy="11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</a:t>
              </a:r>
              <a:endParaRPr lang="en-US" sz="1100"/>
            </a:p>
            <a:p>
              <a:pPr marL="0" indent="0" algn="ctr" defTabSz="457200">
                <a:lnSpc>
                  <a:spcPct val="100000"/>
                </a:lnSpc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加工</a:t>
              </a:r>
              <a:endParaRPr lang="en-US" sz="15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8" name="AutoShape 48"/>
            <p:cNvSpPr/>
            <p:nvPr/>
          </p:nvSpPr>
          <p:spPr>
            <a:xfrm>
              <a:off x="3881" y="12632"/>
              <a:ext cx="6955" cy="219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9" name="AutoShape 49"/>
            <p:cNvSpPr/>
            <p:nvPr/>
          </p:nvSpPr>
          <p:spPr>
            <a:xfrm>
              <a:off x="5111" y="13856"/>
              <a:ext cx="5398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预训练数据</a:t>
              </a:r>
              <a:endParaRPr lang="en-US" sz="1100"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4089" y="12713"/>
              <a:ext cx="697" cy="199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训练数据</a:t>
              </a:r>
              <a:endParaRPr lang="en-US" sz="110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5137" y="12832"/>
              <a:ext cx="2361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SFT数据</a:t>
              </a:r>
              <a:endParaRPr lang="en-US" sz="1100"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8102" y="12832"/>
              <a:ext cx="2361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RL数据</a:t>
              </a:r>
              <a:endParaRPr lang="en-US" sz="1100"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11140" y="12632"/>
              <a:ext cx="6657" cy="219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54" name="AutoShape 54"/>
            <p:cNvSpPr/>
            <p:nvPr/>
          </p:nvSpPr>
          <p:spPr>
            <a:xfrm>
              <a:off x="11978" y="13857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知识图谱</a:t>
              </a:r>
              <a:endParaRPr lang="en-US" sz="1100"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11191" y="12713"/>
              <a:ext cx="697" cy="199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应用数据</a:t>
              </a:r>
              <a:endParaRPr lang="en-US" sz="110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11978" y="12832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本</a:t>
              </a: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体库</a:t>
              </a:r>
              <a:endParaRPr lang="en-US" sz="1100"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15074" y="12832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向量知识库</a:t>
              </a:r>
              <a:endParaRPr lang="en-US" sz="1100"/>
            </a:p>
          </p:txBody>
        </p:sp>
        <p:sp>
          <p:nvSpPr>
            <p:cNvPr id="58" name="AutoShape 58"/>
            <p:cNvSpPr/>
            <p:nvPr/>
          </p:nvSpPr>
          <p:spPr>
            <a:xfrm>
              <a:off x="15074" y="13857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图文检索库</a:t>
              </a:r>
              <a:endParaRPr lang="en-US" sz="1100"/>
            </a:p>
          </p:txBody>
        </p:sp>
        <p:sp>
          <p:nvSpPr>
            <p:cNvPr id="59" name="AutoShape 59"/>
            <p:cNvSpPr/>
            <p:nvPr/>
          </p:nvSpPr>
          <p:spPr>
            <a:xfrm>
              <a:off x="18046" y="12670"/>
              <a:ext cx="6657" cy="219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60" name="AutoShape 60"/>
            <p:cNvSpPr/>
            <p:nvPr/>
          </p:nvSpPr>
          <p:spPr>
            <a:xfrm>
              <a:off x="18884" y="13895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多模态感知</a:t>
              </a:r>
              <a:endParaRPr lang="en-US" sz="1100"/>
            </a:p>
          </p:txBody>
        </p:sp>
        <p:sp>
          <p:nvSpPr>
            <p:cNvPr id="61" name="AutoShape 61"/>
            <p:cNvSpPr/>
            <p:nvPr/>
          </p:nvSpPr>
          <p:spPr>
            <a:xfrm>
              <a:off x="18097" y="12751"/>
              <a:ext cx="697" cy="199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评测数据</a:t>
              </a:r>
              <a:endParaRPr lang="en-US" sz="1100"/>
            </a:p>
          </p:txBody>
        </p:sp>
        <p:sp>
          <p:nvSpPr>
            <p:cNvPr id="62" name="AutoShape 62"/>
            <p:cNvSpPr/>
            <p:nvPr/>
          </p:nvSpPr>
          <p:spPr>
            <a:xfrm>
              <a:off x="18884" y="12870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知识理解</a:t>
              </a:r>
              <a:endParaRPr lang="en-US" sz="1100"/>
            </a:p>
          </p:txBody>
        </p:sp>
        <p:sp>
          <p:nvSpPr>
            <p:cNvPr id="63" name="AutoShape 63"/>
            <p:cNvSpPr/>
            <p:nvPr/>
          </p:nvSpPr>
          <p:spPr>
            <a:xfrm>
              <a:off x="21980" y="12870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时空推理</a:t>
              </a:r>
              <a:endParaRPr lang="en-US" sz="1100"/>
            </a:p>
          </p:txBody>
        </p:sp>
        <p:sp>
          <p:nvSpPr>
            <p:cNvPr id="64" name="AutoShape 64"/>
            <p:cNvSpPr/>
            <p:nvPr/>
          </p:nvSpPr>
          <p:spPr>
            <a:xfrm>
              <a:off x="21980" y="13895"/>
              <a:ext cx="2564" cy="76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学术生成</a:t>
              </a:r>
              <a:endParaRPr lang="en-US" sz="1100"/>
            </a:p>
          </p:txBody>
        </p:sp>
        <p:sp>
          <p:nvSpPr>
            <p:cNvPr id="65" name="AutoShape 65"/>
            <p:cNvSpPr/>
            <p:nvPr/>
          </p:nvSpPr>
          <p:spPr>
            <a:xfrm>
              <a:off x="25099" y="12643"/>
              <a:ext cx="3373" cy="636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66" name="AutoShape 66"/>
            <p:cNvSpPr/>
            <p:nvPr/>
          </p:nvSpPr>
          <p:spPr>
            <a:xfrm>
              <a:off x="25280" y="17501"/>
              <a:ext cx="3036" cy="1209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血缘追踪</a:t>
              </a:r>
              <a:endParaRPr lang="en-US" sz="1100"/>
            </a:p>
          </p:txBody>
        </p:sp>
        <p:sp>
          <p:nvSpPr>
            <p:cNvPr id="67" name="AutoShape 67"/>
            <p:cNvSpPr/>
            <p:nvPr/>
          </p:nvSpPr>
          <p:spPr>
            <a:xfrm>
              <a:off x="25693" y="12799"/>
              <a:ext cx="2184" cy="58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数据可观测</a:t>
              </a:r>
              <a:endParaRPr lang="en-US" sz="1100"/>
            </a:p>
          </p:txBody>
        </p:sp>
        <p:sp>
          <p:nvSpPr>
            <p:cNvPr id="68" name="AutoShape 68"/>
            <p:cNvSpPr/>
            <p:nvPr/>
          </p:nvSpPr>
          <p:spPr>
            <a:xfrm>
              <a:off x="25280" y="15681"/>
              <a:ext cx="3036" cy="1209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质量监控</a:t>
              </a:r>
              <a:endParaRPr lang="en-US" sz="1100"/>
            </a:p>
          </p:txBody>
        </p:sp>
        <p:sp>
          <p:nvSpPr>
            <p:cNvPr id="69" name="AutoShape 69"/>
            <p:cNvSpPr/>
            <p:nvPr/>
          </p:nvSpPr>
          <p:spPr>
            <a:xfrm>
              <a:off x="25280" y="13861"/>
              <a:ext cx="3036" cy="1209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漂移监控</a:t>
              </a:r>
              <a:endParaRPr lang="en-US" sz="1100"/>
            </a:p>
          </p:txBody>
        </p:sp>
        <p:sp>
          <p:nvSpPr>
            <p:cNvPr id="70" name="AutoShape 70"/>
            <p:cNvSpPr/>
            <p:nvPr/>
          </p:nvSpPr>
          <p:spPr>
            <a:xfrm>
              <a:off x="20142" y="15458"/>
              <a:ext cx="4318" cy="1036"/>
            </a:xfrm>
            <a:prstGeom prst="roundRect">
              <a:avLst>
                <a:gd name="adj" fmla="val 0"/>
              </a:avLst>
            </a:prstGeom>
            <a:solidFill>
              <a:srgbClr val="E4F7F2">
                <a:alpha val="100000"/>
              </a:srgbClr>
            </a:solidFill>
            <a:ln w="12700" cap="flat" cmpd="sng">
              <a:solidFill>
                <a:srgbClr val="64C8B7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其它模态数据加工</a:t>
              </a:r>
              <a:endParaRPr lang="en-US" sz="1100"/>
            </a:p>
          </p:txBody>
        </p:sp>
        <p:sp>
          <p:nvSpPr>
            <p:cNvPr id="71" name="AutoShape 71"/>
            <p:cNvSpPr/>
            <p:nvPr/>
          </p:nvSpPr>
          <p:spPr>
            <a:xfrm>
              <a:off x="891" y="7435"/>
              <a:ext cx="2408" cy="4596"/>
            </a:xfrm>
            <a:prstGeom prst="roundRect">
              <a:avLst>
                <a:gd name="adj" fmla="val 10168"/>
              </a:avLst>
            </a:prstGeom>
            <a:solidFill>
              <a:srgbClr val="F6F3FD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72" name="AutoShape 72"/>
            <p:cNvSpPr/>
            <p:nvPr/>
          </p:nvSpPr>
          <p:spPr>
            <a:xfrm>
              <a:off x="891" y="8396"/>
              <a:ext cx="2408" cy="727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3000" b="1" i="0" u="none" strike="noStrike">
                  <a:solidFill>
                    <a:srgbClr val="805CC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2</a:t>
              </a:r>
              <a:endParaRPr lang="en-US" sz="1100"/>
            </a:p>
          </p:txBody>
        </p:sp>
        <p:sp>
          <p:nvSpPr>
            <p:cNvPr id="73" name="AutoShape 73"/>
            <p:cNvSpPr/>
            <p:nvPr/>
          </p:nvSpPr>
          <p:spPr>
            <a:xfrm>
              <a:off x="891" y="9566"/>
              <a:ext cx="2408" cy="43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模型工程</a:t>
              </a:r>
              <a:endParaRPr lang="en-US" sz="1100"/>
            </a:p>
          </p:txBody>
        </p:sp>
        <p:sp>
          <p:nvSpPr>
            <p:cNvPr id="74" name="AutoShape 74"/>
            <p:cNvSpPr/>
            <p:nvPr/>
          </p:nvSpPr>
          <p:spPr>
            <a:xfrm>
              <a:off x="867" y="10348"/>
              <a:ext cx="2408" cy="29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805CC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领域适配</a:t>
              </a:r>
              <a:endParaRPr lang="en-US" sz="1100"/>
            </a:p>
          </p:txBody>
        </p:sp>
        <p:sp>
          <p:nvSpPr>
            <p:cNvPr id="75" name="AutoShape 75"/>
            <p:cNvSpPr/>
            <p:nvPr/>
          </p:nvSpPr>
          <p:spPr>
            <a:xfrm>
              <a:off x="3537" y="7435"/>
              <a:ext cx="25143" cy="4596"/>
            </a:xfrm>
            <a:prstGeom prst="roundRect">
              <a:avLst>
                <a:gd name="adj" fmla="val 369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76" name="AutoShape 76"/>
            <p:cNvSpPr/>
            <p:nvPr/>
          </p:nvSpPr>
          <p:spPr>
            <a:xfrm>
              <a:off x="3537" y="7469"/>
              <a:ext cx="123" cy="4596"/>
            </a:xfrm>
            <a:prstGeom prst="roundRect">
              <a:avLst>
                <a:gd name="adj" fmla="val 49999"/>
              </a:avLst>
            </a:prstGeom>
            <a:solidFill>
              <a:srgbClr val="805CC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77" name="AutoShape 77"/>
            <p:cNvSpPr/>
            <p:nvPr/>
          </p:nvSpPr>
          <p:spPr>
            <a:xfrm>
              <a:off x="11721" y="7757"/>
              <a:ext cx="4204" cy="40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78" name="AutoShape 78"/>
            <p:cNvSpPr/>
            <p:nvPr/>
          </p:nvSpPr>
          <p:spPr>
            <a:xfrm>
              <a:off x="12633" y="7928"/>
              <a:ext cx="2564" cy="50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效果优化</a:t>
              </a:r>
              <a:endParaRPr lang="en-US" sz="1100"/>
            </a:p>
          </p:txBody>
        </p:sp>
        <p:sp>
          <p:nvSpPr>
            <p:cNvPr id="79" name="AutoShape 79"/>
            <p:cNvSpPr/>
            <p:nvPr/>
          </p:nvSpPr>
          <p:spPr>
            <a:xfrm>
              <a:off x="11920" y="9110"/>
              <a:ext cx="1789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80" name="AutoShape 80"/>
            <p:cNvSpPr/>
            <p:nvPr/>
          </p:nvSpPr>
          <p:spPr>
            <a:xfrm>
              <a:off x="12071" y="9110"/>
              <a:ext cx="1610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RL训练</a:t>
              </a:r>
              <a:endParaRPr lang="en-US" sz="1100"/>
            </a:p>
          </p:txBody>
        </p:sp>
        <p:sp>
          <p:nvSpPr>
            <p:cNvPr id="81" name="AutoShape 81"/>
            <p:cNvSpPr/>
            <p:nvPr/>
          </p:nvSpPr>
          <p:spPr>
            <a:xfrm>
              <a:off x="13944" y="10587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82" name="AutoShape 82"/>
            <p:cNvSpPr/>
            <p:nvPr/>
          </p:nvSpPr>
          <p:spPr>
            <a:xfrm>
              <a:off x="14023" y="10649"/>
              <a:ext cx="1527" cy="65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SFT训练</a:t>
              </a:r>
              <a:endParaRPr lang="en-US" sz="1100"/>
            </a:p>
          </p:txBody>
        </p:sp>
        <p:sp>
          <p:nvSpPr>
            <p:cNvPr id="83" name="AutoShape 83"/>
            <p:cNvSpPr/>
            <p:nvPr/>
          </p:nvSpPr>
          <p:spPr>
            <a:xfrm>
              <a:off x="11888" y="10587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84" name="AutoShape 84"/>
            <p:cNvSpPr/>
            <p:nvPr/>
          </p:nvSpPr>
          <p:spPr>
            <a:xfrm>
              <a:off x="11958" y="10619"/>
              <a:ext cx="1640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持续训练</a:t>
              </a:r>
              <a:endParaRPr lang="en-US" sz="1100"/>
            </a:p>
          </p:txBody>
        </p:sp>
        <p:sp>
          <p:nvSpPr>
            <p:cNvPr id="85" name="AutoShape 85"/>
            <p:cNvSpPr/>
            <p:nvPr/>
          </p:nvSpPr>
          <p:spPr>
            <a:xfrm>
              <a:off x="13915" y="9110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86" name="AutoShape 86"/>
            <p:cNvSpPr/>
            <p:nvPr/>
          </p:nvSpPr>
          <p:spPr>
            <a:xfrm>
              <a:off x="13999" y="9113"/>
              <a:ext cx="1768" cy="765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提示词优化</a:t>
              </a:r>
              <a:endParaRPr lang="en-US" sz="1100"/>
            </a:p>
          </p:txBody>
        </p:sp>
        <p:sp>
          <p:nvSpPr>
            <p:cNvPr id="87" name="AutoShape 87"/>
            <p:cNvSpPr/>
            <p:nvPr/>
          </p:nvSpPr>
          <p:spPr>
            <a:xfrm>
              <a:off x="16075" y="7744"/>
              <a:ext cx="4319" cy="40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88" name="AutoShape 88"/>
            <p:cNvSpPr/>
            <p:nvPr/>
          </p:nvSpPr>
          <p:spPr>
            <a:xfrm>
              <a:off x="17099" y="7928"/>
              <a:ext cx="2564" cy="50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模型压缩</a:t>
              </a:r>
              <a:endParaRPr lang="en-US" sz="1100"/>
            </a:p>
          </p:txBody>
        </p:sp>
        <p:sp>
          <p:nvSpPr>
            <p:cNvPr id="89" name="AutoShape 89"/>
            <p:cNvSpPr/>
            <p:nvPr/>
          </p:nvSpPr>
          <p:spPr>
            <a:xfrm>
              <a:off x="16242" y="9170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0" name="AutoShape 90"/>
            <p:cNvSpPr/>
            <p:nvPr/>
          </p:nvSpPr>
          <p:spPr>
            <a:xfrm>
              <a:off x="16411" y="9170"/>
              <a:ext cx="1563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量化</a:t>
              </a:r>
              <a:endParaRPr lang="en-US" sz="1100"/>
            </a:p>
          </p:txBody>
        </p:sp>
        <p:sp>
          <p:nvSpPr>
            <p:cNvPr id="91" name="AutoShape 91"/>
            <p:cNvSpPr/>
            <p:nvPr/>
          </p:nvSpPr>
          <p:spPr>
            <a:xfrm>
              <a:off x="16242" y="10646"/>
              <a:ext cx="3958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2" name="AutoShape 92"/>
            <p:cNvSpPr/>
            <p:nvPr/>
          </p:nvSpPr>
          <p:spPr>
            <a:xfrm>
              <a:off x="16487" y="10653"/>
              <a:ext cx="356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蒸馏</a:t>
              </a:r>
              <a:endParaRPr lang="en-US" sz="1100"/>
            </a:p>
          </p:txBody>
        </p:sp>
        <p:sp>
          <p:nvSpPr>
            <p:cNvPr id="93" name="AutoShape 93"/>
            <p:cNvSpPr/>
            <p:nvPr/>
          </p:nvSpPr>
          <p:spPr>
            <a:xfrm>
              <a:off x="18377" y="9170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4" name="AutoShape 94"/>
            <p:cNvSpPr/>
            <p:nvPr/>
          </p:nvSpPr>
          <p:spPr>
            <a:xfrm>
              <a:off x="18404" y="9202"/>
              <a:ext cx="173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剪枝</a:t>
              </a:r>
              <a:endParaRPr lang="en-US" sz="1100"/>
            </a:p>
          </p:txBody>
        </p:sp>
        <p:sp>
          <p:nvSpPr>
            <p:cNvPr id="95" name="AutoShape 95"/>
            <p:cNvSpPr/>
            <p:nvPr/>
          </p:nvSpPr>
          <p:spPr>
            <a:xfrm>
              <a:off x="20543" y="7738"/>
              <a:ext cx="4204" cy="40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6" name="AutoShape 96"/>
            <p:cNvSpPr/>
            <p:nvPr/>
          </p:nvSpPr>
          <p:spPr>
            <a:xfrm>
              <a:off x="21455" y="7958"/>
              <a:ext cx="2564" cy="50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推理加速</a:t>
              </a:r>
              <a:endParaRPr lang="en-US" sz="1100"/>
            </a:p>
          </p:txBody>
        </p:sp>
        <p:sp>
          <p:nvSpPr>
            <p:cNvPr id="97" name="AutoShape 97"/>
            <p:cNvSpPr/>
            <p:nvPr/>
          </p:nvSpPr>
          <p:spPr>
            <a:xfrm>
              <a:off x="20742" y="9140"/>
              <a:ext cx="1789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8" name="AutoShape 98"/>
            <p:cNvSpPr/>
            <p:nvPr/>
          </p:nvSpPr>
          <p:spPr>
            <a:xfrm>
              <a:off x="20894" y="9140"/>
              <a:ext cx="1610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缓存优化</a:t>
              </a:r>
              <a:endParaRPr lang="en-US" sz="1100"/>
            </a:p>
          </p:txBody>
        </p:sp>
        <p:sp>
          <p:nvSpPr>
            <p:cNvPr id="99" name="AutoShape 99"/>
            <p:cNvSpPr/>
            <p:nvPr/>
          </p:nvSpPr>
          <p:spPr>
            <a:xfrm>
              <a:off x="22767" y="10617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0" name="AutoShape 100"/>
            <p:cNvSpPr/>
            <p:nvPr/>
          </p:nvSpPr>
          <p:spPr>
            <a:xfrm>
              <a:off x="22845" y="10679"/>
              <a:ext cx="1527" cy="65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系统调度</a:t>
              </a:r>
              <a:endParaRPr lang="en-US" sz="1100"/>
            </a:p>
          </p:txBody>
        </p:sp>
        <p:sp>
          <p:nvSpPr>
            <p:cNvPr id="101" name="AutoShape 101"/>
            <p:cNvSpPr/>
            <p:nvPr/>
          </p:nvSpPr>
          <p:spPr>
            <a:xfrm>
              <a:off x="20710" y="10617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2" name="AutoShape 102"/>
            <p:cNvSpPr/>
            <p:nvPr/>
          </p:nvSpPr>
          <p:spPr>
            <a:xfrm>
              <a:off x="20781" y="10649"/>
              <a:ext cx="1640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并行策略</a:t>
              </a:r>
              <a:endParaRPr lang="en-US" sz="1100"/>
            </a:p>
          </p:txBody>
        </p:sp>
        <p:sp>
          <p:nvSpPr>
            <p:cNvPr id="103" name="AutoShape 103"/>
            <p:cNvSpPr/>
            <p:nvPr/>
          </p:nvSpPr>
          <p:spPr>
            <a:xfrm>
              <a:off x="22737" y="9140"/>
              <a:ext cx="1822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4" name="AutoShape 104"/>
            <p:cNvSpPr/>
            <p:nvPr/>
          </p:nvSpPr>
          <p:spPr>
            <a:xfrm>
              <a:off x="22821" y="9143"/>
              <a:ext cx="1768" cy="765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计算加速</a:t>
              </a:r>
              <a:endParaRPr lang="en-US" sz="1100"/>
            </a:p>
          </p:txBody>
        </p:sp>
        <p:sp>
          <p:nvSpPr>
            <p:cNvPr id="105" name="AutoShape 105"/>
            <p:cNvSpPr/>
            <p:nvPr/>
          </p:nvSpPr>
          <p:spPr>
            <a:xfrm>
              <a:off x="25084" y="7741"/>
              <a:ext cx="3374" cy="40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6" name="AutoShape 106"/>
            <p:cNvSpPr/>
            <p:nvPr/>
          </p:nvSpPr>
          <p:spPr>
            <a:xfrm>
              <a:off x="25551" y="7752"/>
              <a:ext cx="2564" cy="50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模型可观测</a:t>
              </a:r>
              <a:endParaRPr lang="en-US" sz="1100"/>
            </a:p>
          </p:txBody>
        </p:sp>
        <p:sp>
          <p:nvSpPr>
            <p:cNvPr id="107" name="AutoShape 107"/>
            <p:cNvSpPr/>
            <p:nvPr/>
          </p:nvSpPr>
          <p:spPr>
            <a:xfrm>
              <a:off x="25265" y="8570"/>
              <a:ext cx="3036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8" name="AutoShape 108"/>
            <p:cNvSpPr/>
            <p:nvPr/>
          </p:nvSpPr>
          <p:spPr>
            <a:xfrm>
              <a:off x="25940" y="8570"/>
              <a:ext cx="1687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训练监控</a:t>
              </a:r>
              <a:endParaRPr lang="en-US" sz="1100"/>
            </a:p>
          </p:txBody>
        </p:sp>
        <p:sp>
          <p:nvSpPr>
            <p:cNvPr id="109" name="AutoShape 109"/>
            <p:cNvSpPr/>
            <p:nvPr/>
          </p:nvSpPr>
          <p:spPr>
            <a:xfrm>
              <a:off x="25265" y="10786"/>
              <a:ext cx="3036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0" name="AutoShape 110"/>
            <p:cNvSpPr/>
            <p:nvPr/>
          </p:nvSpPr>
          <p:spPr>
            <a:xfrm>
              <a:off x="26011" y="10786"/>
              <a:ext cx="1687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版本可观测</a:t>
              </a:r>
              <a:endParaRPr lang="en-US" sz="1100"/>
            </a:p>
          </p:txBody>
        </p:sp>
        <p:sp>
          <p:nvSpPr>
            <p:cNvPr id="111" name="AutoShape 111"/>
            <p:cNvSpPr/>
            <p:nvPr/>
          </p:nvSpPr>
          <p:spPr>
            <a:xfrm>
              <a:off x="25265" y="9678"/>
              <a:ext cx="3036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2" name="AutoShape 112"/>
            <p:cNvSpPr/>
            <p:nvPr/>
          </p:nvSpPr>
          <p:spPr>
            <a:xfrm>
              <a:off x="25940" y="9678"/>
              <a:ext cx="1687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推理监控</a:t>
              </a:r>
              <a:endParaRPr lang="en-US" sz="1100"/>
            </a:p>
          </p:txBody>
        </p:sp>
        <p:sp>
          <p:nvSpPr>
            <p:cNvPr id="113" name="AutoShape 113"/>
            <p:cNvSpPr/>
            <p:nvPr/>
          </p:nvSpPr>
          <p:spPr>
            <a:xfrm>
              <a:off x="3881" y="7759"/>
              <a:ext cx="7713" cy="191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4" name="AutoShape 114"/>
            <p:cNvSpPr/>
            <p:nvPr/>
          </p:nvSpPr>
          <p:spPr>
            <a:xfrm>
              <a:off x="3881" y="8201"/>
              <a:ext cx="1181" cy="123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场景模型</a:t>
              </a:r>
              <a:endParaRPr lang="en-US" sz="1100"/>
            </a:p>
          </p:txBody>
        </p:sp>
        <p:sp>
          <p:nvSpPr>
            <p:cNvPr id="115" name="AutoShape 115"/>
            <p:cNvSpPr/>
            <p:nvPr/>
          </p:nvSpPr>
          <p:spPr>
            <a:xfrm>
              <a:off x="5029" y="7909"/>
              <a:ext cx="2023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6" name="AutoShape 116"/>
            <p:cNvSpPr/>
            <p:nvPr/>
          </p:nvSpPr>
          <p:spPr>
            <a:xfrm>
              <a:off x="4954" y="7939"/>
              <a:ext cx="2025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器物分型分式</a:t>
              </a:r>
              <a:endParaRPr lang="en-US" sz="1100"/>
            </a:p>
          </p:txBody>
        </p:sp>
        <p:sp>
          <p:nvSpPr>
            <p:cNvPr id="117" name="AutoShape 117"/>
            <p:cNvSpPr/>
            <p:nvPr/>
          </p:nvSpPr>
          <p:spPr>
            <a:xfrm>
              <a:off x="5000" y="8818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8" name="AutoShape 118"/>
            <p:cNvSpPr/>
            <p:nvPr/>
          </p:nvSpPr>
          <p:spPr>
            <a:xfrm>
              <a:off x="5028" y="8851"/>
              <a:ext cx="2025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墓址分期推断</a:t>
              </a:r>
              <a:endParaRPr lang="en-US" sz="1100"/>
            </a:p>
          </p:txBody>
        </p:sp>
        <p:sp>
          <p:nvSpPr>
            <p:cNvPr id="119" name="AutoShape 119"/>
            <p:cNvSpPr/>
            <p:nvPr/>
          </p:nvSpPr>
          <p:spPr>
            <a:xfrm>
              <a:off x="7252" y="7939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0" name="AutoShape 120"/>
            <p:cNvSpPr/>
            <p:nvPr/>
          </p:nvSpPr>
          <p:spPr>
            <a:xfrm>
              <a:off x="7278" y="7969"/>
              <a:ext cx="2025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文化溯源判别</a:t>
              </a:r>
              <a:endParaRPr lang="en-US" sz="1100"/>
            </a:p>
          </p:txBody>
        </p:sp>
        <p:sp>
          <p:nvSpPr>
            <p:cNvPr id="121" name="AutoShape 121"/>
            <p:cNvSpPr/>
            <p:nvPr/>
          </p:nvSpPr>
          <p:spPr>
            <a:xfrm>
              <a:off x="7262" y="8818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2" name="AutoShape 122"/>
            <p:cNvSpPr/>
            <p:nvPr/>
          </p:nvSpPr>
          <p:spPr>
            <a:xfrm>
              <a:off x="7252" y="8881"/>
              <a:ext cx="2025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聚落等级划分</a:t>
              </a:r>
              <a:endParaRPr lang="en-US" sz="1100"/>
            </a:p>
          </p:txBody>
        </p:sp>
        <p:sp>
          <p:nvSpPr>
            <p:cNvPr id="123" name="AutoShape 123"/>
            <p:cNvSpPr/>
            <p:nvPr/>
          </p:nvSpPr>
          <p:spPr>
            <a:xfrm>
              <a:off x="9469" y="7909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4" name="AutoShape 124"/>
            <p:cNvSpPr/>
            <p:nvPr/>
          </p:nvSpPr>
          <p:spPr>
            <a:xfrm>
              <a:off x="9483" y="7939"/>
              <a:ext cx="2025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墓主身份考证</a:t>
              </a:r>
              <a:endParaRPr lang="en-US" sz="1100"/>
            </a:p>
          </p:txBody>
        </p:sp>
        <p:sp>
          <p:nvSpPr>
            <p:cNvPr id="125" name="AutoShape 125"/>
            <p:cNvSpPr/>
            <p:nvPr/>
          </p:nvSpPr>
          <p:spPr>
            <a:xfrm>
              <a:off x="9470" y="8820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6" name="AutoShape 126"/>
            <p:cNvSpPr/>
            <p:nvPr/>
          </p:nvSpPr>
          <p:spPr>
            <a:xfrm>
              <a:off x="9460" y="8882"/>
              <a:ext cx="2025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...</a:t>
              </a:r>
              <a:endParaRPr lang="en-US" sz="1100"/>
            </a:p>
          </p:txBody>
        </p:sp>
        <p:sp>
          <p:nvSpPr>
            <p:cNvPr id="127" name="AutoShape 127"/>
            <p:cNvSpPr/>
            <p:nvPr/>
          </p:nvSpPr>
          <p:spPr>
            <a:xfrm>
              <a:off x="3855" y="9886"/>
              <a:ext cx="3820" cy="191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8" name="AutoShape 128"/>
            <p:cNvSpPr/>
            <p:nvPr/>
          </p:nvSpPr>
          <p:spPr>
            <a:xfrm>
              <a:off x="4888" y="10913"/>
              <a:ext cx="2700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9" name="AutoShape 129"/>
            <p:cNvSpPr/>
            <p:nvPr/>
          </p:nvSpPr>
          <p:spPr>
            <a:xfrm>
              <a:off x="5069" y="10956"/>
              <a:ext cx="2361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多模态模型</a:t>
              </a:r>
              <a:endParaRPr lang="en-US" sz="1100"/>
            </a:p>
          </p:txBody>
        </p:sp>
        <p:sp>
          <p:nvSpPr>
            <p:cNvPr id="130" name="AutoShape 130"/>
            <p:cNvSpPr/>
            <p:nvPr/>
          </p:nvSpPr>
          <p:spPr>
            <a:xfrm>
              <a:off x="3888" y="10234"/>
              <a:ext cx="1181" cy="123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基座模型</a:t>
              </a:r>
              <a:endParaRPr lang="en-US" sz="1100"/>
            </a:p>
          </p:txBody>
        </p:sp>
        <p:sp>
          <p:nvSpPr>
            <p:cNvPr id="131" name="AutoShape 131"/>
            <p:cNvSpPr/>
            <p:nvPr/>
          </p:nvSpPr>
          <p:spPr>
            <a:xfrm>
              <a:off x="4888" y="10006"/>
              <a:ext cx="2700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32" name="AutoShape 132"/>
            <p:cNvSpPr/>
            <p:nvPr/>
          </p:nvSpPr>
          <p:spPr>
            <a:xfrm>
              <a:off x="5069" y="10098"/>
              <a:ext cx="2361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大语言模型</a:t>
              </a:r>
              <a:endParaRPr lang="en-US" sz="1100"/>
            </a:p>
          </p:txBody>
        </p:sp>
        <p:sp>
          <p:nvSpPr>
            <p:cNvPr id="133" name="AutoShape 133"/>
            <p:cNvSpPr/>
            <p:nvPr/>
          </p:nvSpPr>
          <p:spPr>
            <a:xfrm>
              <a:off x="7774" y="9856"/>
              <a:ext cx="3820" cy="191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34" name="AutoShape 134"/>
            <p:cNvSpPr/>
            <p:nvPr/>
          </p:nvSpPr>
          <p:spPr>
            <a:xfrm>
              <a:off x="8807" y="10883"/>
              <a:ext cx="2700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35" name="AutoShape 135"/>
            <p:cNvSpPr/>
            <p:nvPr/>
          </p:nvSpPr>
          <p:spPr>
            <a:xfrm>
              <a:off x="8988" y="10926"/>
              <a:ext cx="2361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考古多模态模型</a:t>
              </a:r>
              <a:endParaRPr lang="en-US" sz="1100"/>
            </a:p>
          </p:txBody>
        </p:sp>
        <p:sp>
          <p:nvSpPr>
            <p:cNvPr id="136" name="AutoShape 136"/>
            <p:cNvSpPr/>
            <p:nvPr/>
          </p:nvSpPr>
          <p:spPr>
            <a:xfrm>
              <a:off x="7807" y="10205"/>
              <a:ext cx="1181" cy="123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l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领域模型</a:t>
              </a:r>
              <a:endParaRPr lang="en-US" sz="1100"/>
            </a:p>
          </p:txBody>
        </p:sp>
        <p:sp>
          <p:nvSpPr>
            <p:cNvPr id="137" name="AutoShape 137"/>
            <p:cNvSpPr/>
            <p:nvPr/>
          </p:nvSpPr>
          <p:spPr>
            <a:xfrm>
              <a:off x="8807" y="9976"/>
              <a:ext cx="2700" cy="766"/>
            </a:xfrm>
            <a:prstGeom prst="roundRect">
              <a:avLst>
                <a:gd name="adj" fmla="val 0"/>
              </a:avLst>
            </a:prstGeom>
            <a:solidFill>
              <a:srgbClr val="F1ECFB">
                <a:alpha val="100000"/>
              </a:srgbClr>
            </a:solidFill>
            <a:ln w="12700" cap="flat" cmpd="sng">
              <a:solidFill>
                <a:srgbClr val="B79EE6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38" name="AutoShape 138"/>
            <p:cNvSpPr/>
            <p:nvPr/>
          </p:nvSpPr>
          <p:spPr>
            <a:xfrm>
              <a:off x="8988" y="10068"/>
              <a:ext cx="2361" cy="67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58389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考古大语言模型</a:t>
              </a:r>
              <a:endParaRPr lang="en-US" sz="1100"/>
            </a:p>
          </p:txBody>
        </p:sp>
        <p:sp>
          <p:nvSpPr>
            <p:cNvPr id="139" name="AutoShape 139"/>
            <p:cNvSpPr/>
            <p:nvPr/>
          </p:nvSpPr>
          <p:spPr>
            <a:xfrm>
              <a:off x="906" y="2897"/>
              <a:ext cx="2408" cy="4212"/>
            </a:xfrm>
            <a:prstGeom prst="roundRect">
              <a:avLst>
                <a:gd name="adj" fmla="val 10169"/>
              </a:avLst>
            </a:prstGeom>
            <a:solidFill>
              <a:srgbClr val="F0F6FD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40" name="AutoShape 140"/>
            <p:cNvSpPr/>
            <p:nvPr/>
          </p:nvSpPr>
          <p:spPr>
            <a:xfrm>
              <a:off x="823" y="3923"/>
              <a:ext cx="2408" cy="727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3000" b="1" i="0" u="none" strike="noStrike">
                  <a:solidFill>
                    <a:srgbClr val="2D7DC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1</a:t>
              </a:r>
              <a:endParaRPr lang="en-US" sz="1100"/>
            </a:p>
          </p:txBody>
        </p:sp>
        <p:sp>
          <p:nvSpPr>
            <p:cNvPr id="141" name="AutoShape 141"/>
            <p:cNvSpPr/>
            <p:nvPr/>
          </p:nvSpPr>
          <p:spPr>
            <a:xfrm>
              <a:off x="823" y="4990"/>
              <a:ext cx="2408" cy="371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b="1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应用工程</a:t>
              </a:r>
              <a:endParaRPr lang="en-US"/>
            </a:p>
          </p:txBody>
        </p:sp>
        <p:sp>
          <p:nvSpPr>
            <p:cNvPr id="142" name="AutoShape 142"/>
            <p:cNvSpPr/>
            <p:nvPr/>
          </p:nvSpPr>
          <p:spPr>
            <a:xfrm>
              <a:off x="823" y="5649"/>
              <a:ext cx="2408" cy="29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2D7DC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考古场景应用</a:t>
              </a:r>
              <a:endParaRPr lang="en-US" sz="1100"/>
            </a:p>
          </p:txBody>
        </p:sp>
        <p:sp>
          <p:nvSpPr>
            <p:cNvPr id="143" name="AutoShape 143"/>
            <p:cNvSpPr/>
            <p:nvPr/>
          </p:nvSpPr>
          <p:spPr>
            <a:xfrm>
              <a:off x="3589" y="2907"/>
              <a:ext cx="25142" cy="4213"/>
            </a:xfrm>
            <a:prstGeom prst="roundRect">
              <a:avLst>
                <a:gd name="adj" fmla="val 468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44" name="AutoShape 144"/>
            <p:cNvSpPr/>
            <p:nvPr/>
          </p:nvSpPr>
          <p:spPr>
            <a:xfrm>
              <a:off x="3574" y="2892"/>
              <a:ext cx="123" cy="4212"/>
            </a:xfrm>
            <a:prstGeom prst="roundRect">
              <a:avLst>
                <a:gd name="adj" fmla="val 0"/>
              </a:avLst>
            </a:prstGeom>
            <a:solidFill>
              <a:srgbClr val="2D7DC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45" name="AutoShape 145"/>
            <p:cNvSpPr/>
            <p:nvPr/>
          </p:nvSpPr>
          <p:spPr>
            <a:xfrm>
              <a:off x="3838" y="5811"/>
              <a:ext cx="20918" cy="113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46" name="AutoShape 146"/>
            <p:cNvSpPr/>
            <p:nvPr/>
          </p:nvSpPr>
          <p:spPr>
            <a:xfrm>
              <a:off x="3863" y="5889"/>
              <a:ext cx="1080" cy="8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基础</a:t>
              </a:r>
              <a:endParaRPr lang="en-US" sz="1100"/>
            </a:p>
            <a:p>
              <a:pPr marL="0" indent="0" algn="ctr" defTabSz="457200">
                <a:lnSpc>
                  <a:spcPct val="100000"/>
                </a:lnSpc>
              </a:pPr>
              <a:r>
                <a:rPr lang="en-US" sz="1500" b="1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能力层</a:t>
              </a:r>
              <a:endParaRPr lang="en-US" sz="1500" b="1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7" name="AutoShape 147"/>
            <p:cNvSpPr/>
            <p:nvPr/>
          </p:nvSpPr>
          <p:spPr>
            <a:xfrm>
              <a:off x="5096" y="5987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48" name="AutoShape 148"/>
            <p:cNvSpPr/>
            <p:nvPr/>
          </p:nvSpPr>
          <p:spPr>
            <a:xfrm>
              <a:off x="5096" y="6177"/>
              <a:ext cx="4386" cy="339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模型路由</a:t>
              </a:r>
              <a:endParaRPr lang="en-US" sz="1100"/>
            </a:p>
          </p:txBody>
        </p:sp>
        <p:sp>
          <p:nvSpPr>
            <p:cNvPr id="149" name="AutoShape 149"/>
            <p:cNvSpPr/>
            <p:nvPr/>
          </p:nvSpPr>
          <p:spPr>
            <a:xfrm>
              <a:off x="10143" y="5987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0" name="AutoShape 150"/>
            <p:cNvSpPr/>
            <p:nvPr/>
          </p:nvSpPr>
          <p:spPr>
            <a:xfrm>
              <a:off x="10143" y="5987"/>
              <a:ext cx="438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知识库</a:t>
              </a:r>
              <a:r>
                <a:rPr lang="en-US" sz="12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检索</a:t>
              </a:r>
              <a:endParaRPr lang="en-US" sz="1100"/>
            </a:p>
          </p:txBody>
        </p:sp>
        <p:sp>
          <p:nvSpPr>
            <p:cNvPr id="151" name="AutoShape 151"/>
            <p:cNvSpPr/>
            <p:nvPr/>
          </p:nvSpPr>
          <p:spPr>
            <a:xfrm>
              <a:off x="15189" y="5987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2" name="AutoShape 152"/>
            <p:cNvSpPr/>
            <p:nvPr/>
          </p:nvSpPr>
          <p:spPr>
            <a:xfrm>
              <a:off x="15189" y="5987"/>
              <a:ext cx="438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工具调用</a:t>
              </a:r>
              <a:endParaRPr lang="en-US" sz="1100"/>
            </a:p>
          </p:txBody>
        </p:sp>
        <p:sp>
          <p:nvSpPr>
            <p:cNvPr id="153" name="AutoShape 153"/>
            <p:cNvSpPr/>
            <p:nvPr/>
          </p:nvSpPr>
          <p:spPr>
            <a:xfrm>
              <a:off x="20236" y="5987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4" name="AutoShape 154"/>
            <p:cNvSpPr/>
            <p:nvPr/>
          </p:nvSpPr>
          <p:spPr>
            <a:xfrm>
              <a:off x="20236" y="5987"/>
              <a:ext cx="438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记忆管理</a:t>
              </a:r>
              <a:endParaRPr lang="en-US" sz="1100"/>
            </a:p>
          </p:txBody>
        </p:sp>
        <p:sp>
          <p:nvSpPr>
            <p:cNvPr id="155" name="AutoShape 155"/>
            <p:cNvSpPr/>
            <p:nvPr/>
          </p:nvSpPr>
          <p:spPr>
            <a:xfrm>
              <a:off x="3837" y="4514"/>
              <a:ext cx="20918" cy="113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6" name="AutoShape 156"/>
            <p:cNvSpPr/>
            <p:nvPr/>
          </p:nvSpPr>
          <p:spPr>
            <a:xfrm>
              <a:off x="3888" y="4593"/>
              <a:ext cx="1080" cy="863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认知</a:t>
              </a:r>
              <a:endParaRPr lang="en-US" sz="1100"/>
            </a:p>
            <a:p>
              <a:pPr marL="0" indent="0" algn="l" defTabSz="457200">
                <a:lnSpc>
                  <a:spcPct val="100000"/>
                </a:lnSpc>
              </a:pPr>
              <a:r>
                <a:rPr lang="en-US" sz="1500" b="1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编排层</a:t>
              </a:r>
              <a:endParaRPr lang="en-US" sz="1500" b="1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7" name="AutoShape 157"/>
            <p:cNvSpPr/>
            <p:nvPr/>
          </p:nvSpPr>
          <p:spPr>
            <a:xfrm>
              <a:off x="5095" y="4690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8" name="AutoShape 158"/>
            <p:cNvSpPr/>
            <p:nvPr/>
          </p:nvSpPr>
          <p:spPr>
            <a:xfrm>
              <a:off x="5095" y="4880"/>
              <a:ext cx="4386" cy="339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规划与反思</a:t>
              </a:r>
              <a:endParaRPr lang="en-US" sz="1100"/>
            </a:p>
          </p:txBody>
        </p:sp>
        <p:sp>
          <p:nvSpPr>
            <p:cNvPr id="159" name="AutoShape 159"/>
            <p:cNvSpPr/>
            <p:nvPr/>
          </p:nvSpPr>
          <p:spPr>
            <a:xfrm>
              <a:off x="10142" y="4690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60" name="AutoShape 160"/>
            <p:cNvSpPr/>
            <p:nvPr/>
          </p:nvSpPr>
          <p:spPr>
            <a:xfrm>
              <a:off x="10142" y="4690"/>
              <a:ext cx="438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多智能体协同</a:t>
              </a:r>
              <a:endParaRPr lang="en-US" sz="1100"/>
            </a:p>
          </p:txBody>
        </p:sp>
        <p:sp>
          <p:nvSpPr>
            <p:cNvPr id="161" name="AutoShape 161"/>
            <p:cNvSpPr/>
            <p:nvPr/>
          </p:nvSpPr>
          <p:spPr>
            <a:xfrm>
              <a:off x="15188" y="4690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62" name="AutoShape 162"/>
            <p:cNvSpPr/>
            <p:nvPr/>
          </p:nvSpPr>
          <p:spPr>
            <a:xfrm>
              <a:off x="15188" y="4690"/>
              <a:ext cx="438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工作流编排</a:t>
              </a:r>
              <a:endParaRPr lang="en-US" sz="1100"/>
            </a:p>
          </p:txBody>
        </p:sp>
        <p:sp>
          <p:nvSpPr>
            <p:cNvPr id="163" name="AutoShape 163"/>
            <p:cNvSpPr/>
            <p:nvPr/>
          </p:nvSpPr>
          <p:spPr>
            <a:xfrm>
              <a:off x="20235" y="4690"/>
              <a:ext cx="4386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64" name="AutoShape 164"/>
            <p:cNvSpPr/>
            <p:nvPr/>
          </p:nvSpPr>
          <p:spPr>
            <a:xfrm>
              <a:off x="20235" y="4690"/>
              <a:ext cx="4386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RAG</a:t>
              </a:r>
              <a:r>
                <a:rPr lang="en-US" sz="12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引擎</a:t>
              </a:r>
              <a:endParaRPr lang="en-US" sz="1100"/>
            </a:p>
          </p:txBody>
        </p:sp>
        <p:sp>
          <p:nvSpPr>
            <p:cNvPr id="165" name="AutoShape 165"/>
            <p:cNvSpPr/>
            <p:nvPr/>
          </p:nvSpPr>
          <p:spPr>
            <a:xfrm>
              <a:off x="3789" y="3161"/>
              <a:ext cx="20918" cy="113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66" name="AutoShape 166"/>
            <p:cNvSpPr/>
            <p:nvPr/>
          </p:nvSpPr>
          <p:spPr>
            <a:xfrm>
              <a:off x="3802" y="3239"/>
              <a:ext cx="1134" cy="8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业务智能体层</a:t>
              </a:r>
              <a:endParaRPr lang="en-US" sz="1100"/>
            </a:p>
          </p:txBody>
        </p:sp>
        <p:sp>
          <p:nvSpPr>
            <p:cNvPr id="167" name="AutoShape 167"/>
            <p:cNvSpPr/>
            <p:nvPr/>
          </p:nvSpPr>
          <p:spPr>
            <a:xfrm>
              <a:off x="5109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68" name="AutoShape 168"/>
            <p:cNvSpPr/>
            <p:nvPr/>
          </p:nvSpPr>
          <p:spPr>
            <a:xfrm>
              <a:off x="5065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器物类型学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研究智能体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9" name="AutoShape 169"/>
            <p:cNvSpPr/>
            <p:nvPr/>
          </p:nvSpPr>
          <p:spPr>
            <a:xfrm>
              <a:off x="7294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0" name="AutoShape 170"/>
            <p:cNvSpPr/>
            <p:nvPr/>
          </p:nvSpPr>
          <p:spPr>
            <a:xfrm>
              <a:off x="7250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遗址分期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研究智能体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1" name="AutoShape 171"/>
            <p:cNvSpPr/>
            <p:nvPr/>
          </p:nvSpPr>
          <p:spPr>
            <a:xfrm>
              <a:off x="9480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2" name="AutoShape 172"/>
            <p:cNvSpPr/>
            <p:nvPr/>
          </p:nvSpPr>
          <p:spPr>
            <a:xfrm>
              <a:off x="9436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文化因素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分析智能体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3" name="AutoShape 173"/>
            <p:cNvSpPr/>
            <p:nvPr/>
          </p:nvSpPr>
          <p:spPr>
            <a:xfrm>
              <a:off x="11665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4" name="AutoShape 174"/>
            <p:cNvSpPr/>
            <p:nvPr/>
          </p:nvSpPr>
          <p:spPr>
            <a:xfrm>
              <a:off x="11621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2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聚落形态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2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研究智能体</a:t>
              </a:r>
              <a:endParaRPr lang="en-US" sz="12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5" name="AutoShape 175"/>
            <p:cNvSpPr/>
            <p:nvPr/>
          </p:nvSpPr>
          <p:spPr>
            <a:xfrm>
              <a:off x="13850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6" name="AutoShape 176"/>
            <p:cNvSpPr/>
            <p:nvPr/>
          </p:nvSpPr>
          <p:spPr>
            <a:xfrm>
              <a:off x="13806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文献考证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7" name="AutoShape 177"/>
            <p:cNvSpPr/>
            <p:nvPr/>
          </p:nvSpPr>
          <p:spPr>
            <a:xfrm>
              <a:off x="16036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8" name="AutoShape 178"/>
            <p:cNvSpPr/>
            <p:nvPr/>
          </p:nvSpPr>
          <p:spPr>
            <a:xfrm>
              <a:off x="15992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墓葬研究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9" name="AutoShape 179"/>
            <p:cNvSpPr/>
            <p:nvPr/>
          </p:nvSpPr>
          <p:spPr>
            <a:xfrm>
              <a:off x="18221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80" name="AutoShape 180"/>
            <p:cNvSpPr/>
            <p:nvPr/>
          </p:nvSpPr>
          <p:spPr>
            <a:xfrm>
              <a:off x="18177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科技考古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1" name="AutoShape 181"/>
            <p:cNvSpPr/>
            <p:nvPr/>
          </p:nvSpPr>
          <p:spPr>
            <a:xfrm>
              <a:off x="20406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82" name="AutoShape 182"/>
            <p:cNvSpPr/>
            <p:nvPr/>
          </p:nvSpPr>
          <p:spPr>
            <a:xfrm>
              <a:off x="20362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报告整理与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审校智能体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3" name="AutoShape 183"/>
            <p:cNvSpPr/>
            <p:nvPr/>
          </p:nvSpPr>
          <p:spPr>
            <a:xfrm>
              <a:off x="22592" y="3311"/>
              <a:ext cx="2025" cy="766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84" name="AutoShape 184"/>
            <p:cNvSpPr/>
            <p:nvPr/>
          </p:nvSpPr>
          <p:spPr>
            <a:xfrm>
              <a:off x="22548" y="3311"/>
              <a:ext cx="2025" cy="76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92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知识问答与</a:t>
              </a:r>
              <a:endParaRPr lang="en-US" sz="1100"/>
            </a:p>
            <a:p>
              <a:pPr marL="0" indent="0" algn="ctr" defTabSz="457200">
                <a:lnSpc>
                  <a:spcPct val="92000"/>
                </a:lnSpc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学术检索智能体</a:t>
              </a:r>
              <a:endParaRPr lang="en-US" sz="1400" b="0" i="0" u="none" strike="noStrike">
                <a:solidFill>
                  <a:srgbClr val="194E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5" name="AutoShape 185"/>
            <p:cNvSpPr/>
            <p:nvPr/>
          </p:nvSpPr>
          <p:spPr>
            <a:xfrm>
              <a:off x="25034" y="3101"/>
              <a:ext cx="3374" cy="379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86" name="AutoShape 186"/>
            <p:cNvSpPr/>
            <p:nvPr/>
          </p:nvSpPr>
          <p:spPr>
            <a:xfrm>
              <a:off x="25405" y="3199"/>
              <a:ext cx="2564" cy="50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应用可观测</a:t>
              </a:r>
              <a:endParaRPr lang="en-US" sz="1100"/>
            </a:p>
          </p:txBody>
        </p:sp>
        <p:sp>
          <p:nvSpPr>
            <p:cNvPr id="187" name="AutoShape 187"/>
            <p:cNvSpPr/>
            <p:nvPr/>
          </p:nvSpPr>
          <p:spPr>
            <a:xfrm>
              <a:off x="25242" y="6133"/>
              <a:ext cx="3036" cy="651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88" name="AutoShape 188"/>
            <p:cNvSpPr/>
            <p:nvPr/>
          </p:nvSpPr>
          <p:spPr>
            <a:xfrm>
              <a:off x="25474" y="6133"/>
              <a:ext cx="2700" cy="651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全链路追踪</a:t>
              </a:r>
              <a:endParaRPr lang="en-US" sz="1100"/>
            </a:p>
          </p:txBody>
        </p:sp>
        <p:sp>
          <p:nvSpPr>
            <p:cNvPr id="189" name="AutoShape 189"/>
            <p:cNvSpPr/>
            <p:nvPr/>
          </p:nvSpPr>
          <p:spPr>
            <a:xfrm>
              <a:off x="25242" y="5355"/>
              <a:ext cx="3036" cy="651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0" name="AutoShape 190"/>
            <p:cNvSpPr/>
            <p:nvPr/>
          </p:nvSpPr>
          <p:spPr>
            <a:xfrm>
              <a:off x="25474" y="5355"/>
              <a:ext cx="2700" cy="651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成本监控</a:t>
              </a:r>
              <a:endParaRPr lang="en-US" sz="1100"/>
            </a:p>
          </p:txBody>
        </p:sp>
        <p:sp>
          <p:nvSpPr>
            <p:cNvPr id="191" name="AutoShape 191"/>
            <p:cNvSpPr/>
            <p:nvPr/>
          </p:nvSpPr>
          <p:spPr>
            <a:xfrm>
              <a:off x="25242" y="4576"/>
              <a:ext cx="3036" cy="651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2" name="AutoShape 192"/>
            <p:cNvSpPr/>
            <p:nvPr/>
          </p:nvSpPr>
          <p:spPr>
            <a:xfrm>
              <a:off x="25474" y="4576"/>
              <a:ext cx="2700" cy="651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编排可观测</a:t>
              </a:r>
              <a:endParaRPr lang="en-US" sz="1100"/>
            </a:p>
          </p:txBody>
        </p:sp>
        <p:sp>
          <p:nvSpPr>
            <p:cNvPr id="193" name="AutoShape 193"/>
            <p:cNvSpPr/>
            <p:nvPr/>
          </p:nvSpPr>
          <p:spPr>
            <a:xfrm>
              <a:off x="25242" y="3797"/>
              <a:ext cx="3036" cy="652"/>
            </a:xfrm>
            <a:prstGeom prst="roundRect">
              <a:avLst>
                <a:gd name="adj" fmla="val 0"/>
              </a:avLst>
            </a:prstGeom>
            <a:solidFill>
              <a:srgbClr val="E5F0FC">
                <a:alpha val="100000"/>
              </a:srgbClr>
            </a:solidFill>
            <a:ln w="12700" cap="flat" cmpd="sng">
              <a:solidFill>
                <a:srgbClr val="8FB9E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4" name="AutoShape 194"/>
            <p:cNvSpPr/>
            <p:nvPr/>
          </p:nvSpPr>
          <p:spPr>
            <a:xfrm>
              <a:off x="25474" y="3797"/>
              <a:ext cx="2700" cy="652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94E9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业务效果评估与监控</a:t>
              </a:r>
              <a:endParaRPr lang="en-US" sz="1100"/>
            </a:p>
          </p:txBody>
        </p:sp>
        <p:sp>
          <p:nvSpPr>
            <p:cNvPr id="195" name="AutoShape 195"/>
            <p:cNvSpPr/>
            <p:nvPr/>
          </p:nvSpPr>
          <p:spPr>
            <a:xfrm>
              <a:off x="28959" y="4606"/>
              <a:ext cx="3393" cy="17992"/>
            </a:xfrm>
            <a:prstGeom prst="roundRect">
              <a:avLst>
                <a:gd name="adj" fmla="val 6837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6" name="AutoShape 196"/>
            <p:cNvSpPr/>
            <p:nvPr/>
          </p:nvSpPr>
          <p:spPr>
            <a:xfrm rot="-5400000">
              <a:off x="30587" y="2969"/>
              <a:ext cx="123" cy="3393"/>
            </a:xfrm>
            <a:prstGeom prst="roundRect">
              <a:avLst>
                <a:gd name="adj" fmla="val 50000"/>
              </a:avLst>
            </a:prstGeom>
            <a:solidFill>
              <a:srgbClr val="E4737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7" name="AutoShape 197"/>
            <p:cNvSpPr/>
            <p:nvPr/>
          </p:nvSpPr>
          <p:spPr>
            <a:xfrm>
              <a:off x="28959" y="2906"/>
              <a:ext cx="3402" cy="1587"/>
            </a:xfrm>
            <a:prstGeom prst="roundRect">
              <a:avLst>
                <a:gd name="adj" fmla="val 10168"/>
              </a:avLst>
            </a:prstGeom>
            <a:solidFill>
              <a:srgbClr val="FEF2F3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98" name="AutoShape 198"/>
            <p:cNvSpPr/>
            <p:nvPr/>
          </p:nvSpPr>
          <p:spPr>
            <a:xfrm>
              <a:off x="28918" y="3290"/>
              <a:ext cx="850" cy="728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3000" b="1" i="0" u="none" strike="noStrike">
                  <a:solidFill>
                    <a:srgbClr val="E473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</a:t>
              </a:r>
              <a:endParaRPr lang="en-US" sz="1100"/>
            </a:p>
          </p:txBody>
        </p:sp>
        <p:sp>
          <p:nvSpPr>
            <p:cNvPr id="199" name="AutoShape 199"/>
            <p:cNvSpPr/>
            <p:nvPr/>
          </p:nvSpPr>
          <p:spPr>
            <a:xfrm>
              <a:off x="29689" y="3272"/>
              <a:ext cx="2408" cy="436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CD4B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安全工程</a:t>
              </a:r>
              <a:endParaRPr lang="en-US" sz="1100"/>
            </a:p>
          </p:txBody>
        </p:sp>
        <p:sp>
          <p:nvSpPr>
            <p:cNvPr id="200" name="AutoShape 200"/>
            <p:cNvSpPr/>
            <p:nvPr/>
          </p:nvSpPr>
          <p:spPr>
            <a:xfrm>
              <a:off x="29480" y="3777"/>
              <a:ext cx="2835" cy="514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buClrTx/>
                <a:buSzTx/>
                <a:buFontTx/>
                <a:buNone/>
              </a:pPr>
              <a:r>
                <a:rPr lang="zh-CN" sz="1200">
                  <a:solidFill>
                    <a:srgbClr val="6E1F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应用</a:t>
              </a:r>
              <a:r>
                <a:rPr sz="1200">
                  <a:solidFill>
                    <a:srgbClr val="6E1F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· 模型 · </a:t>
              </a:r>
              <a:r>
                <a:rPr lang="zh-CN" sz="1200">
                  <a:solidFill>
                    <a:srgbClr val="6E1F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数据、资源</a:t>
              </a:r>
              <a:endParaRPr lang="en-US" sz="1100"/>
            </a:p>
          </p:txBody>
        </p:sp>
        <p:sp>
          <p:nvSpPr>
            <p:cNvPr id="201" name="AutoShape 201"/>
            <p:cNvSpPr/>
            <p:nvPr/>
          </p:nvSpPr>
          <p:spPr>
            <a:xfrm>
              <a:off x="29086" y="4815"/>
              <a:ext cx="3118" cy="430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02" name="AutoShape 202"/>
            <p:cNvSpPr/>
            <p:nvPr/>
          </p:nvSpPr>
          <p:spPr>
            <a:xfrm>
              <a:off x="29174" y="4901"/>
              <a:ext cx="2835" cy="36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应用安全</a:t>
              </a:r>
              <a:endParaRPr lang="en-US" sz="1100"/>
            </a:p>
          </p:txBody>
        </p:sp>
        <p:sp>
          <p:nvSpPr>
            <p:cNvPr id="203" name="AutoShape 203"/>
            <p:cNvSpPr/>
            <p:nvPr/>
          </p:nvSpPr>
          <p:spPr>
            <a:xfrm>
              <a:off x="29236" y="5392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04" name="AutoShape 204"/>
            <p:cNvSpPr/>
            <p:nvPr/>
          </p:nvSpPr>
          <p:spPr>
            <a:xfrm>
              <a:off x="29544" y="5617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内容安全围栏</a:t>
              </a:r>
              <a:endParaRPr lang="en-US" sz="1100"/>
            </a:p>
          </p:txBody>
        </p:sp>
        <p:sp>
          <p:nvSpPr>
            <p:cNvPr id="205" name="AutoShape 205"/>
            <p:cNvSpPr/>
            <p:nvPr/>
          </p:nvSpPr>
          <p:spPr>
            <a:xfrm>
              <a:off x="29236" y="6341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06" name="AutoShape 206"/>
            <p:cNvSpPr/>
            <p:nvPr/>
          </p:nvSpPr>
          <p:spPr>
            <a:xfrm>
              <a:off x="29544" y="6566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学术伦理与版权</a:t>
              </a:r>
              <a:endParaRPr lang="en-US" sz="1100"/>
            </a:p>
          </p:txBody>
        </p:sp>
        <p:sp>
          <p:nvSpPr>
            <p:cNvPr id="207" name="AutoShape 207"/>
            <p:cNvSpPr/>
            <p:nvPr/>
          </p:nvSpPr>
          <p:spPr>
            <a:xfrm>
              <a:off x="29236" y="7289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08" name="AutoShape 208"/>
            <p:cNvSpPr/>
            <p:nvPr/>
          </p:nvSpPr>
          <p:spPr>
            <a:xfrm>
              <a:off x="29544" y="7514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运行时安全</a:t>
              </a:r>
              <a:endParaRPr lang="en-US" sz="1100"/>
            </a:p>
          </p:txBody>
        </p:sp>
        <p:sp>
          <p:nvSpPr>
            <p:cNvPr id="209" name="AutoShape 209"/>
            <p:cNvSpPr/>
            <p:nvPr/>
          </p:nvSpPr>
          <p:spPr>
            <a:xfrm>
              <a:off x="29236" y="8237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10" name="AutoShape 210"/>
            <p:cNvSpPr/>
            <p:nvPr/>
          </p:nvSpPr>
          <p:spPr>
            <a:xfrm>
              <a:off x="29544" y="8462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审计与溯源</a:t>
              </a:r>
              <a:endParaRPr lang="en-US" sz="1100"/>
            </a:p>
          </p:txBody>
        </p:sp>
        <p:sp>
          <p:nvSpPr>
            <p:cNvPr id="211" name="AutoShape 211"/>
            <p:cNvSpPr/>
            <p:nvPr/>
          </p:nvSpPr>
          <p:spPr>
            <a:xfrm>
              <a:off x="29086" y="9244"/>
              <a:ext cx="3118" cy="430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12" name="AutoShape 212"/>
            <p:cNvSpPr/>
            <p:nvPr/>
          </p:nvSpPr>
          <p:spPr>
            <a:xfrm>
              <a:off x="29174" y="9330"/>
              <a:ext cx="2835" cy="36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模型安全</a:t>
              </a:r>
              <a:endParaRPr lang="en-US" sz="1100"/>
            </a:p>
          </p:txBody>
        </p:sp>
        <p:sp>
          <p:nvSpPr>
            <p:cNvPr id="213" name="AutoShape 213"/>
            <p:cNvSpPr/>
            <p:nvPr/>
          </p:nvSpPr>
          <p:spPr>
            <a:xfrm>
              <a:off x="29236" y="9821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14" name="AutoShape 214"/>
            <p:cNvSpPr/>
            <p:nvPr/>
          </p:nvSpPr>
          <p:spPr>
            <a:xfrm>
              <a:off x="29544" y="10046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模型引入评估</a:t>
              </a:r>
              <a:endParaRPr lang="en-US" sz="1100"/>
            </a:p>
          </p:txBody>
        </p:sp>
        <p:sp>
          <p:nvSpPr>
            <p:cNvPr id="215" name="AutoShape 215"/>
            <p:cNvSpPr/>
            <p:nvPr/>
          </p:nvSpPr>
          <p:spPr>
            <a:xfrm>
              <a:off x="29236" y="10770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16" name="AutoShape 216"/>
            <p:cNvSpPr/>
            <p:nvPr/>
          </p:nvSpPr>
          <p:spPr>
            <a:xfrm>
              <a:off x="29544" y="10995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模型幻觉治理</a:t>
              </a:r>
              <a:endParaRPr lang="en-US" sz="1100"/>
            </a:p>
          </p:txBody>
        </p:sp>
        <p:sp>
          <p:nvSpPr>
            <p:cNvPr id="217" name="AutoShape 217"/>
            <p:cNvSpPr/>
            <p:nvPr/>
          </p:nvSpPr>
          <p:spPr>
            <a:xfrm>
              <a:off x="29236" y="11718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18" name="AutoShape 218"/>
            <p:cNvSpPr/>
            <p:nvPr/>
          </p:nvSpPr>
          <p:spPr>
            <a:xfrm>
              <a:off x="29544" y="11943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模型防御</a:t>
              </a:r>
              <a:endParaRPr lang="en-US" sz="1100"/>
            </a:p>
          </p:txBody>
        </p:sp>
        <p:sp>
          <p:nvSpPr>
            <p:cNvPr id="219" name="AutoShape 219"/>
            <p:cNvSpPr/>
            <p:nvPr/>
          </p:nvSpPr>
          <p:spPr>
            <a:xfrm>
              <a:off x="29236" y="12666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20" name="AutoShape 220"/>
            <p:cNvSpPr/>
            <p:nvPr/>
          </p:nvSpPr>
          <p:spPr>
            <a:xfrm>
              <a:off x="29544" y="12892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版本管理与追溯</a:t>
              </a:r>
              <a:endParaRPr lang="en-US" sz="1100"/>
            </a:p>
          </p:txBody>
        </p:sp>
        <p:sp>
          <p:nvSpPr>
            <p:cNvPr id="221" name="AutoShape 221"/>
            <p:cNvSpPr/>
            <p:nvPr/>
          </p:nvSpPr>
          <p:spPr>
            <a:xfrm>
              <a:off x="29086" y="13674"/>
              <a:ext cx="3118" cy="430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22" name="AutoShape 222"/>
            <p:cNvSpPr/>
            <p:nvPr/>
          </p:nvSpPr>
          <p:spPr>
            <a:xfrm>
              <a:off x="29174" y="13760"/>
              <a:ext cx="2835" cy="36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数据安全</a:t>
              </a:r>
              <a:endParaRPr lang="en-US" sz="1100"/>
            </a:p>
          </p:txBody>
        </p:sp>
        <p:sp>
          <p:nvSpPr>
            <p:cNvPr id="223" name="AutoShape 223"/>
            <p:cNvSpPr/>
            <p:nvPr/>
          </p:nvSpPr>
          <p:spPr>
            <a:xfrm>
              <a:off x="29236" y="14251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24" name="AutoShape 224"/>
            <p:cNvSpPr/>
            <p:nvPr/>
          </p:nvSpPr>
          <p:spPr>
            <a:xfrm>
              <a:off x="29544" y="14476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分级分类管理</a:t>
              </a:r>
              <a:endParaRPr lang="en-US" sz="1100"/>
            </a:p>
          </p:txBody>
        </p:sp>
        <p:sp>
          <p:nvSpPr>
            <p:cNvPr id="225" name="AutoShape 225"/>
            <p:cNvSpPr/>
            <p:nvPr/>
          </p:nvSpPr>
          <p:spPr>
            <a:xfrm>
              <a:off x="29236" y="15200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26" name="AutoShape 226"/>
            <p:cNvSpPr/>
            <p:nvPr/>
          </p:nvSpPr>
          <p:spPr>
            <a:xfrm>
              <a:off x="29544" y="15426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脱敏与隐私保护</a:t>
              </a:r>
              <a:endParaRPr lang="en-US" sz="1100"/>
            </a:p>
          </p:txBody>
        </p:sp>
        <p:sp>
          <p:nvSpPr>
            <p:cNvPr id="227" name="AutoShape 227"/>
            <p:cNvSpPr/>
            <p:nvPr/>
          </p:nvSpPr>
          <p:spPr>
            <a:xfrm>
              <a:off x="29236" y="16148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28" name="AutoShape 228"/>
            <p:cNvSpPr/>
            <p:nvPr/>
          </p:nvSpPr>
          <p:spPr>
            <a:xfrm>
              <a:off x="29544" y="16373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防篡改与溯源</a:t>
              </a:r>
              <a:endParaRPr lang="en-US" sz="1100"/>
            </a:p>
          </p:txBody>
        </p:sp>
        <p:sp>
          <p:nvSpPr>
            <p:cNvPr id="229" name="AutoShape 229"/>
            <p:cNvSpPr/>
            <p:nvPr/>
          </p:nvSpPr>
          <p:spPr>
            <a:xfrm>
              <a:off x="29236" y="17096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30" name="AutoShape 230"/>
            <p:cNvSpPr/>
            <p:nvPr/>
          </p:nvSpPr>
          <p:spPr>
            <a:xfrm>
              <a:off x="29544" y="17322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数据安全审计</a:t>
              </a:r>
              <a:endParaRPr lang="en-US" sz="1100"/>
            </a:p>
          </p:txBody>
        </p:sp>
        <p:sp>
          <p:nvSpPr>
            <p:cNvPr id="231" name="AutoShape 231"/>
            <p:cNvSpPr/>
            <p:nvPr/>
          </p:nvSpPr>
          <p:spPr>
            <a:xfrm>
              <a:off x="29086" y="18104"/>
              <a:ext cx="3118" cy="430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337AD1">
                  <a:alpha val="100000"/>
                </a:srgbClr>
              </a:solidFill>
              <a:prstDash val="dash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32" name="AutoShape 232"/>
            <p:cNvSpPr/>
            <p:nvPr/>
          </p:nvSpPr>
          <p:spPr>
            <a:xfrm>
              <a:off x="29174" y="18190"/>
              <a:ext cx="2835" cy="36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5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资源安全</a:t>
              </a:r>
              <a:endParaRPr lang="en-US" sz="1100"/>
            </a:p>
          </p:txBody>
        </p:sp>
        <p:sp>
          <p:nvSpPr>
            <p:cNvPr id="233" name="AutoShape 233"/>
            <p:cNvSpPr/>
            <p:nvPr/>
          </p:nvSpPr>
          <p:spPr>
            <a:xfrm>
              <a:off x="29236" y="18681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34" name="AutoShape 234"/>
            <p:cNvSpPr/>
            <p:nvPr/>
          </p:nvSpPr>
          <p:spPr>
            <a:xfrm>
              <a:off x="29544" y="18906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算力安全</a:t>
              </a:r>
              <a:endParaRPr lang="en-US" sz="1100"/>
            </a:p>
          </p:txBody>
        </p:sp>
        <p:sp>
          <p:nvSpPr>
            <p:cNvPr id="235" name="AutoShape 235"/>
            <p:cNvSpPr/>
            <p:nvPr/>
          </p:nvSpPr>
          <p:spPr>
            <a:xfrm>
              <a:off x="29236" y="19630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36" name="AutoShape 236"/>
            <p:cNvSpPr/>
            <p:nvPr/>
          </p:nvSpPr>
          <p:spPr>
            <a:xfrm>
              <a:off x="29544" y="19856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存储安全</a:t>
              </a:r>
              <a:endParaRPr lang="en-US" sz="1100"/>
            </a:p>
          </p:txBody>
        </p:sp>
        <p:sp>
          <p:nvSpPr>
            <p:cNvPr id="237" name="AutoShape 237"/>
            <p:cNvSpPr/>
            <p:nvPr/>
          </p:nvSpPr>
          <p:spPr>
            <a:xfrm>
              <a:off x="29236" y="20578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38" name="AutoShape 238"/>
            <p:cNvSpPr/>
            <p:nvPr/>
          </p:nvSpPr>
          <p:spPr>
            <a:xfrm>
              <a:off x="29544" y="20803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网络安全</a:t>
              </a:r>
              <a:endParaRPr lang="en-US" sz="1100"/>
            </a:p>
          </p:txBody>
        </p:sp>
        <p:sp>
          <p:nvSpPr>
            <p:cNvPr id="239" name="AutoShape 239"/>
            <p:cNvSpPr/>
            <p:nvPr/>
          </p:nvSpPr>
          <p:spPr>
            <a:xfrm>
              <a:off x="29236" y="21526"/>
              <a:ext cx="2835" cy="765"/>
            </a:xfrm>
            <a:prstGeom prst="roundRect">
              <a:avLst>
                <a:gd name="adj" fmla="val 0"/>
              </a:avLst>
            </a:prstGeom>
            <a:solidFill>
              <a:srgbClr val="FEE9EB">
                <a:alpha val="100000"/>
              </a:srgbClr>
            </a:solidFill>
            <a:ln w="12700" cap="flat" cmpd="sng">
              <a:solidFill>
                <a:srgbClr val="F0969B">
                  <a:alpha val="100000"/>
                </a:srgbClr>
              </a:solidFill>
              <a:prstDash val="solid"/>
              <a:miter lim="1000000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40" name="AutoShape 240"/>
            <p:cNvSpPr/>
            <p:nvPr/>
          </p:nvSpPr>
          <p:spPr>
            <a:xfrm>
              <a:off x="29544" y="21752"/>
              <a:ext cx="2268" cy="3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平台运行安全</a:t>
              </a:r>
              <a:endParaRPr lang="en-US" sz="11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1380</Words>
  <Application>WPS 演示</Application>
  <PresentationFormat>On-screen Show (4:3)</PresentationFormat>
  <Paragraphs>552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qilichao</cp:lastModifiedBy>
  <cp:revision>23</cp:revision>
  <dcterms:created xsi:type="dcterms:W3CDTF">2013-01-27T09:14:00Z</dcterms:created>
  <dcterms:modified xsi:type="dcterms:W3CDTF">2026-09-15T09:49:56Z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8C57B7E33CBF406DB424E88E8BB2F5CF_12</vt:lpwstr>
  </property>
  <property fmtid="{D5CDD505-2E9C-101B-9397-08002B2CF9AE}" pid="3" name="KSOProductBuildVer">
    <vt:lpwstr>2052-12.1.0.28505</vt:lpwstr>
  </property>
</Properties>
</file>